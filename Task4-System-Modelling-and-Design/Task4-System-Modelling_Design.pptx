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72" r:id="rId3"/>
    <p:sldId id="256" r:id="rId4"/>
    <p:sldId id="257" r:id="rId6"/>
    <p:sldId id="258" r:id="rId7"/>
    <p:sldId id="259" r:id="rId8"/>
    <p:sldId id="260" r:id="rId9"/>
    <p:sldId id="261" r:id="rId10"/>
    <p:sldId id="265" r:id="rId11"/>
    <p:sldId id="273" r:id="rId12"/>
    <p:sldId id="274" r:id="rId13"/>
    <p:sldId id="275" r:id="rId14"/>
  </p:sldIdLst>
  <p:sldSz cx="14630400" cy="8229600"/>
  <p:notesSz cx="8229600" cy="14630400"/>
  <p:embeddedFontLst>
    <p:embeddedFont>
      <p:font typeface="SimSun" panose="02010600030101010101" pitchFamily="2" charset="-122"/>
      <p:regular r:id="rId18"/>
    </p:embeddedFont>
    <p:embeddedFont>
      <p:font typeface="Outfit Extra Bold" pitchFamily="34" charset="-122"/>
      <p:regular r:id="rId19"/>
    </p:embeddedFont>
    <p:embeddedFont>
      <p:font typeface="Outfit Extra Bold" pitchFamily="34" charset="0"/>
      <p:regular r:id="rId20"/>
    </p:embeddedFont>
    <p:embeddedFont>
      <p:font typeface="Outfit Extra Bold" pitchFamily="34" charset="-120"/>
      <p:regular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50720" cy="822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49301" y="1436370"/>
            <a:ext cx="13131800" cy="129921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751840" y="2907030"/>
            <a:ext cx="13139421" cy="210312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31520" y="7494270"/>
            <a:ext cx="341376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98720" y="7494270"/>
            <a:ext cx="463296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485120" y="7494270"/>
            <a:ext cx="341376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EB2F9E-C9E0-4EA3-A9E2-0DF5F691060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5507356"/>
            <a:ext cx="12618720" cy="1800224"/>
          </a:xfrm>
        </p:spPr>
        <p:txBody>
          <a:bodyPr/>
          <a:lstStyle>
            <a:lvl1pPr marL="0" indent="0">
              <a:buNone/>
              <a:defRPr sz="2880"/>
            </a:lvl1pPr>
            <a:lvl2pPr marL="548640" indent="0">
              <a:buNone/>
              <a:defRPr sz="2400"/>
            </a:lvl2pPr>
            <a:lvl3pPr marL="1097280" indent="0">
              <a:buNone/>
              <a:defRPr sz="216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409700"/>
            <a:ext cx="6461760" cy="5943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7120" y="1409700"/>
            <a:ext cx="6461760" cy="5943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1" y="438150"/>
            <a:ext cx="12618720" cy="159067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8381" y="2017396"/>
            <a:ext cx="6189979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8381" y="3006090"/>
            <a:ext cx="6189979" cy="44215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20461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20461" cy="44215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1" y="548640"/>
            <a:ext cx="4719320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0461" y="1184910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8381" y="2468880"/>
            <a:ext cx="4719320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1" y="548640"/>
            <a:ext cx="4719320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20461" y="1184910"/>
            <a:ext cx="7406640" cy="58483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8381" y="2468880"/>
            <a:ext cx="4719320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040" y="228600"/>
            <a:ext cx="3291840" cy="71247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520" y="228600"/>
            <a:ext cx="9631680" cy="71247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4650720" cy="822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731520" y="228600"/>
            <a:ext cx="13167360" cy="699136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731520" y="1409700"/>
            <a:ext cx="13167360" cy="5943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31520" y="7494270"/>
            <a:ext cx="341376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68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98720" y="7494270"/>
            <a:ext cx="463296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68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485120" y="7494270"/>
            <a:ext cx="341376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68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32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411480" indent="-411480" algn="l" rtl="0" fontAlgn="base">
        <a:spcBef>
          <a:spcPct val="24000"/>
        </a:spcBef>
        <a:spcAft>
          <a:spcPct val="0"/>
        </a:spcAft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rtl="0" fontAlgn="base">
        <a:spcBef>
          <a:spcPct val="24000"/>
        </a:spcBef>
        <a:spcAft>
          <a:spcPct val="0"/>
        </a:spcAft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rtl="0" fontAlgn="base">
        <a:spcBef>
          <a:spcPct val="24000"/>
        </a:spcBef>
        <a:spcAft>
          <a:spcPct val="0"/>
        </a:spcAft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rtl="0" fontAlgn="base">
        <a:spcBef>
          <a:spcPct val="24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rtl="0" fontAlgn="base">
        <a:spcBef>
          <a:spcPct val="24000"/>
        </a:spcBef>
        <a:spcAft>
          <a:spcPct val="0"/>
        </a:spcAft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185" y="676275"/>
            <a:ext cx="8640445" cy="1573530"/>
          </a:xfrm>
        </p:spPr>
        <p:txBody>
          <a:bodyPr/>
          <a:p>
            <a:pPr algn="ctr"/>
            <a:r>
              <a:rPr lang="en-US" sz="4800" b="1">
                <a:latin typeface="Times New Roman" panose="02020603050405020304" charset="0"/>
                <a:cs typeface="Times New Roman" panose="02020603050405020304" charset="0"/>
              </a:rPr>
              <a:t>SYSTEM MODELLING AND DESIGN</a:t>
            </a:r>
            <a:endParaRPr lang="en-US" sz="4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64185" y="6725285"/>
            <a:ext cx="4876800" cy="967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 b="1">
                <a:latin typeface="Times New Roman" panose="02020603050405020304" charset="0"/>
                <a:cs typeface="Times New Roman" panose="02020603050405020304" charset="0"/>
              </a:rPr>
              <a:t>CEF440 - Internet &amp; Mobile Programming </a:t>
            </a:r>
            <a:endParaRPr 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b="1">
                <a:latin typeface="Times New Roman" panose="02020603050405020304" charset="0"/>
                <a:cs typeface="Times New Roman" panose="02020603050405020304" charset="0"/>
              </a:rPr>
              <a:t>Instructor - Dr Valery Nkemeni</a:t>
            </a:r>
            <a:endParaRPr 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438400" y="3283585"/>
            <a:ext cx="4876800" cy="2210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4400" b="1">
                <a:latin typeface="Times New Roman" panose="02020603050405020304" charset="0"/>
                <a:cs typeface="Times New Roman" panose="02020603050405020304" charset="0"/>
              </a:rPr>
              <a:t>Presentation By </a:t>
            </a:r>
            <a:endParaRPr lang="en-US" sz="4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4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sz="4400" b="1">
                <a:latin typeface="Times New Roman" panose="02020603050405020304" charset="0"/>
                <a:cs typeface="Times New Roman" panose="02020603050405020304" charset="0"/>
              </a:rPr>
              <a:t>GROUP 3</a:t>
            </a:r>
            <a:endParaRPr lang="en-US" sz="4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134100" y="7324725"/>
            <a:ext cx="2970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Academic Year: 2024/2025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 descr="istockphoto-1660763957-612x6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3725" y="0"/>
            <a:ext cx="5146675" cy="82238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57580" y="1906270"/>
            <a:ext cx="7556500" cy="917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tx1"/>
                </a:solidFill>
                <a:latin typeface="Times New Roman" panose="02020603050405020304" charset="0"/>
                <a:ea typeface="Outfit Extra Bold" pitchFamily="34" charset="-122"/>
                <a:cs typeface="Times New Roman" panose="02020603050405020304" charset="0"/>
              </a:rPr>
              <a:t>INTRODUCTION</a:t>
            </a:r>
            <a:endParaRPr lang="en-US" sz="4450" b="1" dirty="0">
              <a:solidFill>
                <a:schemeClr val="tx1"/>
              </a:solidFill>
              <a:latin typeface="Times New Roman" panose="02020603050405020304" charset="0"/>
              <a:ea typeface="Outfit Extra Bold" pitchFamily="34" charset="-122"/>
              <a:cs typeface="Times New Roman" panose="020206030504050203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11505" y="3359150"/>
            <a:ext cx="8248015" cy="26473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altLang="en-US" sz="2000" b="1" dirty="0"/>
              <a:t>Purpose:</a:t>
            </a:r>
            <a:r>
              <a:rPr lang="en-US" altLang="en-US" sz="1750" dirty="0"/>
              <a:t> Translate requirements into structured visual system representations.</a:t>
            </a:r>
            <a:endParaRPr lang="en-US" altLang="en-US" sz="1750" dirty="0"/>
          </a:p>
          <a:p>
            <a:pPr marL="0" indent="0" algn="l">
              <a:lnSpc>
                <a:spcPts val="2850"/>
              </a:lnSpc>
              <a:buNone/>
            </a:pPr>
            <a:endParaRPr lang="en-US" alt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altLang="en-US" sz="2000" b="1" dirty="0"/>
              <a:t>Key Models:</a:t>
            </a:r>
            <a:r>
              <a:rPr lang="en-US" altLang="en-US" sz="1750" dirty="0"/>
              <a:t> Context, Dataflow, Use Case, Sequence, Class, Deployment diagrams.</a:t>
            </a:r>
            <a:endParaRPr lang="en-US" altLang="en-US" sz="1750" dirty="0"/>
          </a:p>
          <a:p>
            <a:pPr marL="0" indent="0" algn="l">
              <a:lnSpc>
                <a:spcPts val="2850"/>
              </a:lnSpc>
              <a:buNone/>
            </a:pPr>
            <a:endParaRPr lang="en-US" alt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altLang="en-US" sz="2000" b="1" dirty="0"/>
              <a:t>Goals:</a:t>
            </a:r>
            <a:r>
              <a:rPr lang="en-US" altLang="en-US" sz="1750" dirty="0"/>
              <a:t> Clarify system functionality, guide implementation, improve scalability.</a:t>
            </a:r>
            <a:endParaRPr lang="en-US" altLang="en-US" sz="1750" dirty="0"/>
          </a:p>
        </p:txBody>
      </p:sp>
      <p:pic>
        <p:nvPicPr>
          <p:cNvPr id="6" name="Picture 5" descr="istockphoto-1660763957-612x6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3725" y="0"/>
            <a:ext cx="5146675" cy="82238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56510" y="932180"/>
            <a:ext cx="9620885" cy="7086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altLang="en-US" sz="4450" dirty="0"/>
              <a:t>System Modelling vs System Design</a:t>
            </a:r>
            <a:endParaRPr lang="en-US" altLang="en-US" sz="4450" dirty="0"/>
          </a:p>
        </p:txBody>
      </p:sp>
      <p:sp>
        <p:nvSpPr>
          <p:cNvPr id="20" name="Text 18"/>
          <p:cNvSpPr/>
          <p:nvPr/>
        </p:nvSpPr>
        <p:spPr>
          <a:xfrm>
            <a:off x="806450" y="2014220"/>
            <a:ext cx="6853555" cy="2286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altLang="en-US" sz="3600" dirty="0"/>
              <a:t>Modelling:</a:t>
            </a:r>
            <a:endParaRPr lang="en-US" altLang="en-US" sz="3600" dirty="0"/>
          </a:p>
          <a:p>
            <a:pPr marL="0" indent="0" algn="l">
              <a:lnSpc>
                <a:spcPts val="2850"/>
              </a:lnSpc>
              <a:buNone/>
            </a:pPr>
            <a:endParaRPr lang="en-US" altLang="en-US" sz="1750" dirty="0"/>
          </a:p>
          <a:p>
            <a:pPr marL="285750" indent="-285750" algn="l">
              <a:lnSpc>
                <a:spcPts val="2850"/>
              </a:lnSpc>
              <a:buFont typeface="Wingdings" panose="05000000000000000000" charset="0"/>
              <a:buChar char="v"/>
            </a:pPr>
            <a:r>
              <a:rPr lang="en-US" altLang="en-US" dirty="0"/>
              <a:t>What system does, user interaction, data usage</a:t>
            </a:r>
            <a:endParaRPr lang="en-US" altLang="en-US" dirty="0"/>
          </a:p>
          <a:p>
            <a:pPr marL="285750" indent="-285750" algn="l">
              <a:lnSpc>
                <a:spcPts val="2850"/>
              </a:lnSpc>
              <a:buFont typeface="Wingdings" panose="05000000000000000000" charset="0"/>
              <a:buChar char="v"/>
            </a:pPr>
            <a:endParaRPr lang="en-US" altLang="en-US" dirty="0"/>
          </a:p>
          <a:p>
            <a:pPr marL="285750" indent="-285750" algn="l">
              <a:lnSpc>
                <a:spcPts val="2850"/>
              </a:lnSpc>
              <a:buFont typeface="Wingdings" panose="05000000000000000000" charset="0"/>
              <a:buChar char="v"/>
            </a:pPr>
            <a:r>
              <a:rPr lang="en-US" altLang="en-US" dirty="0"/>
              <a:t>Includes: Use Case, Context, Dataflow, Class diagrams</a:t>
            </a:r>
            <a:endParaRPr lang="en-US" altLang="en-US" dirty="0"/>
          </a:p>
        </p:txBody>
      </p:sp>
      <p:sp>
        <p:nvSpPr>
          <p:cNvPr id="21" name="Text Box 20"/>
          <p:cNvSpPr txBox="1"/>
          <p:nvPr/>
        </p:nvSpPr>
        <p:spPr>
          <a:xfrm>
            <a:off x="806450" y="4557395"/>
            <a:ext cx="685355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600"/>
              <a:t>Design:</a:t>
            </a:r>
            <a:endParaRPr lang="en-US" altLang="en-US" sz="3600"/>
          </a:p>
          <a:p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How system is implemented (structure, interactions, deployment)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Includes: Sequence, Deployment, Class diagrams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022205" y="938530"/>
            <a:ext cx="4137660" cy="1194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altLang="en-US" sz="4000" b="1" dirty="0">
                <a:solidFill>
                  <a:schemeClr val="tx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Class Diagram Overview</a:t>
            </a:r>
            <a:endParaRPr lang="en-US" altLang="en-US" sz="4000" b="1" dirty="0">
              <a:solidFill>
                <a:schemeClr val="tx1"/>
              </a:solidFill>
              <a:latin typeface="Outfit Extra Bold" pitchFamily="34" charset="0"/>
              <a:ea typeface="Outfit Extra Bold" pitchFamily="34" charset="-122"/>
              <a:cs typeface="Outfit Extra Bold" pitchFamily="34" charset="-12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693275" y="2728595"/>
            <a:ext cx="4795520" cy="3535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/>
              <a:t>Definition:</a:t>
            </a:r>
            <a:r>
              <a:rPr lang="en-US" altLang="en-US"/>
              <a:t> Shows classes, attributes, operations, and relationships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 b="1"/>
              <a:t>Importance: </a:t>
            </a:r>
            <a:r>
              <a:rPr lang="en-US" altLang="en-US"/>
              <a:t>Blueprint for coding, aids communication and scalability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 b="1"/>
              <a:t>Key Classes:</a:t>
            </a:r>
            <a:endParaRPr lang="en-US" altLang="en-US" sz="2000" b="1"/>
          </a:p>
          <a:p>
            <a:endParaRPr lang="en-US" altLang="en-US"/>
          </a:p>
          <a:p>
            <a:r>
              <a:rPr lang="en-US" altLang="en-US"/>
              <a:t>User, NetworkReport, PerformanceMetric, Settings, Operator, Admin, ReportService, NotificationService</a:t>
            </a:r>
            <a:endParaRPr lang="en-US" altLang="en-US"/>
          </a:p>
        </p:txBody>
      </p:sp>
      <p:pic>
        <p:nvPicPr>
          <p:cNvPr id="18" name="Picture 36"/>
          <p:cNvPicPr>
            <a:picLocks noChangeAspect="1"/>
          </p:cNvPicPr>
          <p:nvPr/>
        </p:nvPicPr>
        <p:blipFill>
          <a:blip r:embed="rId1">
            <a:lum contrast="12000"/>
          </a:blip>
          <a:stretch>
            <a:fillRect/>
          </a:stretch>
        </p:blipFill>
        <p:spPr>
          <a:xfrm>
            <a:off x="0" y="0"/>
            <a:ext cx="9552305" cy="8230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</p:transition>
    </mc:Choice>
    <mc:Fallback>
      <p:transition spd="med">
        <p:newsflash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540875" y="300355"/>
            <a:ext cx="4814570" cy="12465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altLang="en-US" sz="3650" dirty="0"/>
              <a:t>Use Case Diagram </a:t>
            </a:r>
            <a:endParaRPr lang="en-US" altLang="en-US" sz="3650" dirty="0"/>
          </a:p>
          <a:p>
            <a:pPr marL="0" indent="0" algn="ctr">
              <a:lnSpc>
                <a:spcPts val="4600"/>
              </a:lnSpc>
              <a:buNone/>
            </a:pPr>
            <a:r>
              <a:rPr lang="en-US" altLang="en-US" sz="3650" dirty="0"/>
              <a:t>Overview</a:t>
            </a:r>
            <a:endParaRPr lang="en-US" altLang="en-US" sz="3650" dirty="0"/>
          </a:p>
        </p:txBody>
      </p:sp>
      <p:sp>
        <p:nvSpPr>
          <p:cNvPr id="17" name="Text Box 16"/>
          <p:cNvSpPr txBox="1"/>
          <p:nvPr/>
        </p:nvSpPr>
        <p:spPr>
          <a:xfrm>
            <a:off x="9540875" y="1645285"/>
            <a:ext cx="4876165" cy="3322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/>
              <a:t>Definition: </a:t>
            </a:r>
            <a:r>
              <a:rPr lang="en-US" altLang="en-US"/>
              <a:t>Shows user interactions and system functionalities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 b="1"/>
              <a:t>Importance:</a:t>
            </a:r>
            <a:r>
              <a:rPr lang="en-US" altLang="en-US"/>
              <a:t> Clarifies user needs and system scope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 b="1"/>
              <a:t>Main Actors:</a:t>
            </a:r>
            <a:r>
              <a:rPr lang="en-US" altLang="en-US"/>
              <a:t> User, Network Operator, Regulatory Authority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 b="1"/>
              <a:t>Key Use Cases:</a:t>
            </a:r>
            <a:r>
              <a:rPr lang="en-US" altLang="en-US"/>
              <a:t> Submit Feedback, Monitor Performance, View Reports, etc.</a:t>
            </a:r>
            <a:endParaRPr lang="en-US" altLang="en-US"/>
          </a:p>
        </p:txBody>
      </p:sp>
      <p:sp>
        <p:nvSpPr>
          <p:cNvPr id="18" name="Text Box 17"/>
          <p:cNvSpPr txBox="1"/>
          <p:nvPr/>
        </p:nvSpPr>
        <p:spPr>
          <a:xfrm>
            <a:off x="9947275" y="509524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 b="1"/>
              <a:t>Use Case Relationships</a:t>
            </a:r>
            <a:endParaRPr lang="en-US" altLang="en-US" sz="2400" b="1"/>
          </a:p>
        </p:txBody>
      </p:sp>
      <p:sp>
        <p:nvSpPr>
          <p:cNvPr id="19" name="Text Box 18"/>
          <p:cNvSpPr txBox="1"/>
          <p:nvPr/>
        </p:nvSpPr>
        <p:spPr>
          <a:xfrm>
            <a:off x="9576435" y="5612130"/>
            <a:ext cx="477901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Actor → Use Case associations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Use Case → Use Case: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Extend: e.g., Monitor → Receive Alerts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Include: e.g., Change Settings → Language, Privacy</a:t>
            </a:r>
            <a:endParaRPr lang="en-US" altLang="en-US"/>
          </a:p>
        </p:txBody>
      </p:sp>
      <p:pic>
        <p:nvPicPr>
          <p:cNvPr id="20" name="Picture 37"/>
          <p:cNvPicPr>
            <a:picLocks noChangeAspect="1"/>
          </p:cNvPicPr>
          <p:nvPr/>
        </p:nvPicPr>
        <p:blipFill>
          <a:blip r:embed="rId1">
            <a:lum contrast="18000"/>
          </a:blip>
          <a:stretch>
            <a:fillRect/>
          </a:stretch>
        </p:blipFill>
        <p:spPr>
          <a:xfrm>
            <a:off x="0" y="0"/>
            <a:ext cx="9440545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2381250" y="5854065"/>
            <a:ext cx="2162175" cy="2984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en-US" altLang="en-US" sz="1400"/>
              <a:t>Respond to Reports</a:t>
            </a:r>
            <a:r>
              <a:rPr lang="en-US" altLang="en-US"/>
              <a:t> </a:t>
            </a: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7720" y="706120"/>
            <a:ext cx="4766310" cy="13709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altLang="en-US" sz="4000" dirty="0"/>
              <a:t>Sequence Diagram </a:t>
            </a:r>
            <a:endParaRPr lang="en-US" altLang="en-US" sz="4000" dirty="0"/>
          </a:p>
          <a:p>
            <a:pPr marL="0" indent="0" algn="ctr">
              <a:lnSpc>
                <a:spcPts val="5550"/>
              </a:lnSpc>
              <a:buNone/>
            </a:pPr>
            <a:r>
              <a:rPr lang="en-US" altLang="en-US" sz="4000" dirty="0"/>
              <a:t>Overview</a:t>
            </a:r>
            <a:endParaRPr lang="en-US" altLang="en-US" sz="4000" dirty="0"/>
          </a:p>
        </p:txBody>
      </p:sp>
      <p:sp>
        <p:nvSpPr>
          <p:cNvPr id="8" name="Text Box 7"/>
          <p:cNvSpPr txBox="1"/>
          <p:nvPr/>
        </p:nvSpPr>
        <p:spPr>
          <a:xfrm>
            <a:off x="9726295" y="2418080"/>
            <a:ext cx="4737735" cy="1633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/>
              <a:t>Purpose:</a:t>
            </a:r>
            <a:r>
              <a:rPr lang="en-US" altLang="en-US"/>
              <a:t> Visualize flow of operations over time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 b="1"/>
              <a:t>Benefits:</a:t>
            </a:r>
            <a:r>
              <a:rPr lang="en-US" altLang="en-US"/>
              <a:t> Clarifies task logic and timing, supports integration</a:t>
            </a: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10180955" y="4356100"/>
            <a:ext cx="38284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 </a:t>
            </a:r>
            <a:r>
              <a:rPr lang="en-US" altLang="en-US" sz="2400" b="1"/>
              <a:t>Network Data Recording</a:t>
            </a:r>
            <a:endParaRPr lang="en-US" altLang="en-US" sz="2400" b="1"/>
          </a:p>
        </p:txBody>
      </p:sp>
      <p:sp>
        <p:nvSpPr>
          <p:cNvPr id="10" name="Text Box 9"/>
          <p:cNvSpPr txBox="1"/>
          <p:nvPr/>
        </p:nvSpPr>
        <p:spPr>
          <a:xfrm>
            <a:off x="9726295" y="4980305"/>
            <a:ext cx="473773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System measures and logs speed, latency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Uses OS APIs, encrypts data, updates DB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Supports real-time analysis and visualization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15" name="Picture 15" descr="IMG-20250521-WA0004"/>
          <p:cNvPicPr>
            <a:picLocks noChangeAspect="1"/>
          </p:cNvPicPr>
          <p:nvPr/>
        </p:nvPicPr>
        <p:blipFill>
          <a:blip r:embed="rId1">
            <a:lum contrast="12000"/>
          </a:blip>
          <a:stretch>
            <a:fillRect/>
          </a:stretch>
        </p:blipFill>
        <p:spPr>
          <a:xfrm>
            <a:off x="0" y="0"/>
            <a:ext cx="9452610" cy="8228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287635" y="382270"/>
            <a:ext cx="3926205" cy="15170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r>
              <a:rPr lang="en-US" altLang="en-US" sz="4050" dirty="0"/>
              <a:t>User Input Data </a:t>
            </a:r>
            <a:endParaRPr lang="en-US" altLang="en-US" sz="4050" dirty="0"/>
          </a:p>
          <a:p>
            <a:pPr marL="0" indent="0" algn="ctr">
              <a:lnSpc>
                <a:spcPts val="5050"/>
              </a:lnSpc>
              <a:buNone/>
            </a:pPr>
            <a:r>
              <a:rPr lang="en-US" altLang="en-US" sz="4050" dirty="0"/>
              <a:t>Processing</a:t>
            </a:r>
            <a:endParaRPr lang="en-US" altLang="en-US" sz="4050" dirty="0"/>
          </a:p>
        </p:txBody>
      </p:sp>
      <p:sp>
        <p:nvSpPr>
          <p:cNvPr id="11" name="Text Box 10"/>
          <p:cNvSpPr txBox="1"/>
          <p:nvPr/>
        </p:nvSpPr>
        <p:spPr>
          <a:xfrm>
            <a:off x="9956165" y="2036445"/>
            <a:ext cx="425767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Feedback form interaction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Captures feedback + location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Encrypts and stores in DB, sends confirmation</a:t>
            </a:r>
            <a:endParaRPr lang="en-US" altLang="en-US"/>
          </a:p>
        </p:txBody>
      </p:sp>
      <p:sp>
        <p:nvSpPr>
          <p:cNvPr id="12" name="Text Box 11"/>
          <p:cNvSpPr txBox="1"/>
          <p:nvPr/>
        </p:nvSpPr>
        <p:spPr>
          <a:xfrm>
            <a:off x="10083800" y="4542155"/>
            <a:ext cx="38849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 b="1"/>
              <a:t> Security &amp; Performance</a:t>
            </a:r>
            <a:endParaRPr lang="en-US" altLang="en-US" sz="2400" b="1"/>
          </a:p>
        </p:txBody>
      </p:sp>
      <p:sp>
        <p:nvSpPr>
          <p:cNvPr id="13" name="Text Box 12"/>
          <p:cNvSpPr txBox="1"/>
          <p:nvPr/>
        </p:nvSpPr>
        <p:spPr>
          <a:xfrm>
            <a:off x="9841230" y="5199380"/>
            <a:ext cx="4487545" cy="1594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sz="2000" b="1"/>
              <a:t>Security:</a:t>
            </a:r>
            <a:r>
              <a:rPr lang="en-US" altLang="en-US"/>
              <a:t> TLS 1.2+, AES-256, key management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sz="2000" b="1"/>
              <a:t>Performance:</a:t>
            </a:r>
            <a:r>
              <a:rPr lang="en-US" altLang="en-US"/>
              <a:t> Minimize network load, fast feedback, efficient DB writes</a:t>
            </a:r>
            <a:endParaRPr lang="en-US" altLang="en-US"/>
          </a:p>
        </p:txBody>
      </p:sp>
      <p:pic>
        <p:nvPicPr>
          <p:cNvPr id="16" name="Picture 16" descr="IMG-20250521-WA0005"/>
          <p:cNvPicPr>
            <a:picLocks noChangeAspect="1"/>
          </p:cNvPicPr>
          <p:nvPr/>
        </p:nvPicPr>
        <p:blipFill>
          <a:blip r:embed="rId1">
            <a:lum contrast="18000"/>
          </a:blip>
          <a:stretch>
            <a:fillRect/>
          </a:stretch>
        </p:blipFill>
        <p:spPr>
          <a:xfrm>
            <a:off x="0" y="0"/>
            <a:ext cx="9782810" cy="8228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90480" y="1181735"/>
            <a:ext cx="4222115" cy="1369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altLang="en-US" sz="4000" dirty="0"/>
              <a:t>Context Diagram </a:t>
            </a:r>
            <a:endParaRPr lang="en-US" altLang="en-US" sz="4000" dirty="0"/>
          </a:p>
          <a:p>
            <a:pPr marL="0" indent="0" algn="ctr">
              <a:lnSpc>
                <a:spcPts val="5550"/>
              </a:lnSpc>
              <a:buNone/>
            </a:pPr>
            <a:r>
              <a:rPr lang="en-US" altLang="en-US" sz="4000" dirty="0"/>
              <a:t>Overview</a:t>
            </a:r>
            <a:endParaRPr lang="en-US" altLang="en-US" sz="4000" dirty="0"/>
          </a:p>
        </p:txBody>
      </p:sp>
      <p:sp>
        <p:nvSpPr>
          <p:cNvPr id="6" name="Text Box 5"/>
          <p:cNvSpPr txBox="1"/>
          <p:nvPr/>
        </p:nvSpPr>
        <p:spPr>
          <a:xfrm>
            <a:off x="10191115" y="3206115"/>
            <a:ext cx="4221480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Shows system boundary, external actors, data flows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 b="1"/>
              <a:t>Actors:</a:t>
            </a:r>
            <a:r>
              <a:rPr lang="en-US" altLang="en-US"/>
              <a:t> User, Operator, Regulator, Support System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 b="1"/>
              <a:t>Data exchanged:</a:t>
            </a:r>
            <a:r>
              <a:rPr lang="en-US" altLang="en-US"/>
              <a:t> feedback, reports, alerts, preferences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7" name="Picture 38"/>
          <p:cNvPicPr>
            <a:picLocks noChangeAspect="1"/>
          </p:cNvPicPr>
          <p:nvPr/>
        </p:nvPicPr>
        <p:blipFill>
          <a:blip r:embed="rId1">
            <a:lum contrast="12000"/>
          </a:blip>
          <a:stretch>
            <a:fillRect/>
          </a:stretch>
        </p:blipFill>
        <p:spPr>
          <a:xfrm>
            <a:off x="0" y="0"/>
            <a:ext cx="9686925" cy="8228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</p:transition>
    </mc:Choice>
    <mc:Fallback>
      <p:transition spd="med">
        <p:newsflash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1885" y="1156335"/>
            <a:ext cx="4627880" cy="1851025"/>
          </a:xfrm>
        </p:spPr>
        <p:txBody>
          <a:bodyPr/>
          <a:p>
            <a:pPr algn="ctr"/>
            <a:r>
              <a:rPr lang="en-US" altLang="en-US" sz="4000"/>
              <a:t>Data Flow Diagram (DFD) Overview</a:t>
            </a:r>
            <a:endParaRPr lang="en-US" altLang="en-US" sz="4000"/>
          </a:p>
        </p:txBody>
      </p:sp>
      <p:sp>
        <p:nvSpPr>
          <p:cNvPr id="4" name="Text Box 3"/>
          <p:cNvSpPr txBox="1"/>
          <p:nvPr/>
        </p:nvSpPr>
        <p:spPr>
          <a:xfrm>
            <a:off x="10023475" y="3205480"/>
            <a:ext cx="4483735" cy="2091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Shows processes, data stores, and flows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 b="1"/>
              <a:t>Key Processes:</a:t>
            </a:r>
            <a:r>
              <a:rPr lang="en-US" altLang="en-US"/>
              <a:t> Monitor, Feedback, Settings, Reports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 b="1"/>
              <a:t>Data Stores:</a:t>
            </a:r>
            <a:r>
              <a:rPr lang="en-US" altLang="en-US"/>
              <a:t> Reports, Logs, Preferences</a:t>
            </a:r>
            <a:endParaRPr lang="en-US" altLang="en-US"/>
          </a:p>
        </p:txBody>
      </p:sp>
      <p:pic>
        <p:nvPicPr>
          <p:cNvPr id="5" name="Picture 39"/>
          <p:cNvPicPr>
            <a:picLocks noChangeAspect="1"/>
          </p:cNvPicPr>
          <p:nvPr/>
        </p:nvPicPr>
        <p:blipFill>
          <a:blip r:embed="rId1">
            <a:lum contrast="12000"/>
          </a:blip>
          <a:stretch>
            <a:fillRect/>
          </a:stretch>
        </p:blipFill>
        <p:spPr>
          <a:xfrm>
            <a:off x="0" y="0"/>
            <a:ext cx="9834880" cy="8230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33560" y="875665"/>
            <a:ext cx="5196840" cy="1233170"/>
          </a:xfrm>
        </p:spPr>
        <p:txBody>
          <a:bodyPr/>
          <a:p>
            <a:pPr algn="ctr"/>
            <a:r>
              <a:rPr lang="en-US" altLang="en-US" sz="4000"/>
              <a:t>Deployment Diagram Overview</a:t>
            </a:r>
            <a:endParaRPr lang="en-US" altLang="en-US" sz="4000"/>
          </a:p>
        </p:txBody>
      </p:sp>
      <p:sp>
        <p:nvSpPr>
          <p:cNvPr id="5" name="Text Box 4"/>
          <p:cNvSpPr txBox="1"/>
          <p:nvPr/>
        </p:nvSpPr>
        <p:spPr>
          <a:xfrm>
            <a:off x="9593580" y="2559685"/>
            <a:ext cx="487680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/>
              <a:t>Shows physical setup:</a:t>
            </a:r>
            <a:r>
              <a:rPr lang="en-US" altLang="en-US"/>
              <a:t> devices, software, connections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 b="1"/>
              <a:t>Nodes:</a:t>
            </a:r>
            <a:r>
              <a:rPr lang="en-US" altLang="en-US"/>
              <a:t> Mobile Device, Cloud Server, Firebase, Operator System, Regulator</a:t>
            </a:r>
            <a:endParaRPr lang="en-US" altLang="en-US"/>
          </a:p>
          <a:p>
            <a:endParaRPr lang="en-US" altLang="en-US"/>
          </a:p>
          <a:p>
            <a:r>
              <a:rPr lang="en-US" altLang="en-US" sz="2000" b="1"/>
              <a:t>Communication:</a:t>
            </a:r>
            <a:r>
              <a:rPr lang="en-US" altLang="en-US"/>
              <a:t> HTTPS, Firebase SDK, WebSockets, Exports</a:t>
            </a:r>
            <a:endParaRPr lang="en-US" altLang="en-US"/>
          </a:p>
        </p:txBody>
      </p:sp>
      <p:pic>
        <p:nvPicPr>
          <p:cNvPr id="8" name="Picture 40"/>
          <p:cNvPicPr>
            <a:picLocks noChangeAspect="1"/>
          </p:cNvPicPr>
          <p:nvPr/>
        </p:nvPicPr>
        <p:blipFill>
          <a:blip r:embed="rId1">
            <a:lum contrast="12000"/>
          </a:blip>
          <a:stretch>
            <a:fillRect/>
          </a:stretch>
        </p:blipFill>
        <p:spPr>
          <a:xfrm>
            <a:off x="0" y="-635"/>
            <a:ext cx="9428480" cy="8230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9585" y="1551940"/>
            <a:ext cx="6031230" cy="1697355"/>
          </a:xfrm>
        </p:spPr>
        <p:txBody>
          <a:bodyPr/>
          <a:p>
            <a:pPr algn="ctr"/>
            <a:r>
              <a:rPr lang="en-US" altLang="en-US" sz="8000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 altLang="en-US" sz="8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444625" y="3376930"/>
            <a:ext cx="1174051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Modelling bridges requirements and implementation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Diagrams ensure clarity, support devs, align stakeholder vision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Foundation for a robust QoE Monitoring App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2610</Words>
  <Application>WPS Presentation</Application>
  <PresentationFormat>On-screen Show (16:9)</PresentationFormat>
  <Paragraphs>134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Times New Roman</vt:lpstr>
      <vt:lpstr>Outfit Extra Bold</vt:lpstr>
      <vt:lpstr>Wingdings</vt:lpstr>
      <vt:lpstr>Outfit Extra Bold</vt:lpstr>
      <vt:lpstr>Outfit Extra Bold</vt:lpstr>
      <vt:lpstr>Microsoft YaHei</vt:lpstr>
      <vt:lpstr>Arial Unicode MS</vt:lpstr>
      <vt:lpstr>Calibri</vt:lpstr>
      <vt:lpstr>Blue Waves</vt:lpstr>
      <vt:lpstr>SYSTEM MODELLING AND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Data Flow Diagram (DFD) Overview</vt:lpstr>
      <vt:lpstr>Deployment Diagram Overview</vt:lpstr>
      <vt:lpstr>Conclusion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Care_IT</cp:lastModifiedBy>
  <cp:revision>6</cp:revision>
  <dcterms:created xsi:type="dcterms:W3CDTF">2025-04-14T12:50:00Z</dcterms:created>
  <dcterms:modified xsi:type="dcterms:W3CDTF">2025-05-26T22:18:32Z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2D4701F76A86482A85AE8F35087FBECC_13</vt:lpwstr>
  </property>
  <property fmtid="{D5CDD505-2E9C-101B-9397-08002B2CF9AE}" pid="3" name="KSOProductBuildVer">
    <vt:lpwstr>1033-12.2.0.21179</vt:lpwstr>
  </property>
</Properties>
</file>