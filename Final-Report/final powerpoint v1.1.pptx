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6" r:id="rId2"/>
    <p:sldId id="257" r:id="rId3"/>
    <p:sldId id="256" r:id="rId4"/>
    <p:sldId id="269" r:id="rId5"/>
    <p:sldId id="268" r:id="rId6"/>
    <p:sldId id="270" r:id="rId7"/>
    <p:sldId id="258" r:id="rId8"/>
    <p:sldId id="267" r:id="rId9"/>
    <p:sldId id="263" r:id="rId10"/>
    <p:sldId id="259" r:id="rId11"/>
    <p:sldId id="264" r:id="rId12"/>
    <p:sldId id="271" r:id="rId13"/>
  </p:sldIdLst>
  <p:sldSz cx="14630400" cy="8229600"/>
  <p:notesSz cx="8229600" cy="14630400"/>
  <p:embeddedFontLst>
    <p:embeddedFont>
      <p:font typeface="Barlow Bold" panose="020B0604020202020204" charset="0"/>
      <p:bold r:id="rId15"/>
    </p:embeddedFont>
    <p:embeddedFont>
      <p:font typeface="Montserrat" panose="00000500000000000000" pitchFamily="2"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68F4"/>
    <a:srgbClr val="EEEF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3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234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9EB37-03C9-7499-3019-C186354D4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1C20D-D46C-A301-499E-5617BAFDA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50E56-7623-7A4C-F20D-E53B4AEC58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3FB9C5-99A6-90D3-C29D-743A437029D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21297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9F4A-DC99-ADEB-17CC-D762BC7B4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393582-7FA2-3F79-77F2-40463F089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6E939-0EB5-34BA-B1D0-E462DDB205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571C8E-B08E-B0BE-2D12-1EFA0F67362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8149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0ED1-1E32-5439-B6BB-1EFB7B8F9597}"/>
              </a:ext>
            </a:extLst>
          </p:cNvPr>
          <p:cNvSpPr>
            <a:spLocks noGrp="1"/>
          </p:cNvSpPr>
          <p:nvPr/>
        </p:nvSpPr>
        <p:spPr>
          <a:xfrm>
            <a:off x="232094" y="704375"/>
            <a:ext cx="8640445" cy="2210434"/>
          </a:xfrm>
          <a:prstGeom prst="rect">
            <a:avLst/>
          </a:prstGeom>
          <a:noFill/>
          <a:ln w="9525">
            <a:noFill/>
          </a:ln>
        </p:spPr>
        <p:txBody>
          <a:bodyPr anchor="ctr" anchorCtr="0"/>
          <a:lstStyle>
            <a:lvl1pPr marL="0" algn="l" defTabSz="914400" rtl="0" eaLnBrk="1" fontAlgn="base" latinLnBrk="0" hangingPunct="1">
              <a:spcBef>
                <a:spcPct val="0"/>
              </a:spcBef>
              <a:spcAft>
                <a:spcPct val="0"/>
              </a:spcAft>
              <a:defRPr sz="4320" kern="1200">
                <a:solidFill>
                  <a:schemeClr val="tx1"/>
                </a:solidFill>
                <a:latin typeface="+mj-lt"/>
                <a:ea typeface="+mj-ea"/>
                <a:cs typeface="+mj-cs"/>
              </a:defRPr>
            </a:lvl1pPr>
            <a:lvl2pPr marL="4572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2pPr>
            <a:lvl3pPr marL="9144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3pPr>
            <a:lvl4pPr marL="13716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4pPr>
            <a:lvl5pPr marL="18288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5pPr>
            <a:lvl6pPr marL="4572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6pPr>
            <a:lvl7pPr marL="9144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7pPr>
            <a:lvl8pPr marL="13716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8pPr>
            <a:lvl9pPr marL="1828800" algn="l" defTabSz="914400" rtl="0" eaLnBrk="1" fontAlgn="base" latinLnBrk="0" hangingPunct="1">
              <a:spcBef>
                <a:spcPct val="0"/>
              </a:spcBef>
              <a:spcAft>
                <a:spcPct val="0"/>
              </a:spcAft>
              <a:defRPr sz="3600" kern="1200">
                <a:solidFill>
                  <a:schemeClr val="tx1"/>
                </a:solidFill>
                <a:latin typeface="Arial" panose="020B0604020202020204" pitchFamily="34" charset="0"/>
                <a:ea typeface="SimSun" panose="02010600030101010101" pitchFamily="2" charset="-122"/>
                <a:cs typeface="+mn-cs"/>
              </a:defRPr>
            </a:lvl9pPr>
          </a:lstStyle>
          <a:p>
            <a:pPr algn="ctr"/>
            <a:r>
              <a:rPr lang="en-US" sz="4400" b="1" dirty="0">
                <a:solidFill>
                  <a:srgbClr val="231971"/>
                </a:solidFill>
                <a:latin typeface="Barlow Bold"/>
                <a:ea typeface="Outfit Extra Bold" pitchFamily="34" charset="-122"/>
                <a:cs typeface="Outfit Extra Bold" pitchFamily="34" charset="-120"/>
                <a:sym typeface="+mn-ea"/>
              </a:rPr>
              <a:t>CHECKIN </a:t>
            </a:r>
          </a:p>
          <a:p>
            <a:pPr algn="ctr"/>
            <a:r>
              <a:rPr lang="en-US" sz="4400" b="1" dirty="0">
                <a:solidFill>
                  <a:srgbClr val="231971"/>
                </a:solidFill>
                <a:latin typeface="Barlow Bold"/>
                <a:ea typeface="Outfit Extra Bold" pitchFamily="34" charset="-122"/>
                <a:cs typeface="Outfit Extra Bold" pitchFamily="34" charset="-120"/>
                <a:sym typeface="+mn-ea"/>
              </a:rPr>
              <a:t>A Mobile Network Quality of Experience (</a:t>
            </a:r>
            <a:r>
              <a:rPr lang="en-US" sz="4400" b="1" dirty="0" err="1">
                <a:solidFill>
                  <a:srgbClr val="231971"/>
                </a:solidFill>
                <a:latin typeface="Barlow Bold"/>
                <a:ea typeface="Outfit Extra Bold" pitchFamily="34" charset="-122"/>
                <a:cs typeface="Outfit Extra Bold" pitchFamily="34" charset="-120"/>
                <a:sym typeface="+mn-ea"/>
              </a:rPr>
              <a:t>QoE</a:t>
            </a:r>
            <a:r>
              <a:rPr lang="en-US" sz="4400" b="1" dirty="0">
                <a:solidFill>
                  <a:srgbClr val="231971"/>
                </a:solidFill>
                <a:latin typeface="Barlow Bold"/>
                <a:ea typeface="Outfit Extra Bold" pitchFamily="34" charset="-122"/>
                <a:cs typeface="Outfit Extra Bold" pitchFamily="34" charset="-120"/>
                <a:sym typeface="+mn-ea"/>
              </a:rPr>
              <a:t>) Monitoring App </a:t>
            </a:r>
            <a:endParaRPr lang="en-US" sz="4400" b="1" dirty="0">
              <a:latin typeface="Barlow Bold"/>
              <a:cs typeface="Times New Roman" panose="02020603050405020304" charset="0"/>
            </a:endParaRPr>
          </a:p>
        </p:txBody>
      </p:sp>
      <p:sp>
        <p:nvSpPr>
          <p:cNvPr id="3" name="Text Box 2">
            <a:extLst>
              <a:ext uri="{FF2B5EF4-FFF2-40B4-BE49-F238E27FC236}">
                <a16:creationId xmlns:a16="http://schemas.microsoft.com/office/drawing/2014/main" id="{E7AB7741-D231-FFAA-955E-A2903A40E39A}"/>
              </a:ext>
            </a:extLst>
          </p:cNvPr>
          <p:cNvSpPr txBox="1"/>
          <p:nvPr/>
        </p:nvSpPr>
        <p:spPr>
          <a:xfrm>
            <a:off x="232093" y="6728142"/>
            <a:ext cx="4876800" cy="967740"/>
          </a:xfrm>
          <a:prstGeom prst="rect">
            <a:avLst/>
          </a:prstGeom>
          <a:noFill/>
        </p:spPr>
        <p:txBody>
          <a:bodyPr wrap="square" rtlCol="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rgbClr val="231971"/>
                </a:solidFill>
                <a:latin typeface="Barlow Bold"/>
                <a:cs typeface="Times New Roman" panose="02020603050405020304" charset="0"/>
              </a:rPr>
              <a:t>CEF440 - Internet &amp; Mobile Programming </a:t>
            </a:r>
          </a:p>
          <a:p>
            <a:endParaRPr lang="en-US" sz="2000" b="1" dirty="0">
              <a:solidFill>
                <a:srgbClr val="231971"/>
              </a:solidFill>
              <a:latin typeface="Barlow Bold"/>
              <a:cs typeface="Times New Roman" panose="02020603050405020304" charset="0"/>
            </a:endParaRPr>
          </a:p>
          <a:p>
            <a:r>
              <a:rPr lang="en-US" sz="2000" b="1" dirty="0">
                <a:solidFill>
                  <a:srgbClr val="231971"/>
                </a:solidFill>
                <a:latin typeface="Barlow Bold"/>
                <a:cs typeface="Times New Roman" panose="02020603050405020304" charset="0"/>
              </a:rPr>
              <a:t>Instructor - Dr Valery </a:t>
            </a:r>
            <a:r>
              <a:rPr lang="en-US" sz="2000" b="1" dirty="0" err="1">
                <a:solidFill>
                  <a:srgbClr val="231971"/>
                </a:solidFill>
                <a:latin typeface="Barlow Bold"/>
                <a:cs typeface="Times New Roman" panose="02020603050405020304" charset="0"/>
              </a:rPr>
              <a:t>Nkemeni</a:t>
            </a:r>
            <a:endParaRPr lang="en-US" sz="2000" b="1" dirty="0">
              <a:solidFill>
                <a:srgbClr val="231971"/>
              </a:solidFill>
              <a:latin typeface="Barlow Bold"/>
              <a:cs typeface="Times New Roman" panose="02020603050405020304" charset="0"/>
            </a:endParaRPr>
          </a:p>
        </p:txBody>
      </p:sp>
      <p:sp>
        <p:nvSpPr>
          <p:cNvPr id="4" name="Text Box 3">
            <a:extLst>
              <a:ext uri="{FF2B5EF4-FFF2-40B4-BE49-F238E27FC236}">
                <a16:creationId xmlns:a16="http://schemas.microsoft.com/office/drawing/2014/main" id="{FBAB31C5-EF0C-3D1C-B93F-69874E5DD9E5}"/>
              </a:ext>
            </a:extLst>
          </p:cNvPr>
          <p:cNvSpPr txBox="1"/>
          <p:nvPr/>
        </p:nvSpPr>
        <p:spPr>
          <a:xfrm>
            <a:off x="2206308" y="3630216"/>
            <a:ext cx="4876800" cy="2210435"/>
          </a:xfrm>
          <a:prstGeom prst="rect">
            <a:avLst/>
          </a:prstGeom>
          <a:noFill/>
        </p:spPr>
        <p:txBody>
          <a:bodyPr wrap="square" rtlCol="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400" b="1" dirty="0">
                <a:solidFill>
                  <a:srgbClr val="231971"/>
                </a:solidFill>
                <a:latin typeface="Barlow Bold"/>
                <a:cs typeface="Times New Roman" panose="02020603050405020304" charset="0"/>
              </a:rPr>
              <a:t>Presentation By </a:t>
            </a:r>
          </a:p>
          <a:p>
            <a:pPr algn="ctr"/>
            <a:endParaRPr lang="en-US" sz="4400" b="1" dirty="0">
              <a:solidFill>
                <a:srgbClr val="231971"/>
              </a:solidFill>
              <a:latin typeface="Barlow Bold"/>
              <a:cs typeface="Times New Roman" panose="02020603050405020304" charset="0"/>
            </a:endParaRPr>
          </a:p>
          <a:p>
            <a:pPr algn="ctr"/>
            <a:r>
              <a:rPr lang="en-US" sz="4400" b="1" dirty="0">
                <a:solidFill>
                  <a:srgbClr val="231971"/>
                </a:solidFill>
                <a:latin typeface="Barlow Bold"/>
                <a:cs typeface="Times New Roman" panose="02020603050405020304" charset="0"/>
              </a:rPr>
              <a:t>GROUP 3</a:t>
            </a:r>
          </a:p>
        </p:txBody>
      </p:sp>
      <p:sp>
        <p:nvSpPr>
          <p:cNvPr id="5" name="Text Box 4">
            <a:extLst>
              <a:ext uri="{FF2B5EF4-FFF2-40B4-BE49-F238E27FC236}">
                <a16:creationId xmlns:a16="http://schemas.microsoft.com/office/drawing/2014/main" id="{2A2E153D-355C-31C4-F814-F3FF0A6BD3E2}"/>
              </a:ext>
            </a:extLst>
          </p:cNvPr>
          <p:cNvSpPr txBox="1"/>
          <p:nvPr/>
        </p:nvSpPr>
        <p:spPr>
          <a:xfrm>
            <a:off x="5902008" y="7327582"/>
            <a:ext cx="2970530" cy="36830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231971"/>
                </a:solidFill>
                <a:latin typeface="Barlow Bold"/>
                <a:cs typeface="Times New Roman" panose="02020603050405020304" charset="0"/>
              </a:rPr>
              <a:t>Academic Year: 2024/2025</a:t>
            </a:r>
          </a:p>
        </p:txBody>
      </p:sp>
      <p:pic>
        <p:nvPicPr>
          <p:cNvPr id="6" name="Picture 5" descr="istockphoto-1660763957-612x612">
            <a:extLst>
              <a:ext uri="{FF2B5EF4-FFF2-40B4-BE49-F238E27FC236}">
                <a16:creationId xmlns:a16="http://schemas.microsoft.com/office/drawing/2014/main" id="{B733E0CE-439B-61CF-C6D0-F5F9AFDC97CB}"/>
              </a:ext>
            </a:extLst>
          </p:cNvPr>
          <p:cNvPicPr>
            <a:picLocks noChangeAspect="1"/>
          </p:cNvPicPr>
          <p:nvPr/>
        </p:nvPicPr>
        <p:blipFill>
          <a:blip r:embed="rId2"/>
          <a:stretch>
            <a:fillRect/>
          </a:stretch>
        </p:blipFill>
        <p:spPr>
          <a:xfrm>
            <a:off x="8872539" y="5715"/>
            <a:ext cx="5757862" cy="8223885"/>
          </a:xfrm>
          <a:prstGeom prst="rect">
            <a:avLst/>
          </a:prstGeom>
        </p:spPr>
      </p:pic>
    </p:spTree>
    <p:extLst>
      <p:ext uri="{BB962C8B-B14F-4D97-AF65-F5344CB8AC3E}">
        <p14:creationId xmlns:p14="http://schemas.microsoft.com/office/powerpoint/2010/main" val="1157307087"/>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090297" y="1378371"/>
            <a:ext cx="3520176" cy="589717"/>
          </a:xfrm>
          <a:prstGeom prst="rect">
            <a:avLst/>
          </a:prstGeom>
          <a:noFill/>
          <a:ln/>
        </p:spPr>
        <p:txBody>
          <a:bodyPr wrap="none" lIns="0" tIns="0" rIns="0" bIns="0" rtlCol="0" anchor="t"/>
          <a:lstStyle/>
          <a:p>
            <a:pPr marL="0" indent="0" algn="l">
              <a:lnSpc>
                <a:spcPts val="4600"/>
              </a:lnSpc>
              <a:buNone/>
            </a:pPr>
            <a:r>
              <a:rPr lang="en-US" sz="4800" b="1" dirty="0">
                <a:solidFill>
                  <a:srgbClr val="7068F4"/>
                </a:solidFill>
                <a:latin typeface="Barlow Bold" pitchFamily="34" charset="0"/>
                <a:ea typeface="Barlow Bold" pitchFamily="34" charset="-122"/>
                <a:cs typeface="Barlow Bold" pitchFamily="34" charset="-120"/>
              </a:rPr>
              <a:t>Introduction</a:t>
            </a:r>
            <a:endParaRPr lang="en-US" sz="4800" dirty="0"/>
          </a:p>
        </p:txBody>
      </p:sp>
      <p:sp>
        <p:nvSpPr>
          <p:cNvPr id="3" name="Text 1"/>
          <p:cNvSpPr/>
          <p:nvPr/>
        </p:nvSpPr>
        <p:spPr>
          <a:xfrm>
            <a:off x="820215" y="2803624"/>
            <a:ext cx="6379369" cy="860465"/>
          </a:xfrm>
          <a:prstGeom prst="rect">
            <a:avLst/>
          </a:prstGeom>
          <a:noFill/>
          <a:ln/>
        </p:spPr>
        <p:txBody>
          <a:bodyPr wrap="square" lIns="0" tIns="0" rIns="0" bIns="0" rtlCol="0" anchor="t"/>
          <a:lstStyle/>
          <a:p>
            <a:pPr marL="0" indent="0" algn="just">
              <a:lnSpc>
                <a:spcPts val="2250"/>
              </a:lnSpc>
              <a:buNone/>
            </a:pPr>
            <a:r>
              <a:rPr lang="en-US" sz="1400" dirty="0">
                <a:solidFill>
                  <a:srgbClr val="272525"/>
                </a:solidFill>
                <a:latin typeface="Montserrat" pitchFamily="34" charset="0"/>
                <a:ea typeface="Montserrat" pitchFamily="34" charset="-122"/>
                <a:cs typeface="Montserrat" pitchFamily="34" charset="-120"/>
              </a:rPr>
              <a:t>Mobile network users in developing countries like Cameroon often face inconsistent quality, delays, and outages. Traditional network-centric metrics fail to capture real-time, location-specific user experiences.</a:t>
            </a:r>
            <a:endParaRPr lang="en-US" sz="1400" dirty="0"/>
          </a:p>
        </p:txBody>
      </p:sp>
      <p:sp>
        <p:nvSpPr>
          <p:cNvPr id="4" name="Text 2"/>
          <p:cNvSpPr/>
          <p:nvPr/>
        </p:nvSpPr>
        <p:spPr>
          <a:xfrm>
            <a:off x="820216" y="4221598"/>
            <a:ext cx="6379369" cy="1147286"/>
          </a:xfrm>
          <a:prstGeom prst="rect">
            <a:avLst/>
          </a:prstGeom>
          <a:noFill/>
          <a:ln/>
        </p:spPr>
        <p:txBody>
          <a:bodyPr wrap="square" lIns="0" tIns="0" rIns="0" bIns="0" rtlCol="0" anchor="t"/>
          <a:lstStyle/>
          <a:p>
            <a:pPr marL="0" indent="0" algn="just">
              <a:lnSpc>
                <a:spcPts val="2250"/>
              </a:lnSpc>
              <a:buNone/>
            </a:pPr>
            <a:r>
              <a:rPr lang="en-US" sz="1400" dirty="0">
                <a:solidFill>
                  <a:srgbClr val="272525"/>
                </a:solidFill>
                <a:latin typeface="Montserrat" pitchFamily="34" charset="0"/>
                <a:ea typeface="Montserrat" pitchFamily="34" charset="-122"/>
                <a:cs typeface="Montserrat" pitchFamily="34" charset="-120"/>
              </a:rPr>
              <a:t>The "Checkin" app bridges this gap by collecting both subjective feedback (satisfaction ratings) and objective performance metrics (signal strength, latency) directly from subscribers, providing MNOs with deeper insights.</a:t>
            </a:r>
            <a:endParaRPr lang="en-US" sz="1400" dirty="0"/>
          </a:p>
        </p:txBody>
      </p:sp>
      <p:pic>
        <p:nvPicPr>
          <p:cNvPr id="5" name="Image 0" descr="preencoded.png"/>
          <p:cNvPicPr>
            <a:picLocks noChangeAspect="1"/>
          </p:cNvPicPr>
          <p:nvPr/>
        </p:nvPicPr>
        <p:blipFill>
          <a:blip r:embed="rId3"/>
          <a:stretch>
            <a:fillRect/>
          </a:stretch>
        </p:blipFill>
        <p:spPr>
          <a:xfrm>
            <a:off x="7541538" y="0"/>
            <a:ext cx="7091830" cy="8229600"/>
          </a:xfrm>
          <a:prstGeom prst="rect">
            <a:avLst/>
          </a:prstGeom>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5" name="Image 0">
            <a:extLst>
              <a:ext uri="{FF2B5EF4-FFF2-40B4-BE49-F238E27FC236}">
                <a16:creationId xmlns:a16="http://schemas.microsoft.com/office/drawing/2014/main" id="{D68A4637-10DF-C2A6-F217-7F0B6214231A}"/>
              </a:ext>
            </a:extLst>
          </p:cNvPr>
          <p:cNvPicPr>
            <a:picLocks noChangeAspect="1"/>
          </p:cNvPicPr>
          <p:nvPr/>
        </p:nvPicPr>
        <p:blipFill>
          <a:blip r:embed="rId3"/>
          <a:stretch>
            <a:fillRect/>
          </a:stretch>
        </p:blipFill>
        <p:spPr>
          <a:xfrm>
            <a:off x="0" y="0"/>
            <a:ext cx="14630400" cy="3004961"/>
          </a:xfrm>
          <a:prstGeom prst="rect">
            <a:avLst/>
          </a:prstGeom>
        </p:spPr>
      </p:pic>
      <p:sp>
        <p:nvSpPr>
          <p:cNvPr id="6" name="Text 0">
            <a:extLst>
              <a:ext uri="{FF2B5EF4-FFF2-40B4-BE49-F238E27FC236}">
                <a16:creationId xmlns:a16="http://schemas.microsoft.com/office/drawing/2014/main" id="{2F9C3DF0-6575-889E-DC60-E6DADC29689F}"/>
              </a:ext>
            </a:extLst>
          </p:cNvPr>
          <p:cNvSpPr/>
          <p:nvPr/>
        </p:nvSpPr>
        <p:spPr>
          <a:xfrm>
            <a:off x="758309" y="4114800"/>
            <a:ext cx="11336417" cy="6235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Problem Statement: The Gap in Network Monitoring</a:t>
            </a:r>
            <a:endParaRPr lang="en-US" sz="3900" dirty="0"/>
          </a:p>
        </p:txBody>
      </p:sp>
      <p:sp>
        <p:nvSpPr>
          <p:cNvPr id="7" name="Text 1">
            <a:extLst>
              <a:ext uri="{FF2B5EF4-FFF2-40B4-BE49-F238E27FC236}">
                <a16:creationId xmlns:a16="http://schemas.microsoft.com/office/drawing/2014/main" id="{749E1DFC-6F2F-4FDD-9C94-A699E1E46FDB}"/>
              </a:ext>
            </a:extLst>
          </p:cNvPr>
          <p:cNvSpPr/>
          <p:nvPr/>
        </p:nvSpPr>
        <p:spPr>
          <a:xfrm>
            <a:off x="758309" y="5022652"/>
            <a:ext cx="13113782" cy="90975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Current methods used by mobile network operators primarily focus on network-centric metrics, failing to capture the subjective experiences of users. This leads to an incomplete understanding of service quality from the end-user perspective, especially in developing regions like Cameroon.</a:t>
            </a:r>
            <a:endParaRPr lang="en-US" sz="1450" dirty="0"/>
          </a:p>
        </p:txBody>
      </p:sp>
      <p:sp>
        <p:nvSpPr>
          <p:cNvPr id="8" name="Text 2">
            <a:extLst>
              <a:ext uri="{FF2B5EF4-FFF2-40B4-BE49-F238E27FC236}">
                <a16:creationId xmlns:a16="http://schemas.microsoft.com/office/drawing/2014/main" id="{EE30E9C6-2C0B-1511-76C3-AF5307C2CD1E}"/>
              </a:ext>
            </a:extLst>
          </p:cNvPr>
          <p:cNvSpPr/>
          <p:nvPr/>
        </p:nvSpPr>
        <p:spPr>
          <a:xfrm>
            <a:off x="758309" y="6145649"/>
            <a:ext cx="13113782" cy="90975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There's a significant lack of user-friendly, automated tools that simultaneously collect subjective feedback (e.g., satisfaction ratings) and objective metrics (e.g., network performance data) in real-time. This hinders proactive identification and resolution of network issues, impacting customer satisfaction and loyalty.</a:t>
            </a:r>
            <a:endParaRPr lang="en-US" sz="1450" dirty="0"/>
          </a:p>
        </p:txBody>
      </p:sp>
      <p:sp>
        <p:nvSpPr>
          <p:cNvPr id="9" name="Rectangle: Rounded Corners 8">
            <a:extLst>
              <a:ext uri="{FF2B5EF4-FFF2-40B4-BE49-F238E27FC236}">
                <a16:creationId xmlns:a16="http://schemas.microsoft.com/office/drawing/2014/main" id="{77BBA41C-7EBF-5A4F-A0A0-D93C361D16D6}"/>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7D2B48A-31CA-77E0-7A85-B82ECE2D355E}"/>
              </a:ext>
            </a:extLst>
          </p:cNvPr>
          <p:cNvPicPr>
            <a:picLocks noChangeAspect="1"/>
          </p:cNvPicPr>
          <p:nvPr/>
        </p:nvPicPr>
        <p:blipFill>
          <a:blip r:embed="rId2"/>
          <a:stretch>
            <a:fillRect/>
          </a:stretch>
        </p:blipFill>
        <p:spPr>
          <a:xfrm>
            <a:off x="8764846" y="0"/>
            <a:ext cx="5486400" cy="8229600"/>
          </a:xfrm>
          <a:prstGeom prst="rect">
            <a:avLst/>
          </a:prstGeom>
        </p:spPr>
      </p:pic>
      <p:sp>
        <p:nvSpPr>
          <p:cNvPr id="3" name="Text 0">
            <a:extLst>
              <a:ext uri="{FF2B5EF4-FFF2-40B4-BE49-F238E27FC236}">
                <a16:creationId xmlns:a16="http://schemas.microsoft.com/office/drawing/2014/main" id="{463DE020-3C12-BB81-CF59-04254B508E7C}"/>
              </a:ext>
            </a:extLst>
          </p:cNvPr>
          <p:cNvSpPr/>
          <p:nvPr/>
        </p:nvSpPr>
        <p:spPr>
          <a:xfrm>
            <a:off x="379155" y="716875"/>
            <a:ext cx="7627382" cy="124706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Project Objectives: Enhancing QoE Monitoring</a:t>
            </a:r>
            <a:endParaRPr lang="en-US" sz="3900" dirty="0"/>
          </a:p>
        </p:txBody>
      </p:sp>
      <p:sp>
        <p:nvSpPr>
          <p:cNvPr id="4" name="Shape 1">
            <a:extLst>
              <a:ext uri="{FF2B5EF4-FFF2-40B4-BE49-F238E27FC236}">
                <a16:creationId xmlns:a16="http://schemas.microsoft.com/office/drawing/2014/main" id="{4BEF61ED-FFF9-A2EE-0DCD-01FFCECB759C}"/>
              </a:ext>
            </a:extLst>
          </p:cNvPr>
          <p:cNvSpPr/>
          <p:nvPr/>
        </p:nvSpPr>
        <p:spPr>
          <a:xfrm>
            <a:off x="379155" y="2248257"/>
            <a:ext cx="426482" cy="426482"/>
          </a:xfrm>
          <a:prstGeom prst="roundRect">
            <a:avLst>
              <a:gd name="adj" fmla="val 40007"/>
            </a:avLst>
          </a:prstGeom>
          <a:solidFill>
            <a:srgbClr val="EEEFF5"/>
          </a:solidFill>
          <a:ln/>
          <a:effectLst>
            <a:outerShdw blurRad="46990" dist="22860" dir="13500000" algn="bl" rotWithShape="0">
              <a:srgbClr val="FFFFFF">
                <a:alpha val="70000"/>
              </a:srgbClr>
            </a:outerShdw>
          </a:effectLst>
        </p:spPr>
        <p:txBody>
          <a:bodyPr/>
          <a:lstStyle/>
          <a:p>
            <a:endParaRPr lang="en-US"/>
          </a:p>
        </p:txBody>
      </p:sp>
      <p:sp>
        <p:nvSpPr>
          <p:cNvPr id="5" name="Text 2">
            <a:extLst>
              <a:ext uri="{FF2B5EF4-FFF2-40B4-BE49-F238E27FC236}">
                <a16:creationId xmlns:a16="http://schemas.microsoft.com/office/drawing/2014/main" id="{FA844850-C447-D749-25B4-0C82D97427F3}"/>
              </a:ext>
            </a:extLst>
          </p:cNvPr>
          <p:cNvSpPr/>
          <p:nvPr/>
        </p:nvSpPr>
        <p:spPr>
          <a:xfrm>
            <a:off x="442734" y="2274451"/>
            <a:ext cx="299323" cy="37409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50"/>
              </a:lnSpc>
              <a:buNone/>
            </a:pPr>
            <a:r>
              <a:rPr lang="en-US" sz="2350" b="1" dirty="0">
                <a:solidFill>
                  <a:srgbClr val="272525"/>
                </a:solidFill>
                <a:latin typeface="Barlow Bold" pitchFamily="34" charset="0"/>
                <a:ea typeface="Barlow Bold" pitchFamily="34" charset="-122"/>
                <a:cs typeface="Barlow Bold" pitchFamily="34" charset="-120"/>
              </a:rPr>
              <a:t>1</a:t>
            </a:r>
            <a:endParaRPr lang="en-US" sz="2350" dirty="0"/>
          </a:p>
        </p:txBody>
      </p:sp>
      <p:sp>
        <p:nvSpPr>
          <p:cNvPr id="6" name="Text 3">
            <a:extLst>
              <a:ext uri="{FF2B5EF4-FFF2-40B4-BE49-F238E27FC236}">
                <a16:creationId xmlns:a16="http://schemas.microsoft.com/office/drawing/2014/main" id="{F4EF7EA2-8F8E-ED91-F91C-016554C6DE15}"/>
              </a:ext>
            </a:extLst>
          </p:cNvPr>
          <p:cNvSpPr/>
          <p:nvPr/>
        </p:nvSpPr>
        <p:spPr>
          <a:xfrm>
            <a:off x="995184" y="2313384"/>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General Objective</a:t>
            </a:r>
            <a:endParaRPr lang="en-US" sz="1950" dirty="0"/>
          </a:p>
        </p:txBody>
      </p:sp>
      <p:sp>
        <p:nvSpPr>
          <p:cNvPr id="7" name="Text 4">
            <a:extLst>
              <a:ext uri="{FF2B5EF4-FFF2-40B4-BE49-F238E27FC236}">
                <a16:creationId xmlns:a16="http://schemas.microsoft.com/office/drawing/2014/main" id="{08FD4ED2-F726-4A6B-E859-3552397D192C}"/>
              </a:ext>
            </a:extLst>
          </p:cNvPr>
          <p:cNvSpPr/>
          <p:nvPr/>
        </p:nvSpPr>
        <p:spPr>
          <a:xfrm>
            <a:off x="995184" y="2738795"/>
            <a:ext cx="7011353" cy="90975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Design and implement a mobile application for real-time collection of user experience data from mobile network subscribers, integrating active user feedback with passive network and device performance monitoring.</a:t>
            </a:r>
            <a:endParaRPr lang="en-US" sz="1450" dirty="0"/>
          </a:p>
        </p:txBody>
      </p:sp>
      <p:sp>
        <p:nvSpPr>
          <p:cNvPr id="8" name="Shape 5">
            <a:extLst>
              <a:ext uri="{FF2B5EF4-FFF2-40B4-BE49-F238E27FC236}">
                <a16:creationId xmlns:a16="http://schemas.microsoft.com/office/drawing/2014/main" id="{2E66F218-104E-E93B-0DC3-CBC8193C867D}"/>
              </a:ext>
            </a:extLst>
          </p:cNvPr>
          <p:cNvSpPr/>
          <p:nvPr/>
        </p:nvSpPr>
        <p:spPr>
          <a:xfrm>
            <a:off x="379155" y="4027646"/>
            <a:ext cx="426482" cy="426482"/>
          </a:xfrm>
          <a:prstGeom prst="roundRect">
            <a:avLst>
              <a:gd name="adj" fmla="val 40007"/>
            </a:avLst>
          </a:prstGeom>
          <a:solidFill>
            <a:srgbClr val="EEEFF5"/>
          </a:solidFill>
          <a:ln/>
          <a:effectLst>
            <a:outerShdw blurRad="46990" dist="22860" dir="13500000" algn="bl" rotWithShape="0">
              <a:srgbClr val="FFFFFF">
                <a:alpha val="70000"/>
              </a:srgbClr>
            </a:outerShdw>
          </a:effectLst>
        </p:spPr>
        <p:txBody>
          <a:bodyPr/>
          <a:lstStyle/>
          <a:p>
            <a:endParaRPr lang="en-US"/>
          </a:p>
        </p:txBody>
      </p:sp>
      <p:sp>
        <p:nvSpPr>
          <p:cNvPr id="9" name="Text 6">
            <a:extLst>
              <a:ext uri="{FF2B5EF4-FFF2-40B4-BE49-F238E27FC236}">
                <a16:creationId xmlns:a16="http://schemas.microsoft.com/office/drawing/2014/main" id="{D4270E85-AFEA-79B9-1EF5-7B5C217FC55E}"/>
              </a:ext>
            </a:extLst>
          </p:cNvPr>
          <p:cNvSpPr/>
          <p:nvPr/>
        </p:nvSpPr>
        <p:spPr>
          <a:xfrm>
            <a:off x="442734" y="4053840"/>
            <a:ext cx="299323" cy="37409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50"/>
              </a:lnSpc>
              <a:buNone/>
            </a:pPr>
            <a:r>
              <a:rPr lang="en-US" sz="2350" b="1" dirty="0">
                <a:solidFill>
                  <a:srgbClr val="272525"/>
                </a:solidFill>
                <a:latin typeface="Barlow Bold" pitchFamily="34" charset="0"/>
                <a:ea typeface="Barlow Bold" pitchFamily="34" charset="-122"/>
                <a:cs typeface="Barlow Bold" pitchFamily="34" charset="-120"/>
              </a:rPr>
              <a:t>2</a:t>
            </a:r>
            <a:endParaRPr lang="en-US" sz="2350" dirty="0"/>
          </a:p>
        </p:txBody>
      </p:sp>
      <p:sp>
        <p:nvSpPr>
          <p:cNvPr id="10" name="Text 7">
            <a:extLst>
              <a:ext uri="{FF2B5EF4-FFF2-40B4-BE49-F238E27FC236}">
                <a16:creationId xmlns:a16="http://schemas.microsoft.com/office/drawing/2014/main" id="{8D1CBB56-10B9-1D21-9864-8BC157DEAE53}"/>
              </a:ext>
            </a:extLst>
          </p:cNvPr>
          <p:cNvSpPr/>
          <p:nvPr/>
        </p:nvSpPr>
        <p:spPr>
          <a:xfrm>
            <a:off x="995184" y="4092773"/>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Specific Objectives</a:t>
            </a:r>
            <a:endParaRPr lang="en-US" sz="1950" dirty="0"/>
          </a:p>
        </p:txBody>
      </p:sp>
      <p:sp>
        <p:nvSpPr>
          <p:cNvPr id="11" name="Text 8">
            <a:extLst>
              <a:ext uri="{FF2B5EF4-FFF2-40B4-BE49-F238E27FC236}">
                <a16:creationId xmlns:a16="http://schemas.microsoft.com/office/drawing/2014/main" id="{855009BD-4A97-983B-48D6-A03687B5F188}"/>
              </a:ext>
            </a:extLst>
          </p:cNvPr>
          <p:cNvSpPr/>
          <p:nvPr/>
        </p:nvSpPr>
        <p:spPr>
          <a:xfrm>
            <a:off x="995184" y="4518184"/>
            <a:ext cx="7011353"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dirty="0">
                <a:solidFill>
                  <a:srgbClr val="272525"/>
                </a:solidFill>
                <a:latin typeface="Montserrat" pitchFamily="34" charset="0"/>
                <a:ea typeface="Montserrat" pitchFamily="34" charset="-122"/>
                <a:cs typeface="Montserrat" pitchFamily="34" charset="-120"/>
              </a:rPr>
              <a:t>Develop a background-running app for network and device metric collection (e.g., signal strength, latency, location).</a:t>
            </a:r>
            <a:endParaRPr lang="en-US" sz="1450" dirty="0"/>
          </a:p>
        </p:txBody>
      </p:sp>
      <p:sp>
        <p:nvSpPr>
          <p:cNvPr id="12" name="Text 9">
            <a:extLst>
              <a:ext uri="{FF2B5EF4-FFF2-40B4-BE49-F238E27FC236}">
                <a16:creationId xmlns:a16="http://schemas.microsoft.com/office/drawing/2014/main" id="{A7AC6D59-4352-98CD-AFF5-6EE230A50B8F}"/>
              </a:ext>
            </a:extLst>
          </p:cNvPr>
          <p:cNvSpPr/>
          <p:nvPr/>
        </p:nvSpPr>
        <p:spPr>
          <a:xfrm>
            <a:off x="995184" y="5191006"/>
            <a:ext cx="7011353"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dirty="0">
                <a:solidFill>
                  <a:srgbClr val="272525"/>
                </a:solidFill>
                <a:latin typeface="Montserrat" pitchFamily="34" charset="0"/>
                <a:ea typeface="Montserrat" pitchFamily="34" charset="-122"/>
                <a:cs typeface="Montserrat" pitchFamily="34" charset="-120"/>
              </a:rPr>
              <a:t>Incorporate a user-friendly interface for subjective feedback (satisfaction ratings, comments).</a:t>
            </a:r>
            <a:endParaRPr lang="en-US" sz="1450" dirty="0"/>
          </a:p>
        </p:txBody>
      </p:sp>
      <p:sp>
        <p:nvSpPr>
          <p:cNvPr id="13" name="Text 10">
            <a:extLst>
              <a:ext uri="{FF2B5EF4-FFF2-40B4-BE49-F238E27FC236}">
                <a16:creationId xmlns:a16="http://schemas.microsoft.com/office/drawing/2014/main" id="{A2BE48B4-2956-8770-D146-17E9C3324268}"/>
              </a:ext>
            </a:extLst>
          </p:cNvPr>
          <p:cNvSpPr/>
          <p:nvPr/>
        </p:nvSpPr>
        <p:spPr>
          <a:xfrm>
            <a:off x="995184" y="5863828"/>
            <a:ext cx="7011353"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dirty="0">
                <a:solidFill>
                  <a:srgbClr val="272525"/>
                </a:solidFill>
                <a:latin typeface="Montserrat" pitchFamily="34" charset="0"/>
                <a:ea typeface="Montserrat" pitchFamily="34" charset="-122"/>
                <a:cs typeface="Montserrat" pitchFamily="34" charset="-120"/>
              </a:rPr>
              <a:t>Design a system to log feedback with timestamps and location for correlation with metrics.</a:t>
            </a:r>
            <a:endParaRPr lang="en-US" sz="1450" dirty="0"/>
          </a:p>
        </p:txBody>
      </p:sp>
      <p:sp>
        <p:nvSpPr>
          <p:cNvPr id="14" name="Text 11">
            <a:extLst>
              <a:ext uri="{FF2B5EF4-FFF2-40B4-BE49-F238E27FC236}">
                <a16:creationId xmlns:a16="http://schemas.microsoft.com/office/drawing/2014/main" id="{762824DE-D729-DFAE-68AA-8ACBAF438327}"/>
              </a:ext>
            </a:extLst>
          </p:cNvPr>
          <p:cNvSpPr/>
          <p:nvPr/>
        </p:nvSpPr>
        <p:spPr>
          <a:xfrm>
            <a:off x="995184" y="6536650"/>
            <a:ext cx="7011353"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dirty="0">
                <a:solidFill>
                  <a:srgbClr val="272525"/>
                </a:solidFill>
                <a:latin typeface="Montserrat" pitchFamily="34" charset="0"/>
                <a:ea typeface="Montserrat" pitchFamily="34" charset="-122"/>
                <a:cs typeface="Montserrat" pitchFamily="34" charset="-120"/>
              </a:rPr>
              <a:t>Evaluate the app's effectiveness in collecting reliable QoE data and its impact on network optimization.</a:t>
            </a:r>
            <a:endParaRPr lang="en-US" sz="1450" dirty="0"/>
          </a:p>
        </p:txBody>
      </p:sp>
      <p:sp>
        <p:nvSpPr>
          <p:cNvPr id="15" name="Text 12">
            <a:extLst>
              <a:ext uri="{FF2B5EF4-FFF2-40B4-BE49-F238E27FC236}">
                <a16:creationId xmlns:a16="http://schemas.microsoft.com/office/drawing/2014/main" id="{1DDDC7E7-45B2-98C0-EC47-2A01CDC31990}"/>
              </a:ext>
            </a:extLst>
          </p:cNvPr>
          <p:cNvSpPr/>
          <p:nvPr/>
        </p:nvSpPr>
        <p:spPr>
          <a:xfrm>
            <a:off x="995184" y="7209473"/>
            <a:ext cx="7011353"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dirty="0">
                <a:solidFill>
                  <a:srgbClr val="272525"/>
                </a:solidFill>
                <a:latin typeface="Montserrat" pitchFamily="34" charset="0"/>
                <a:ea typeface="Montserrat" pitchFamily="34" charset="-122"/>
                <a:cs typeface="Montserrat" pitchFamily="34" charset="-120"/>
              </a:rPr>
              <a:t>Ensure adherence to privacy and security standards for user data.</a:t>
            </a:r>
            <a:endParaRPr lang="en-US" sz="1450" dirty="0"/>
          </a:p>
        </p:txBody>
      </p:sp>
    </p:spTree>
    <p:extLst>
      <p:ext uri="{BB962C8B-B14F-4D97-AF65-F5344CB8AC3E}">
        <p14:creationId xmlns:p14="http://schemas.microsoft.com/office/powerpoint/2010/main" val="147268697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7E02-C982-9408-B318-774B12F4CA6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6DFDB3B-A3F3-AAA7-F027-D5C0C41E312D}"/>
              </a:ext>
            </a:extLst>
          </p:cNvPr>
          <p:cNvPicPr>
            <a:picLocks noChangeAspect="1"/>
          </p:cNvPicPr>
          <p:nvPr/>
        </p:nvPicPr>
        <p:blipFill>
          <a:blip r:embed="rId3"/>
          <a:stretch>
            <a:fillRect/>
          </a:stretch>
        </p:blipFill>
        <p:spPr>
          <a:xfrm>
            <a:off x="9144000" y="0"/>
            <a:ext cx="5486400" cy="8229600"/>
          </a:xfrm>
          <a:prstGeom prst="rect">
            <a:avLst/>
          </a:prstGeom>
        </p:spPr>
      </p:pic>
      <p:sp>
        <p:nvSpPr>
          <p:cNvPr id="3" name="Text 0">
            <a:extLst>
              <a:ext uri="{FF2B5EF4-FFF2-40B4-BE49-F238E27FC236}">
                <a16:creationId xmlns:a16="http://schemas.microsoft.com/office/drawing/2014/main" id="{5C7791EE-3781-8B1E-ED5E-B3A4F9100E5D}"/>
              </a:ext>
            </a:extLst>
          </p:cNvPr>
          <p:cNvSpPr/>
          <p:nvPr/>
        </p:nvSpPr>
        <p:spPr>
          <a:xfrm>
            <a:off x="758309" y="2248619"/>
            <a:ext cx="7627382" cy="1247061"/>
          </a:xfrm>
          <a:prstGeom prst="rect">
            <a:avLst/>
          </a:prstGeom>
          <a:noFill/>
          <a:ln/>
        </p:spPr>
        <p:txBody>
          <a:bodyPr wrap="square" lIns="0" tIns="0" rIns="0" bIns="0" rtlCol="0" anchor="t"/>
          <a:lstStyle/>
          <a:p>
            <a:pPr marL="0" indent="0" algn="ctr">
              <a:lnSpc>
                <a:spcPts val="4900"/>
              </a:lnSpc>
              <a:buNone/>
            </a:pPr>
            <a:r>
              <a:rPr lang="en-US" sz="3900" b="1" dirty="0">
                <a:solidFill>
                  <a:srgbClr val="7068F4"/>
                </a:solidFill>
                <a:latin typeface="Barlow Bold" pitchFamily="34" charset="0"/>
                <a:ea typeface="Barlow Bold" pitchFamily="34" charset="-122"/>
                <a:cs typeface="Barlow Bold" pitchFamily="34" charset="-120"/>
              </a:rPr>
              <a:t>Checkin: Empowering Your Connection</a:t>
            </a:r>
            <a:endParaRPr lang="en-US" sz="3900" dirty="0"/>
          </a:p>
        </p:txBody>
      </p:sp>
      <p:sp>
        <p:nvSpPr>
          <p:cNvPr id="4" name="Text 1">
            <a:extLst>
              <a:ext uri="{FF2B5EF4-FFF2-40B4-BE49-F238E27FC236}">
                <a16:creationId xmlns:a16="http://schemas.microsoft.com/office/drawing/2014/main" id="{D8B30259-5157-6306-C955-924722E429E9}"/>
              </a:ext>
            </a:extLst>
          </p:cNvPr>
          <p:cNvSpPr/>
          <p:nvPr/>
        </p:nvSpPr>
        <p:spPr>
          <a:xfrm>
            <a:off x="758309" y="4333326"/>
            <a:ext cx="7627382" cy="1213009"/>
          </a:xfrm>
          <a:prstGeom prst="rect">
            <a:avLst/>
          </a:prstGeom>
          <a:noFill/>
          <a:ln/>
        </p:spPr>
        <p:txBody>
          <a:bodyPr wrap="square" lIns="0" tIns="0" rIns="0" bIns="0" rtlCol="0" anchor="t"/>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The "Checkin" Mobile Network Quality of Experience (QoE) Monitoring App addresses inconsistent mobile network performance in Cameroon. It enables subscribers to monitor network metrics, submit feedback, and receive alerts, while providing operators and regulators with actionable data.</a:t>
            </a:r>
            <a:endParaRPr lang="en-US" sz="1450" dirty="0"/>
          </a:p>
        </p:txBody>
      </p:sp>
    </p:spTree>
    <p:extLst>
      <p:ext uri="{BB962C8B-B14F-4D97-AF65-F5344CB8AC3E}">
        <p14:creationId xmlns:p14="http://schemas.microsoft.com/office/powerpoint/2010/main" val="187218235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758FAB-A921-BF7D-FC07-8E92A6A72CE2}"/>
              </a:ext>
            </a:extLst>
          </p:cNvPr>
          <p:cNvSpPr/>
          <p:nvPr/>
        </p:nvSpPr>
        <p:spPr>
          <a:xfrm>
            <a:off x="645319" y="676751"/>
            <a:ext cx="7081957" cy="53066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150"/>
              </a:lnSpc>
              <a:buNone/>
            </a:pPr>
            <a:r>
              <a:rPr lang="en-US" sz="3300" b="1" dirty="0">
                <a:solidFill>
                  <a:srgbClr val="7068F4"/>
                </a:solidFill>
                <a:latin typeface="Barlow Bold" pitchFamily="34" charset="0"/>
                <a:ea typeface="Barlow Bold" pitchFamily="34" charset="-122"/>
                <a:cs typeface="Barlow Bold" pitchFamily="34" charset="-120"/>
              </a:rPr>
              <a:t>Methodology: A Systematic Approach</a:t>
            </a:r>
            <a:endParaRPr lang="en-US" sz="3300" dirty="0"/>
          </a:p>
        </p:txBody>
      </p:sp>
      <p:sp>
        <p:nvSpPr>
          <p:cNvPr id="3" name="Shape 1">
            <a:extLst>
              <a:ext uri="{FF2B5EF4-FFF2-40B4-BE49-F238E27FC236}">
                <a16:creationId xmlns:a16="http://schemas.microsoft.com/office/drawing/2014/main" id="{0CBBFF53-97F8-378F-F1F6-AEFE6F02DE64}"/>
              </a:ext>
            </a:extLst>
          </p:cNvPr>
          <p:cNvSpPr/>
          <p:nvPr/>
        </p:nvSpPr>
        <p:spPr>
          <a:xfrm>
            <a:off x="645319" y="1530072"/>
            <a:ext cx="161330" cy="1200983"/>
          </a:xfrm>
          <a:prstGeom prst="roundRect">
            <a:avLst>
              <a:gd name="adj" fmla="val 90008"/>
            </a:avLst>
          </a:prstGeom>
          <a:solidFill>
            <a:srgbClr val="EEEFF5"/>
          </a:solidFill>
          <a:ln/>
          <a:effectLst>
            <a:outerShdw blurRad="39370" dist="19050" dir="13500000" algn="bl" rotWithShape="0">
              <a:srgbClr val="FFFFFF">
                <a:alpha val="70000"/>
              </a:srgbClr>
            </a:outerShdw>
          </a:effectLst>
        </p:spPr>
        <p:txBody>
          <a:bodyPr/>
          <a:lstStyle/>
          <a:p>
            <a:endParaRPr lang="en-US"/>
          </a:p>
        </p:txBody>
      </p:sp>
      <p:sp>
        <p:nvSpPr>
          <p:cNvPr id="4" name="Text 2">
            <a:extLst>
              <a:ext uri="{FF2B5EF4-FFF2-40B4-BE49-F238E27FC236}">
                <a16:creationId xmlns:a16="http://schemas.microsoft.com/office/drawing/2014/main" id="{C15CDF33-9F97-260F-3A05-30B71084711B}"/>
              </a:ext>
            </a:extLst>
          </p:cNvPr>
          <p:cNvSpPr/>
          <p:nvPr/>
        </p:nvSpPr>
        <p:spPr>
          <a:xfrm>
            <a:off x="967978" y="1691402"/>
            <a:ext cx="2497217" cy="26527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50"/>
              </a:lnSpc>
              <a:buNone/>
            </a:pPr>
            <a:r>
              <a:rPr lang="en-US" sz="1650" b="1" dirty="0">
                <a:solidFill>
                  <a:srgbClr val="272525"/>
                </a:solidFill>
                <a:latin typeface="Barlow Bold" pitchFamily="34" charset="0"/>
                <a:ea typeface="Barlow Bold" pitchFamily="34" charset="-122"/>
                <a:cs typeface="Barlow Bold" pitchFamily="34" charset="-120"/>
              </a:rPr>
              <a:t>Requirements Engineering</a:t>
            </a:r>
            <a:endParaRPr lang="en-US" sz="1650" dirty="0"/>
          </a:p>
        </p:txBody>
      </p:sp>
      <p:sp>
        <p:nvSpPr>
          <p:cNvPr id="5" name="Text 3">
            <a:extLst>
              <a:ext uri="{FF2B5EF4-FFF2-40B4-BE49-F238E27FC236}">
                <a16:creationId xmlns:a16="http://schemas.microsoft.com/office/drawing/2014/main" id="{F06D09FF-947D-E87C-7ED3-A7FB86435AE8}"/>
              </a:ext>
            </a:extLst>
          </p:cNvPr>
          <p:cNvSpPr/>
          <p:nvPr/>
        </p:nvSpPr>
        <p:spPr>
          <a:xfrm>
            <a:off x="967978" y="2053471"/>
            <a:ext cx="13017103" cy="51625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Gathered needs through surveys (50 mobile subscribers) and interviews (MTN staff), identifying key QoE metrics and user concerns like battery efficiency and data privacy.</a:t>
            </a:r>
            <a:endParaRPr lang="en-US" sz="1250" dirty="0"/>
          </a:p>
        </p:txBody>
      </p:sp>
      <p:sp>
        <p:nvSpPr>
          <p:cNvPr id="6" name="Shape 4">
            <a:extLst>
              <a:ext uri="{FF2B5EF4-FFF2-40B4-BE49-F238E27FC236}">
                <a16:creationId xmlns:a16="http://schemas.microsoft.com/office/drawing/2014/main" id="{A572122B-07D1-23FD-D23F-C41377191020}"/>
              </a:ext>
            </a:extLst>
          </p:cNvPr>
          <p:cNvSpPr/>
          <p:nvPr/>
        </p:nvSpPr>
        <p:spPr>
          <a:xfrm>
            <a:off x="887254" y="2852023"/>
            <a:ext cx="161330" cy="1200983"/>
          </a:xfrm>
          <a:prstGeom prst="roundRect">
            <a:avLst>
              <a:gd name="adj" fmla="val 90008"/>
            </a:avLst>
          </a:prstGeom>
          <a:solidFill>
            <a:srgbClr val="EEEFF5"/>
          </a:solidFill>
          <a:ln/>
          <a:effectLst>
            <a:outerShdw blurRad="39370" dist="19050" dir="13500000" algn="bl" rotWithShape="0">
              <a:srgbClr val="FFFFFF">
                <a:alpha val="70000"/>
              </a:srgbClr>
            </a:outerShdw>
          </a:effectLst>
        </p:spPr>
        <p:txBody>
          <a:bodyPr/>
          <a:lstStyle/>
          <a:p>
            <a:endParaRPr lang="en-US"/>
          </a:p>
        </p:txBody>
      </p:sp>
      <p:sp>
        <p:nvSpPr>
          <p:cNvPr id="7" name="Text 5">
            <a:extLst>
              <a:ext uri="{FF2B5EF4-FFF2-40B4-BE49-F238E27FC236}">
                <a16:creationId xmlns:a16="http://schemas.microsoft.com/office/drawing/2014/main" id="{FC5F6B43-C2EE-A189-4611-85AF64AD1455}"/>
              </a:ext>
            </a:extLst>
          </p:cNvPr>
          <p:cNvSpPr/>
          <p:nvPr/>
        </p:nvSpPr>
        <p:spPr>
          <a:xfrm>
            <a:off x="1209913" y="3013353"/>
            <a:ext cx="2122884" cy="26527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50"/>
              </a:lnSpc>
              <a:buNone/>
            </a:pPr>
            <a:r>
              <a:rPr lang="en-US" sz="1650" b="1" dirty="0">
                <a:solidFill>
                  <a:srgbClr val="272525"/>
                </a:solidFill>
                <a:latin typeface="Barlow Bold" pitchFamily="34" charset="0"/>
                <a:ea typeface="Barlow Bold" pitchFamily="34" charset="-122"/>
                <a:cs typeface="Barlow Bold" pitchFamily="34" charset="-120"/>
              </a:rPr>
              <a:t>System Design</a:t>
            </a:r>
            <a:endParaRPr lang="en-US" sz="1650" dirty="0"/>
          </a:p>
        </p:txBody>
      </p:sp>
      <p:sp>
        <p:nvSpPr>
          <p:cNvPr id="8" name="Text 6">
            <a:extLst>
              <a:ext uri="{FF2B5EF4-FFF2-40B4-BE49-F238E27FC236}">
                <a16:creationId xmlns:a16="http://schemas.microsoft.com/office/drawing/2014/main" id="{BCFA210D-BE21-235D-F933-90F26C6F3FB7}"/>
              </a:ext>
            </a:extLst>
          </p:cNvPr>
          <p:cNvSpPr/>
          <p:nvPr/>
        </p:nvSpPr>
        <p:spPr>
          <a:xfrm>
            <a:off x="1209913" y="3375422"/>
            <a:ext cx="12775168" cy="51625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250" dirty="0">
                <a:solidFill>
                  <a:srgbClr val="272525"/>
                </a:solidFill>
                <a:latin typeface="Montserrat" pitchFamily="34" charset="0"/>
                <a:ea typeface="Montserrat" pitchFamily="34" charset="-122"/>
                <a:cs typeface="Montserrat" pitchFamily="34" charset="-120"/>
              </a:rPr>
              <a:t>Created system models (UML diagrams such as class, use case , sequence , context , ER , deployment) to define the app's architecture, including frontend, backend, and database components, ensuring a user-centric and scalable design.</a:t>
            </a:r>
            <a:endParaRPr lang="en-US" sz="1250" dirty="0"/>
          </a:p>
        </p:txBody>
      </p:sp>
      <p:sp>
        <p:nvSpPr>
          <p:cNvPr id="9" name="Shape 7">
            <a:extLst>
              <a:ext uri="{FF2B5EF4-FFF2-40B4-BE49-F238E27FC236}">
                <a16:creationId xmlns:a16="http://schemas.microsoft.com/office/drawing/2014/main" id="{3479A199-DA41-B8BD-81C9-3A645BE484E9}"/>
              </a:ext>
            </a:extLst>
          </p:cNvPr>
          <p:cNvSpPr/>
          <p:nvPr/>
        </p:nvSpPr>
        <p:spPr>
          <a:xfrm>
            <a:off x="1129308" y="4173974"/>
            <a:ext cx="161330" cy="967978"/>
          </a:xfrm>
          <a:prstGeom prst="roundRect">
            <a:avLst>
              <a:gd name="adj" fmla="val 90008"/>
            </a:avLst>
          </a:prstGeom>
          <a:solidFill>
            <a:srgbClr val="EEEFF5"/>
          </a:solidFill>
          <a:ln/>
          <a:effectLst>
            <a:outerShdw blurRad="39370" dist="19050" dir="13500000" algn="bl" rotWithShape="0">
              <a:srgbClr val="FFFFFF">
                <a:alpha val="70000"/>
              </a:srgbClr>
            </a:outerShdw>
          </a:effectLst>
        </p:spPr>
        <p:txBody>
          <a:bodyPr/>
          <a:lstStyle/>
          <a:p>
            <a:endParaRPr lang="en-US"/>
          </a:p>
        </p:txBody>
      </p:sp>
      <p:sp>
        <p:nvSpPr>
          <p:cNvPr id="10" name="Text 8">
            <a:extLst>
              <a:ext uri="{FF2B5EF4-FFF2-40B4-BE49-F238E27FC236}">
                <a16:creationId xmlns:a16="http://schemas.microsoft.com/office/drawing/2014/main" id="{60381236-1F72-ECC0-700A-75A587EB1B52}"/>
              </a:ext>
            </a:extLst>
          </p:cNvPr>
          <p:cNvSpPr/>
          <p:nvPr/>
        </p:nvSpPr>
        <p:spPr>
          <a:xfrm>
            <a:off x="1451967" y="4335304"/>
            <a:ext cx="2122884" cy="26527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50"/>
              </a:lnSpc>
              <a:buNone/>
            </a:pPr>
            <a:r>
              <a:rPr lang="en-US" sz="1650" b="1" dirty="0">
                <a:solidFill>
                  <a:srgbClr val="272525"/>
                </a:solidFill>
                <a:latin typeface="Barlow Bold" pitchFamily="34" charset="0"/>
                <a:ea typeface="Barlow Bold" pitchFamily="34" charset="-122"/>
                <a:cs typeface="Barlow Bold" pitchFamily="34" charset="-120"/>
              </a:rPr>
              <a:t>Implementation</a:t>
            </a:r>
            <a:endParaRPr lang="en-US" sz="1650" dirty="0"/>
          </a:p>
        </p:txBody>
      </p:sp>
      <p:sp>
        <p:nvSpPr>
          <p:cNvPr id="11" name="Text 9">
            <a:extLst>
              <a:ext uri="{FF2B5EF4-FFF2-40B4-BE49-F238E27FC236}">
                <a16:creationId xmlns:a16="http://schemas.microsoft.com/office/drawing/2014/main" id="{ED25811C-A5CA-1819-1111-B1340B4CA04A}"/>
              </a:ext>
            </a:extLst>
          </p:cNvPr>
          <p:cNvSpPr/>
          <p:nvPr/>
        </p:nvSpPr>
        <p:spPr>
          <a:xfrm>
            <a:off x="1451967" y="4697373"/>
            <a:ext cx="12533114" cy="2581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Developed the Android application using React Native for the frontend, Node.js/Express for backend APIs, and MongoDB Atlas for scalable data storage.</a:t>
            </a:r>
            <a:endParaRPr lang="en-US" sz="1250" dirty="0"/>
          </a:p>
        </p:txBody>
      </p:sp>
      <p:sp>
        <p:nvSpPr>
          <p:cNvPr id="12" name="Shape 10">
            <a:extLst>
              <a:ext uri="{FF2B5EF4-FFF2-40B4-BE49-F238E27FC236}">
                <a16:creationId xmlns:a16="http://schemas.microsoft.com/office/drawing/2014/main" id="{AABF40FE-40A3-2377-7698-CE40EF64C0D8}"/>
              </a:ext>
            </a:extLst>
          </p:cNvPr>
          <p:cNvSpPr/>
          <p:nvPr/>
        </p:nvSpPr>
        <p:spPr>
          <a:xfrm>
            <a:off x="1371362" y="5262920"/>
            <a:ext cx="161330" cy="1200983"/>
          </a:xfrm>
          <a:prstGeom prst="roundRect">
            <a:avLst>
              <a:gd name="adj" fmla="val 90008"/>
            </a:avLst>
          </a:prstGeom>
          <a:solidFill>
            <a:srgbClr val="EEEFF5"/>
          </a:solidFill>
          <a:ln/>
          <a:effectLst>
            <a:outerShdw blurRad="39370" dist="19050" dir="13500000" algn="bl" rotWithShape="0">
              <a:srgbClr val="FFFFFF">
                <a:alpha val="70000"/>
              </a:srgbClr>
            </a:outerShdw>
          </a:effectLst>
        </p:spPr>
        <p:txBody>
          <a:bodyPr/>
          <a:lstStyle/>
          <a:p>
            <a:endParaRPr lang="en-US"/>
          </a:p>
        </p:txBody>
      </p:sp>
      <p:sp>
        <p:nvSpPr>
          <p:cNvPr id="13" name="Text 11">
            <a:extLst>
              <a:ext uri="{FF2B5EF4-FFF2-40B4-BE49-F238E27FC236}">
                <a16:creationId xmlns:a16="http://schemas.microsoft.com/office/drawing/2014/main" id="{94B0E6AA-8805-94CF-F7E9-DE4E7CD0C2D8}"/>
              </a:ext>
            </a:extLst>
          </p:cNvPr>
          <p:cNvSpPr/>
          <p:nvPr/>
        </p:nvSpPr>
        <p:spPr>
          <a:xfrm>
            <a:off x="1694021" y="5424249"/>
            <a:ext cx="2122884" cy="26527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50"/>
              </a:lnSpc>
              <a:buNone/>
            </a:pPr>
            <a:r>
              <a:rPr lang="en-US" sz="1650" b="1" dirty="0">
                <a:solidFill>
                  <a:srgbClr val="272525"/>
                </a:solidFill>
                <a:latin typeface="Barlow Bold" pitchFamily="34" charset="0"/>
                <a:ea typeface="Barlow Bold" pitchFamily="34" charset="-122"/>
                <a:cs typeface="Barlow Bold" pitchFamily="34" charset="-120"/>
              </a:rPr>
              <a:t>Testing &amp; Validation</a:t>
            </a:r>
            <a:endParaRPr lang="en-US" sz="1650" dirty="0"/>
          </a:p>
        </p:txBody>
      </p:sp>
      <p:sp>
        <p:nvSpPr>
          <p:cNvPr id="14" name="Text 12">
            <a:extLst>
              <a:ext uri="{FF2B5EF4-FFF2-40B4-BE49-F238E27FC236}">
                <a16:creationId xmlns:a16="http://schemas.microsoft.com/office/drawing/2014/main" id="{7694AEC6-24C3-47CB-23B8-0681E98445FA}"/>
              </a:ext>
            </a:extLst>
          </p:cNvPr>
          <p:cNvSpPr/>
          <p:nvPr/>
        </p:nvSpPr>
        <p:spPr>
          <a:xfrm>
            <a:off x="1694021" y="5786318"/>
            <a:ext cx="12291060" cy="51625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Conducted usability testing with 20 users, functional tests, and performance evaluations to ensure the app met specified requirements and performed reliably.</a:t>
            </a:r>
            <a:endParaRPr lang="en-US" sz="1250" dirty="0"/>
          </a:p>
        </p:txBody>
      </p:sp>
      <p:sp>
        <p:nvSpPr>
          <p:cNvPr id="15" name="Shape 13">
            <a:extLst>
              <a:ext uri="{FF2B5EF4-FFF2-40B4-BE49-F238E27FC236}">
                <a16:creationId xmlns:a16="http://schemas.microsoft.com/office/drawing/2014/main" id="{236AD5F3-44BD-8B80-748A-96C8AB2AB3EA}"/>
              </a:ext>
            </a:extLst>
          </p:cNvPr>
          <p:cNvSpPr/>
          <p:nvPr/>
        </p:nvSpPr>
        <p:spPr>
          <a:xfrm>
            <a:off x="1129308" y="6584871"/>
            <a:ext cx="161330" cy="967978"/>
          </a:xfrm>
          <a:prstGeom prst="roundRect">
            <a:avLst>
              <a:gd name="adj" fmla="val 90008"/>
            </a:avLst>
          </a:prstGeom>
          <a:solidFill>
            <a:srgbClr val="EEEFF5"/>
          </a:solidFill>
          <a:ln/>
          <a:effectLst>
            <a:outerShdw blurRad="39370" dist="19050" dir="13500000" algn="bl" rotWithShape="0">
              <a:srgbClr val="FFFFFF">
                <a:alpha val="70000"/>
              </a:srgbClr>
            </a:outerShdw>
          </a:effectLst>
        </p:spPr>
        <p:txBody>
          <a:bodyPr/>
          <a:lstStyle/>
          <a:p>
            <a:endParaRPr lang="en-US"/>
          </a:p>
        </p:txBody>
      </p:sp>
      <p:sp>
        <p:nvSpPr>
          <p:cNvPr id="16" name="Text 14">
            <a:extLst>
              <a:ext uri="{FF2B5EF4-FFF2-40B4-BE49-F238E27FC236}">
                <a16:creationId xmlns:a16="http://schemas.microsoft.com/office/drawing/2014/main" id="{35843D71-9CD3-B9DA-7E04-E9F0BA2E5744}"/>
              </a:ext>
            </a:extLst>
          </p:cNvPr>
          <p:cNvSpPr/>
          <p:nvPr/>
        </p:nvSpPr>
        <p:spPr>
          <a:xfrm>
            <a:off x="1451967" y="6746200"/>
            <a:ext cx="2122884" cy="26527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50"/>
              </a:lnSpc>
              <a:buNone/>
            </a:pPr>
            <a:r>
              <a:rPr lang="en-US" sz="1650" b="1" dirty="0">
                <a:solidFill>
                  <a:srgbClr val="272525"/>
                </a:solidFill>
                <a:latin typeface="Barlow Bold" pitchFamily="34" charset="0"/>
                <a:ea typeface="Barlow Bold" pitchFamily="34" charset="-122"/>
                <a:cs typeface="Barlow Bold" pitchFamily="34" charset="-120"/>
              </a:rPr>
              <a:t>Evaluation</a:t>
            </a:r>
            <a:endParaRPr lang="en-US" sz="1650" dirty="0"/>
          </a:p>
        </p:txBody>
      </p:sp>
      <p:sp>
        <p:nvSpPr>
          <p:cNvPr id="17" name="Text 15">
            <a:extLst>
              <a:ext uri="{FF2B5EF4-FFF2-40B4-BE49-F238E27FC236}">
                <a16:creationId xmlns:a16="http://schemas.microsoft.com/office/drawing/2014/main" id="{6D397C63-2F1F-7F42-97D1-14D8D7D0C09E}"/>
              </a:ext>
            </a:extLst>
          </p:cNvPr>
          <p:cNvSpPr/>
          <p:nvPr/>
        </p:nvSpPr>
        <p:spPr>
          <a:xfrm>
            <a:off x="1451967" y="7108269"/>
            <a:ext cx="12533114" cy="25812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Assessed the app's effectiveness in collecting QoE data and its potential impact on network optimization through stakeholder feedback and test results.</a:t>
            </a:r>
            <a:endParaRPr lang="en-US" sz="1250" dirty="0"/>
          </a:p>
        </p:txBody>
      </p:sp>
      <p:sp>
        <p:nvSpPr>
          <p:cNvPr id="18" name="Rectangle: Rounded Corners 17">
            <a:extLst>
              <a:ext uri="{FF2B5EF4-FFF2-40B4-BE49-F238E27FC236}">
                <a16:creationId xmlns:a16="http://schemas.microsoft.com/office/drawing/2014/main" id="{5814F932-77B1-2DC9-F8BD-09CC44DB20E5}"/>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9407005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1" name="Text 0">
            <a:extLst>
              <a:ext uri="{FF2B5EF4-FFF2-40B4-BE49-F238E27FC236}">
                <a16:creationId xmlns:a16="http://schemas.microsoft.com/office/drawing/2014/main" id="{5B120BA9-8BD2-C338-E570-F08D916BDA89}"/>
              </a:ext>
            </a:extLst>
          </p:cNvPr>
          <p:cNvSpPr/>
          <p:nvPr/>
        </p:nvSpPr>
        <p:spPr>
          <a:xfrm>
            <a:off x="2407265" y="777732"/>
            <a:ext cx="9815870" cy="6235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System Architecture: Layered for Scalability</a:t>
            </a:r>
            <a:endParaRPr lang="en-US" sz="3900" dirty="0"/>
          </a:p>
        </p:txBody>
      </p:sp>
      <p:sp>
        <p:nvSpPr>
          <p:cNvPr id="32" name="Text 1">
            <a:extLst>
              <a:ext uri="{FF2B5EF4-FFF2-40B4-BE49-F238E27FC236}">
                <a16:creationId xmlns:a16="http://schemas.microsoft.com/office/drawing/2014/main" id="{7F64C3CF-648D-E7F6-4E5F-E69D2064D031}"/>
              </a:ext>
            </a:extLst>
          </p:cNvPr>
          <p:cNvSpPr/>
          <p:nvPr/>
        </p:nvSpPr>
        <p:spPr>
          <a:xfrm>
            <a:off x="754499" y="2308145"/>
            <a:ext cx="6325672"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The "Checkin" app adopts a layered architecture, aligning with Clean Architecture principles for modularity and scalability:</a:t>
            </a:r>
            <a:endParaRPr lang="en-US" sz="1450" dirty="0"/>
          </a:p>
        </p:txBody>
      </p:sp>
      <p:sp>
        <p:nvSpPr>
          <p:cNvPr id="33" name="Text 2">
            <a:extLst>
              <a:ext uri="{FF2B5EF4-FFF2-40B4-BE49-F238E27FC236}">
                <a16:creationId xmlns:a16="http://schemas.microsoft.com/office/drawing/2014/main" id="{6FF32046-0DC3-569D-3381-034BE60FEB6C}"/>
              </a:ext>
            </a:extLst>
          </p:cNvPr>
          <p:cNvSpPr/>
          <p:nvPr/>
        </p:nvSpPr>
        <p:spPr>
          <a:xfrm>
            <a:off x="754499" y="3085266"/>
            <a:ext cx="6325672" cy="90975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b="1" dirty="0">
                <a:solidFill>
                  <a:srgbClr val="272525"/>
                </a:solidFill>
                <a:latin typeface="Montserrat" pitchFamily="34" charset="0"/>
                <a:ea typeface="Montserrat" pitchFamily="34" charset="-122"/>
                <a:cs typeface="Montserrat" pitchFamily="34" charset="-120"/>
              </a:rPr>
              <a:t>Presentation Layer:</a:t>
            </a:r>
            <a:r>
              <a:rPr lang="en-US" sz="1450" dirty="0">
                <a:solidFill>
                  <a:srgbClr val="272525"/>
                </a:solidFill>
                <a:latin typeface="Montserrat" pitchFamily="34" charset="0"/>
                <a:ea typeface="Montserrat" pitchFamily="34" charset="-122"/>
                <a:cs typeface="Montserrat" pitchFamily="34" charset="-120"/>
              </a:rPr>
              <a:t> React Native and TypeScript for cross-platform UI, real-time metrics, feedback forms, and settings. Redux manages state.</a:t>
            </a:r>
            <a:endParaRPr lang="en-US" sz="1450" dirty="0"/>
          </a:p>
        </p:txBody>
      </p:sp>
      <p:sp>
        <p:nvSpPr>
          <p:cNvPr id="34" name="Text 3">
            <a:extLst>
              <a:ext uri="{FF2B5EF4-FFF2-40B4-BE49-F238E27FC236}">
                <a16:creationId xmlns:a16="http://schemas.microsoft.com/office/drawing/2014/main" id="{313254AE-6C49-742D-6C95-3588246E4019}"/>
              </a:ext>
            </a:extLst>
          </p:cNvPr>
          <p:cNvSpPr/>
          <p:nvPr/>
        </p:nvSpPr>
        <p:spPr>
          <a:xfrm>
            <a:off x="754499" y="4061340"/>
            <a:ext cx="6325672"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b="1" dirty="0">
                <a:solidFill>
                  <a:srgbClr val="272525"/>
                </a:solidFill>
                <a:latin typeface="Montserrat" pitchFamily="34" charset="0"/>
                <a:ea typeface="Montserrat" pitchFamily="34" charset="-122"/>
                <a:cs typeface="Montserrat" pitchFamily="34" charset="-120"/>
              </a:rPr>
              <a:t>Business Layer:</a:t>
            </a:r>
            <a:r>
              <a:rPr lang="en-US" sz="1450" dirty="0">
                <a:solidFill>
                  <a:srgbClr val="272525"/>
                </a:solidFill>
                <a:latin typeface="Montserrat" pitchFamily="34" charset="0"/>
                <a:ea typeface="Montserrat" pitchFamily="34" charset="-122"/>
                <a:cs typeface="Montserrat" pitchFamily="34" charset="-120"/>
              </a:rPr>
              <a:t> Node.js with Express for API services, handling data processing and feedback management.</a:t>
            </a:r>
            <a:endParaRPr lang="en-US" sz="1450" dirty="0"/>
          </a:p>
        </p:txBody>
      </p:sp>
      <p:sp>
        <p:nvSpPr>
          <p:cNvPr id="35" name="Text 4">
            <a:extLst>
              <a:ext uri="{FF2B5EF4-FFF2-40B4-BE49-F238E27FC236}">
                <a16:creationId xmlns:a16="http://schemas.microsoft.com/office/drawing/2014/main" id="{3FAD4CBB-D6EC-04F7-5085-405EFBD80521}"/>
              </a:ext>
            </a:extLst>
          </p:cNvPr>
          <p:cNvSpPr/>
          <p:nvPr/>
        </p:nvSpPr>
        <p:spPr>
          <a:xfrm>
            <a:off x="754499" y="4734162"/>
            <a:ext cx="6325672" cy="90975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b="1" dirty="0">
                <a:solidFill>
                  <a:srgbClr val="272525"/>
                </a:solidFill>
                <a:latin typeface="Montserrat" pitchFamily="34" charset="0"/>
                <a:ea typeface="Montserrat" pitchFamily="34" charset="-122"/>
                <a:cs typeface="Montserrat" pitchFamily="34" charset="-120"/>
              </a:rPr>
              <a:t>Data Layer:</a:t>
            </a:r>
            <a:r>
              <a:rPr lang="en-US" sz="1450" dirty="0">
                <a:solidFill>
                  <a:srgbClr val="272525"/>
                </a:solidFill>
                <a:latin typeface="Montserrat" pitchFamily="34" charset="0"/>
                <a:ea typeface="Montserrat" pitchFamily="34" charset="-122"/>
                <a:cs typeface="Montserrat" pitchFamily="34" charset="-120"/>
              </a:rPr>
              <a:t> MongoDB Atlas for scalable, encrypted storage of network metrics, user feedback, and preferences (AES-256 encryption).</a:t>
            </a:r>
            <a:endParaRPr lang="en-US" sz="1450" dirty="0"/>
          </a:p>
        </p:txBody>
      </p:sp>
      <p:sp>
        <p:nvSpPr>
          <p:cNvPr id="36" name="Text 5">
            <a:extLst>
              <a:ext uri="{FF2B5EF4-FFF2-40B4-BE49-F238E27FC236}">
                <a16:creationId xmlns:a16="http://schemas.microsoft.com/office/drawing/2014/main" id="{ACE95353-0570-F85A-B721-20A4FFF5BD95}"/>
              </a:ext>
            </a:extLst>
          </p:cNvPr>
          <p:cNvSpPr/>
          <p:nvPr/>
        </p:nvSpPr>
        <p:spPr>
          <a:xfrm>
            <a:off x="754499" y="5710237"/>
            <a:ext cx="6325672"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350"/>
              </a:lnSpc>
              <a:buSzPct val="100000"/>
              <a:buChar char="•"/>
            </a:pPr>
            <a:r>
              <a:rPr lang="en-US" sz="1450" b="1" dirty="0">
                <a:solidFill>
                  <a:srgbClr val="272525"/>
                </a:solidFill>
                <a:latin typeface="Montserrat" pitchFamily="34" charset="0"/>
                <a:ea typeface="Montserrat" pitchFamily="34" charset="-122"/>
                <a:cs typeface="Montserrat" pitchFamily="34" charset="-120"/>
              </a:rPr>
              <a:t>Native Bridge Layer:</a:t>
            </a:r>
            <a:r>
              <a:rPr lang="en-US" sz="1450" dirty="0">
                <a:solidFill>
                  <a:srgbClr val="272525"/>
                </a:solidFill>
                <a:latin typeface="Montserrat" pitchFamily="34" charset="0"/>
                <a:ea typeface="Montserrat" pitchFamily="34" charset="-122"/>
                <a:cs typeface="Montserrat" pitchFamily="34" charset="-120"/>
              </a:rPr>
              <a:t> Accesses device APIs (OS Network API, geolocation) via React Native plugins for efficient monitoring.</a:t>
            </a:r>
            <a:endParaRPr lang="en-US" sz="1450" dirty="0"/>
          </a:p>
        </p:txBody>
      </p:sp>
      <p:pic>
        <p:nvPicPr>
          <p:cNvPr id="37" name="Image 0">
            <a:extLst>
              <a:ext uri="{FF2B5EF4-FFF2-40B4-BE49-F238E27FC236}">
                <a16:creationId xmlns:a16="http://schemas.microsoft.com/office/drawing/2014/main" id="{4FD1CC4C-6B9F-1DD0-E130-3C1E83F3D288}"/>
              </a:ext>
            </a:extLst>
          </p:cNvPr>
          <p:cNvPicPr>
            <a:picLocks noChangeAspect="1"/>
          </p:cNvPicPr>
          <p:nvPr/>
        </p:nvPicPr>
        <p:blipFill>
          <a:blip r:embed="rId3"/>
          <a:stretch>
            <a:fillRect/>
          </a:stretch>
        </p:blipFill>
        <p:spPr>
          <a:xfrm>
            <a:off x="7332341" y="2308145"/>
            <a:ext cx="7298059" cy="5921455"/>
          </a:xfrm>
          <a:prstGeom prst="rect">
            <a:avLst/>
          </a:prstGeom>
        </p:spPr>
      </p:pic>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019D1-52FD-46EE-FDF4-6B0B2467D3EF}"/>
            </a:ext>
          </a:extLst>
        </p:cNvPr>
        <p:cNvGrpSpPr/>
        <p:nvPr/>
      </p:nvGrpSpPr>
      <p:grpSpPr>
        <a:xfrm>
          <a:off x="0" y="0"/>
          <a:ext cx="0" cy="0"/>
          <a:chOff x="0" y="0"/>
          <a:chExt cx="0" cy="0"/>
        </a:xfrm>
      </p:grpSpPr>
      <p:sp>
        <p:nvSpPr>
          <p:cNvPr id="24" name="Text 0">
            <a:extLst>
              <a:ext uri="{FF2B5EF4-FFF2-40B4-BE49-F238E27FC236}">
                <a16:creationId xmlns:a16="http://schemas.microsoft.com/office/drawing/2014/main" id="{FEEEA3E8-CE30-61ED-F6F6-DD9658364A07}"/>
              </a:ext>
            </a:extLst>
          </p:cNvPr>
          <p:cNvSpPr/>
          <p:nvPr/>
        </p:nvSpPr>
        <p:spPr>
          <a:xfrm>
            <a:off x="758309" y="525542"/>
            <a:ext cx="10499765" cy="6235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Key Features: Empowering Users and Operators</a:t>
            </a:r>
            <a:endParaRPr lang="en-US" sz="3900" dirty="0"/>
          </a:p>
        </p:txBody>
      </p:sp>
      <p:pic>
        <p:nvPicPr>
          <p:cNvPr id="25" name="Image 0">
            <a:extLst>
              <a:ext uri="{FF2B5EF4-FFF2-40B4-BE49-F238E27FC236}">
                <a16:creationId xmlns:a16="http://schemas.microsoft.com/office/drawing/2014/main" id="{255E7DB1-9EF8-D81B-C944-50A379CEBF7E}"/>
              </a:ext>
            </a:extLst>
          </p:cNvPr>
          <p:cNvPicPr>
            <a:picLocks noChangeAspect="1"/>
          </p:cNvPicPr>
          <p:nvPr/>
        </p:nvPicPr>
        <p:blipFill>
          <a:blip r:embed="rId3"/>
          <a:stretch>
            <a:fillRect/>
          </a:stretch>
        </p:blipFill>
        <p:spPr>
          <a:xfrm>
            <a:off x="758309" y="1528167"/>
            <a:ext cx="473869" cy="473869"/>
          </a:xfrm>
          <a:prstGeom prst="rect">
            <a:avLst/>
          </a:prstGeom>
        </p:spPr>
      </p:pic>
      <p:sp>
        <p:nvSpPr>
          <p:cNvPr id="26" name="Text 1">
            <a:extLst>
              <a:ext uri="{FF2B5EF4-FFF2-40B4-BE49-F238E27FC236}">
                <a16:creationId xmlns:a16="http://schemas.microsoft.com/office/drawing/2014/main" id="{53FA1AB7-AD98-02B0-C876-F00C2F27E5DD}"/>
              </a:ext>
            </a:extLst>
          </p:cNvPr>
          <p:cNvSpPr/>
          <p:nvPr/>
        </p:nvSpPr>
        <p:spPr>
          <a:xfrm>
            <a:off x="758309" y="2238970"/>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Real-time Monitoring</a:t>
            </a:r>
            <a:endParaRPr lang="en-US" sz="1950" dirty="0"/>
          </a:p>
        </p:txBody>
      </p:sp>
      <p:sp>
        <p:nvSpPr>
          <p:cNvPr id="27" name="Text 2">
            <a:extLst>
              <a:ext uri="{FF2B5EF4-FFF2-40B4-BE49-F238E27FC236}">
                <a16:creationId xmlns:a16="http://schemas.microsoft.com/office/drawing/2014/main" id="{319327CE-63FF-239C-C448-AF43B33B1F61}"/>
              </a:ext>
            </a:extLst>
          </p:cNvPr>
          <p:cNvSpPr/>
          <p:nvPr/>
        </p:nvSpPr>
        <p:spPr>
          <a:xfrm>
            <a:off x="758309" y="2664381"/>
            <a:ext cx="6438424"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Displays internet speed (upload/download), latency, and signal strength in real-time.</a:t>
            </a:r>
            <a:endParaRPr lang="en-US" sz="1450" dirty="0"/>
          </a:p>
        </p:txBody>
      </p:sp>
      <p:pic>
        <p:nvPicPr>
          <p:cNvPr id="28" name="Image 1">
            <a:extLst>
              <a:ext uri="{FF2B5EF4-FFF2-40B4-BE49-F238E27FC236}">
                <a16:creationId xmlns:a16="http://schemas.microsoft.com/office/drawing/2014/main" id="{50C3B07B-5A11-7A0A-7E53-D23F206E5299}"/>
              </a:ext>
            </a:extLst>
          </p:cNvPr>
          <p:cNvPicPr>
            <a:picLocks noChangeAspect="1"/>
          </p:cNvPicPr>
          <p:nvPr/>
        </p:nvPicPr>
        <p:blipFill>
          <a:blip r:embed="rId4"/>
          <a:stretch>
            <a:fillRect/>
          </a:stretch>
        </p:blipFill>
        <p:spPr>
          <a:xfrm>
            <a:off x="7433667" y="1528167"/>
            <a:ext cx="473869" cy="473869"/>
          </a:xfrm>
          <a:prstGeom prst="rect">
            <a:avLst/>
          </a:prstGeom>
        </p:spPr>
      </p:pic>
      <p:sp>
        <p:nvSpPr>
          <p:cNvPr id="29" name="Text 3">
            <a:extLst>
              <a:ext uri="{FF2B5EF4-FFF2-40B4-BE49-F238E27FC236}">
                <a16:creationId xmlns:a16="http://schemas.microsoft.com/office/drawing/2014/main" id="{A3C89E6C-8339-3940-95C3-6E14AEE970DA}"/>
              </a:ext>
            </a:extLst>
          </p:cNvPr>
          <p:cNvSpPr/>
          <p:nvPr/>
        </p:nvSpPr>
        <p:spPr>
          <a:xfrm>
            <a:off x="7433667" y="2238970"/>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Feedback Submission</a:t>
            </a:r>
            <a:endParaRPr lang="en-US" sz="1950" dirty="0"/>
          </a:p>
        </p:txBody>
      </p:sp>
      <p:sp>
        <p:nvSpPr>
          <p:cNvPr id="30" name="Text 4">
            <a:extLst>
              <a:ext uri="{FF2B5EF4-FFF2-40B4-BE49-F238E27FC236}">
                <a16:creationId xmlns:a16="http://schemas.microsoft.com/office/drawing/2014/main" id="{461ABFAB-04BC-2671-0FE6-EC5C5148CE25}"/>
              </a:ext>
            </a:extLst>
          </p:cNvPr>
          <p:cNvSpPr/>
          <p:nvPr/>
        </p:nvSpPr>
        <p:spPr>
          <a:xfrm>
            <a:off x="7433667" y="2664381"/>
            <a:ext cx="6438424"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Allows users to manually submit feedback with optional geolocation tagging and screenshot uploads.</a:t>
            </a:r>
            <a:endParaRPr lang="en-US" sz="1450" dirty="0"/>
          </a:p>
        </p:txBody>
      </p:sp>
      <p:pic>
        <p:nvPicPr>
          <p:cNvPr id="31" name="Image 2">
            <a:extLst>
              <a:ext uri="{FF2B5EF4-FFF2-40B4-BE49-F238E27FC236}">
                <a16:creationId xmlns:a16="http://schemas.microsoft.com/office/drawing/2014/main" id="{DE22C5ED-23D6-DE87-3756-CDA734747660}"/>
              </a:ext>
            </a:extLst>
          </p:cNvPr>
          <p:cNvPicPr>
            <a:picLocks noChangeAspect="1"/>
          </p:cNvPicPr>
          <p:nvPr/>
        </p:nvPicPr>
        <p:blipFill>
          <a:blip r:embed="rId5"/>
          <a:stretch>
            <a:fillRect/>
          </a:stretch>
        </p:blipFill>
        <p:spPr>
          <a:xfrm>
            <a:off x="758309" y="3744754"/>
            <a:ext cx="473869" cy="473869"/>
          </a:xfrm>
          <a:prstGeom prst="rect">
            <a:avLst/>
          </a:prstGeom>
        </p:spPr>
      </p:pic>
      <p:sp>
        <p:nvSpPr>
          <p:cNvPr id="32" name="Text 5">
            <a:extLst>
              <a:ext uri="{FF2B5EF4-FFF2-40B4-BE49-F238E27FC236}">
                <a16:creationId xmlns:a16="http://schemas.microsoft.com/office/drawing/2014/main" id="{46BA271E-E6A8-3A45-CBCA-9AE9B7356CC6}"/>
              </a:ext>
            </a:extLst>
          </p:cNvPr>
          <p:cNvSpPr/>
          <p:nvPr/>
        </p:nvSpPr>
        <p:spPr>
          <a:xfrm>
            <a:off x="758309" y="4455557"/>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Network Alerts</a:t>
            </a:r>
            <a:endParaRPr lang="en-US" sz="1950" dirty="0"/>
          </a:p>
        </p:txBody>
      </p:sp>
      <p:sp>
        <p:nvSpPr>
          <p:cNvPr id="33" name="Text 6">
            <a:extLst>
              <a:ext uri="{FF2B5EF4-FFF2-40B4-BE49-F238E27FC236}">
                <a16:creationId xmlns:a16="http://schemas.microsoft.com/office/drawing/2014/main" id="{50A7D155-A1DE-8902-F5CB-7D74C91D8C83}"/>
              </a:ext>
            </a:extLst>
          </p:cNvPr>
          <p:cNvSpPr/>
          <p:nvPr/>
        </p:nvSpPr>
        <p:spPr>
          <a:xfrm>
            <a:off x="758309" y="4880967"/>
            <a:ext cx="6438424"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Notifies users of network drops or outages, enhancing awareness.</a:t>
            </a:r>
            <a:endParaRPr lang="en-US" sz="1450" dirty="0"/>
          </a:p>
        </p:txBody>
      </p:sp>
      <p:pic>
        <p:nvPicPr>
          <p:cNvPr id="34" name="Image 3">
            <a:extLst>
              <a:ext uri="{FF2B5EF4-FFF2-40B4-BE49-F238E27FC236}">
                <a16:creationId xmlns:a16="http://schemas.microsoft.com/office/drawing/2014/main" id="{E5DC31D9-E3FC-DFE2-72AF-0CD849CDB3AF}"/>
              </a:ext>
            </a:extLst>
          </p:cNvPr>
          <p:cNvPicPr>
            <a:picLocks noChangeAspect="1"/>
          </p:cNvPicPr>
          <p:nvPr/>
        </p:nvPicPr>
        <p:blipFill>
          <a:blip r:embed="rId6"/>
          <a:stretch>
            <a:fillRect/>
          </a:stretch>
        </p:blipFill>
        <p:spPr>
          <a:xfrm>
            <a:off x="7433667" y="3744754"/>
            <a:ext cx="473869" cy="473869"/>
          </a:xfrm>
          <a:prstGeom prst="rect">
            <a:avLst/>
          </a:prstGeom>
        </p:spPr>
      </p:pic>
      <p:sp>
        <p:nvSpPr>
          <p:cNvPr id="35" name="Text 7">
            <a:extLst>
              <a:ext uri="{FF2B5EF4-FFF2-40B4-BE49-F238E27FC236}">
                <a16:creationId xmlns:a16="http://schemas.microsoft.com/office/drawing/2014/main" id="{45A91143-1A16-158A-88EE-31C01A6B08D0}"/>
              </a:ext>
            </a:extLst>
          </p:cNvPr>
          <p:cNvSpPr/>
          <p:nvPr/>
        </p:nvSpPr>
        <p:spPr>
          <a:xfrm>
            <a:off x="7433667" y="4455557"/>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Privacy Controls</a:t>
            </a:r>
            <a:endParaRPr lang="en-US" sz="1950" dirty="0"/>
          </a:p>
        </p:txBody>
      </p:sp>
      <p:sp>
        <p:nvSpPr>
          <p:cNvPr id="36" name="Text 8">
            <a:extLst>
              <a:ext uri="{FF2B5EF4-FFF2-40B4-BE49-F238E27FC236}">
                <a16:creationId xmlns:a16="http://schemas.microsoft.com/office/drawing/2014/main" id="{F98855FC-4308-F948-3CF5-DBD94F915469}"/>
              </a:ext>
            </a:extLst>
          </p:cNvPr>
          <p:cNvSpPr/>
          <p:nvPr/>
        </p:nvSpPr>
        <p:spPr>
          <a:xfrm>
            <a:off x="7433667" y="4880967"/>
            <a:ext cx="6438424"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Enables users to manage data sharing preferences and ensures end-to-end encryption.</a:t>
            </a:r>
            <a:endParaRPr lang="en-US" sz="1450" dirty="0"/>
          </a:p>
        </p:txBody>
      </p:sp>
      <p:pic>
        <p:nvPicPr>
          <p:cNvPr id="37" name="Image 4">
            <a:extLst>
              <a:ext uri="{FF2B5EF4-FFF2-40B4-BE49-F238E27FC236}">
                <a16:creationId xmlns:a16="http://schemas.microsoft.com/office/drawing/2014/main" id="{BE304B85-9500-5D92-6F07-DDF6016255BC}"/>
              </a:ext>
            </a:extLst>
          </p:cNvPr>
          <p:cNvPicPr>
            <a:picLocks noChangeAspect="1"/>
          </p:cNvPicPr>
          <p:nvPr/>
        </p:nvPicPr>
        <p:blipFill>
          <a:blip r:embed="rId7"/>
          <a:stretch>
            <a:fillRect/>
          </a:stretch>
        </p:blipFill>
        <p:spPr>
          <a:xfrm>
            <a:off x="758309" y="5961340"/>
            <a:ext cx="473869" cy="473869"/>
          </a:xfrm>
          <a:prstGeom prst="rect">
            <a:avLst/>
          </a:prstGeom>
        </p:spPr>
      </p:pic>
      <p:sp>
        <p:nvSpPr>
          <p:cNvPr id="38" name="Text 9">
            <a:extLst>
              <a:ext uri="{FF2B5EF4-FFF2-40B4-BE49-F238E27FC236}">
                <a16:creationId xmlns:a16="http://schemas.microsoft.com/office/drawing/2014/main" id="{66FB62EE-6982-7B27-3845-C5064D9CE52B}"/>
              </a:ext>
            </a:extLst>
          </p:cNvPr>
          <p:cNvSpPr/>
          <p:nvPr/>
        </p:nvSpPr>
        <p:spPr>
          <a:xfrm>
            <a:off x="758309" y="6672143"/>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Multilingual Interface</a:t>
            </a:r>
            <a:endParaRPr lang="en-US" sz="1950" dirty="0"/>
          </a:p>
        </p:txBody>
      </p:sp>
      <p:sp>
        <p:nvSpPr>
          <p:cNvPr id="39" name="Text 10">
            <a:extLst>
              <a:ext uri="{FF2B5EF4-FFF2-40B4-BE49-F238E27FC236}">
                <a16:creationId xmlns:a16="http://schemas.microsoft.com/office/drawing/2014/main" id="{79B383D7-D5D3-7B85-4B02-37D511D77237}"/>
              </a:ext>
            </a:extLst>
          </p:cNvPr>
          <p:cNvSpPr/>
          <p:nvPr/>
        </p:nvSpPr>
        <p:spPr>
          <a:xfrm>
            <a:off x="758309" y="7097554"/>
            <a:ext cx="6438424"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Supports both English and French languages for broader accessibility.</a:t>
            </a:r>
            <a:endParaRPr lang="en-US" sz="1450" dirty="0"/>
          </a:p>
        </p:txBody>
      </p:sp>
      <p:pic>
        <p:nvPicPr>
          <p:cNvPr id="40" name="Image 5">
            <a:extLst>
              <a:ext uri="{FF2B5EF4-FFF2-40B4-BE49-F238E27FC236}">
                <a16:creationId xmlns:a16="http://schemas.microsoft.com/office/drawing/2014/main" id="{2294F816-B917-4F2A-3C2C-9A167D7FF02B}"/>
              </a:ext>
            </a:extLst>
          </p:cNvPr>
          <p:cNvPicPr>
            <a:picLocks noChangeAspect="1"/>
          </p:cNvPicPr>
          <p:nvPr/>
        </p:nvPicPr>
        <p:blipFill>
          <a:blip r:embed="rId8"/>
          <a:stretch>
            <a:fillRect/>
          </a:stretch>
        </p:blipFill>
        <p:spPr>
          <a:xfrm>
            <a:off x="7433667" y="5961340"/>
            <a:ext cx="473869" cy="473869"/>
          </a:xfrm>
          <a:prstGeom prst="rect">
            <a:avLst/>
          </a:prstGeom>
        </p:spPr>
      </p:pic>
      <p:sp>
        <p:nvSpPr>
          <p:cNvPr id="41" name="Text 11">
            <a:extLst>
              <a:ext uri="{FF2B5EF4-FFF2-40B4-BE49-F238E27FC236}">
                <a16:creationId xmlns:a16="http://schemas.microsoft.com/office/drawing/2014/main" id="{2EBF0493-BD66-A8C5-BA58-801E9CA64C65}"/>
              </a:ext>
            </a:extLst>
          </p:cNvPr>
          <p:cNvSpPr/>
          <p:nvPr/>
        </p:nvSpPr>
        <p:spPr>
          <a:xfrm>
            <a:off x="7433667" y="6672143"/>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QoE Analytics</a:t>
            </a:r>
            <a:endParaRPr lang="en-US" sz="1950" dirty="0"/>
          </a:p>
        </p:txBody>
      </p:sp>
      <p:sp>
        <p:nvSpPr>
          <p:cNvPr id="42" name="Text 12">
            <a:extLst>
              <a:ext uri="{FF2B5EF4-FFF2-40B4-BE49-F238E27FC236}">
                <a16:creationId xmlns:a16="http://schemas.microsoft.com/office/drawing/2014/main" id="{14C8F2BC-ED1B-79CC-9736-5FD1EEE859DD}"/>
              </a:ext>
            </a:extLst>
          </p:cNvPr>
          <p:cNvSpPr/>
          <p:nvPr/>
        </p:nvSpPr>
        <p:spPr>
          <a:xfrm>
            <a:off x="7433667" y="7097554"/>
            <a:ext cx="6438424" cy="60650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Provides aggregated data and reports for mobile network operators and regulatory bodies.</a:t>
            </a:r>
            <a:endParaRPr lang="en-US" sz="1450" dirty="0"/>
          </a:p>
        </p:txBody>
      </p:sp>
      <p:sp>
        <p:nvSpPr>
          <p:cNvPr id="43" name="Rectangle: Rounded Corners 42">
            <a:extLst>
              <a:ext uri="{FF2B5EF4-FFF2-40B4-BE49-F238E27FC236}">
                <a16:creationId xmlns:a16="http://schemas.microsoft.com/office/drawing/2014/main" id="{F0C4E685-13DE-1F79-69CA-727D8D770EA1}"/>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05465013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3424" y="497324"/>
            <a:ext cx="5820728" cy="594955"/>
          </a:xfrm>
          <a:prstGeom prst="rect">
            <a:avLst/>
          </a:prstGeom>
          <a:noFill/>
          <a:ln/>
        </p:spPr>
        <p:txBody>
          <a:bodyPr wrap="none" lIns="0" tIns="0" rIns="0" bIns="0" rtlCol="0" anchor="t"/>
          <a:lstStyle/>
          <a:p>
            <a:pPr marL="0" indent="0" algn="l">
              <a:lnSpc>
                <a:spcPts val="4650"/>
              </a:lnSpc>
              <a:buNone/>
            </a:pPr>
            <a:r>
              <a:rPr lang="en-US" sz="3700" b="1" dirty="0">
                <a:solidFill>
                  <a:srgbClr val="7068F4"/>
                </a:solidFill>
                <a:latin typeface="Barlow Bold" pitchFamily="34" charset="0"/>
                <a:ea typeface="Barlow Bold" pitchFamily="34" charset="-122"/>
                <a:cs typeface="Barlow Bold" pitchFamily="34" charset="-120"/>
              </a:rPr>
              <a:t>UI Design &amp; Implementation</a:t>
            </a:r>
            <a:endParaRPr lang="en-US" sz="3700" dirty="0"/>
          </a:p>
        </p:txBody>
      </p:sp>
      <p:sp>
        <p:nvSpPr>
          <p:cNvPr id="3" name="Text 1"/>
          <p:cNvSpPr/>
          <p:nvPr/>
        </p:nvSpPr>
        <p:spPr>
          <a:xfrm>
            <a:off x="723424" y="2232978"/>
            <a:ext cx="2435066" cy="297418"/>
          </a:xfrm>
          <a:prstGeom prst="rect">
            <a:avLst/>
          </a:prstGeom>
          <a:noFill/>
          <a:ln/>
        </p:spPr>
        <p:txBody>
          <a:bodyPr wrap="none" lIns="0" tIns="0" rIns="0" bIns="0" rtlCol="0" anchor="t"/>
          <a:lstStyle/>
          <a:p>
            <a:pPr marL="0" indent="0" algn="l">
              <a:lnSpc>
                <a:spcPts val="2300"/>
              </a:lnSpc>
              <a:buNone/>
            </a:pPr>
            <a:r>
              <a:rPr lang="en-US" sz="1850" b="1" dirty="0">
                <a:solidFill>
                  <a:srgbClr val="7068F4"/>
                </a:solidFill>
                <a:latin typeface="Barlow Bold" pitchFamily="34" charset="0"/>
                <a:ea typeface="Barlow Bold" pitchFamily="34" charset="-122"/>
                <a:cs typeface="Barlow Bold" pitchFamily="34" charset="-120"/>
              </a:rPr>
              <a:t>App Identity: "Checkin"</a:t>
            </a:r>
            <a:endParaRPr lang="en-US" sz="1850" dirty="0"/>
          </a:p>
        </p:txBody>
      </p:sp>
      <p:sp>
        <p:nvSpPr>
          <p:cNvPr id="4" name="Text 2"/>
          <p:cNvSpPr/>
          <p:nvPr/>
        </p:nvSpPr>
        <p:spPr>
          <a:xfrm>
            <a:off x="723424" y="2711252"/>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Tagline:</a:t>
            </a:r>
            <a:r>
              <a:rPr lang="en-US" sz="1400" dirty="0">
                <a:solidFill>
                  <a:srgbClr val="272525"/>
                </a:solidFill>
                <a:latin typeface="Montserrat" pitchFamily="34" charset="0"/>
                <a:ea typeface="Montserrat" pitchFamily="34" charset="-122"/>
                <a:cs typeface="Montserrat" pitchFamily="34" charset="-120"/>
              </a:rPr>
              <a:t> "Empower Your Connection"</a:t>
            </a:r>
            <a:endParaRPr lang="en-US" sz="1400" dirty="0"/>
          </a:p>
        </p:txBody>
      </p:sp>
      <p:sp>
        <p:nvSpPr>
          <p:cNvPr id="5" name="Text 3"/>
          <p:cNvSpPr/>
          <p:nvPr/>
        </p:nvSpPr>
        <p:spPr>
          <a:xfrm>
            <a:off x="723424" y="3063796"/>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Logo:</a:t>
            </a:r>
            <a:r>
              <a:rPr lang="en-US" sz="1400" dirty="0">
                <a:solidFill>
                  <a:srgbClr val="272525"/>
                </a:solidFill>
                <a:latin typeface="Montserrat" pitchFamily="34" charset="0"/>
                <a:ea typeface="Montserrat" pitchFamily="34" charset="-122"/>
                <a:cs typeface="Montserrat" pitchFamily="34" charset="-120"/>
              </a:rPr>
              <a:t> Signal bar with a checkmark.</a:t>
            </a:r>
            <a:endParaRPr lang="en-US" sz="1400" dirty="0"/>
          </a:p>
        </p:txBody>
      </p:sp>
      <p:sp>
        <p:nvSpPr>
          <p:cNvPr id="6" name="Text 4"/>
          <p:cNvSpPr/>
          <p:nvPr/>
        </p:nvSpPr>
        <p:spPr>
          <a:xfrm>
            <a:off x="723424" y="3416340"/>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Color Scheme:</a:t>
            </a:r>
            <a:r>
              <a:rPr lang="en-US" sz="1400" dirty="0">
                <a:solidFill>
                  <a:srgbClr val="272525"/>
                </a:solidFill>
                <a:latin typeface="Montserrat" pitchFamily="34" charset="0"/>
                <a:ea typeface="Montserrat" pitchFamily="34" charset="-122"/>
                <a:cs typeface="Montserrat" pitchFamily="34" charset="-120"/>
              </a:rPr>
              <a:t> Deep green, vibrant blue, bright amber.</a:t>
            </a:r>
            <a:endParaRPr lang="en-US" sz="1400" dirty="0"/>
          </a:p>
        </p:txBody>
      </p:sp>
      <p:sp>
        <p:nvSpPr>
          <p:cNvPr id="7" name="Text 5"/>
          <p:cNvSpPr/>
          <p:nvPr/>
        </p:nvSpPr>
        <p:spPr>
          <a:xfrm>
            <a:off x="723424" y="3768884"/>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Typography:</a:t>
            </a:r>
            <a:r>
              <a:rPr lang="en-US" sz="1400" dirty="0">
                <a:solidFill>
                  <a:srgbClr val="272525"/>
                </a:solidFill>
                <a:latin typeface="Montserrat" pitchFamily="34" charset="0"/>
                <a:ea typeface="Montserrat" pitchFamily="34" charset="-122"/>
                <a:cs typeface="Montserrat" pitchFamily="34" charset="-120"/>
              </a:rPr>
              <a:t> Roboto (Android), San Francisco (iOS).</a:t>
            </a:r>
            <a:endParaRPr lang="en-US" sz="1400" dirty="0"/>
          </a:p>
        </p:txBody>
      </p:sp>
      <p:sp>
        <p:nvSpPr>
          <p:cNvPr id="8" name="Text 6"/>
          <p:cNvSpPr/>
          <p:nvPr/>
        </p:nvSpPr>
        <p:spPr>
          <a:xfrm>
            <a:off x="723424" y="4608076"/>
            <a:ext cx="2379821" cy="297418"/>
          </a:xfrm>
          <a:prstGeom prst="rect">
            <a:avLst/>
          </a:prstGeom>
          <a:noFill/>
          <a:ln/>
        </p:spPr>
        <p:txBody>
          <a:bodyPr wrap="none" lIns="0" tIns="0" rIns="0" bIns="0" rtlCol="0" anchor="t"/>
          <a:lstStyle/>
          <a:p>
            <a:pPr marL="0" indent="0" algn="l">
              <a:lnSpc>
                <a:spcPts val="2300"/>
              </a:lnSpc>
              <a:buNone/>
            </a:pPr>
            <a:r>
              <a:rPr lang="en-US" sz="1850" b="1" dirty="0">
                <a:solidFill>
                  <a:srgbClr val="7068F4"/>
                </a:solidFill>
                <a:latin typeface="Barlow Bold" pitchFamily="34" charset="0"/>
                <a:ea typeface="Barlow Bold" pitchFamily="34" charset="-122"/>
                <a:cs typeface="Barlow Bold" pitchFamily="34" charset="-120"/>
              </a:rPr>
              <a:t>Key Screens</a:t>
            </a:r>
            <a:endParaRPr lang="en-US" sz="1850" dirty="0"/>
          </a:p>
        </p:txBody>
      </p:sp>
      <p:sp>
        <p:nvSpPr>
          <p:cNvPr id="9" name="Text 7"/>
          <p:cNvSpPr/>
          <p:nvPr/>
        </p:nvSpPr>
        <p:spPr>
          <a:xfrm>
            <a:off x="723424" y="5086350"/>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Dashboard:</a:t>
            </a:r>
            <a:r>
              <a:rPr lang="en-US" sz="1400" dirty="0">
                <a:solidFill>
                  <a:srgbClr val="272525"/>
                </a:solidFill>
                <a:latin typeface="Montserrat" pitchFamily="34" charset="0"/>
                <a:ea typeface="Montserrat" pitchFamily="34" charset="-122"/>
                <a:cs typeface="Montserrat" pitchFamily="34" charset="-120"/>
              </a:rPr>
              <a:t> Real-time metrics.</a:t>
            </a:r>
            <a:endParaRPr lang="en-US" sz="1400" dirty="0"/>
          </a:p>
        </p:txBody>
      </p:sp>
      <p:sp>
        <p:nvSpPr>
          <p:cNvPr id="10" name="Text 8"/>
          <p:cNvSpPr/>
          <p:nvPr/>
        </p:nvSpPr>
        <p:spPr>
          <a:xfrm>
            <a:off x="723424" y="5438894"/>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Feedback Form:</a:t>
            </a:r>
            <a:r>
              <a:rPr lang="en-US" sz="1400" dirty="0">
                <a:solidFill>
                  <a:srgbClr val="272525"/>
                </a:solidFill>
                <a:latin typeface="Montserrat" pitchFamily="34" charset="0"/>
                <a:ea typeface="Montserrat" pitchFamily="34" charset="-122"/>
                <a:cs typeface="Montserrat" pitchFamily="34" charset="-120"/>
              </a:rPr>
              <a:t> Ratings, comments, optional geolocation.</a:t>
            </a:r>
            <a:endParaRPr lang="en-US" sz="1400" dirty="0"/>
          </a:p>
        </p:txBody>
      </p:sp>
      <p:sp>
        <p:nvSpPr>
          <p:cNvPr id="11" name="Text 9"/>
          <p:cNvSpPr/>
          <p:nvPr/>
        </p:nvSpPr>
        <p:spPr>
          <a:xfrm>
            <a:off x="723424" y="5791438"/>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Report History:</a:t>
            </a:r>
            <a:r>
              <a:rPr lang="en-US" sz="1400" dirty="0">
                <a:solidFill>
                  <a:srgbClr val="272525"/>
                </a:solidFill>
                <a:latin typeface="Montserrat" pitchFamily="34" charset="0"/>
                <a:ea typeface="Montserrat" pitchFamily="34" charset="-122"/>
                <a:cs typeface="Montserrat" pitchFamily="34" charset="-120"/>
              </a:rPr>
              <a:t> Past feedback logs.</a:t>
            </a:r>
            <a:endParaRPr lang="en-US" sz="1400" dirty="0"/>
          </a:p>
        </p:txBody>
      </p:sp>
      <p:sp>
        <p:nvSpPr>
          <p:cNvPr id="12" name="Text 10"/>
          <p:cNvSpPr/>
          <p:nvPr/>
        </p:nvSpPr>
        <p:spPr>
          <a:xfrm>
            <a:off x="723424" y="6143982"/>
            <a:ext cx="6371153" cy="289322"/>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272525"/>
                </a:solidFill>
                <a:latin typeface="Montserrat" pitchFamily="34" charset="0"/>
                <a:ea typeface="Montserrat" pitchFamily="34" charset="-122"/>
                <a:cs typeface="Montserrat" pitchFamily="34" charset="-120"/>
              </a:rPr>
              <a:t>Settings:</a:t>
            </a:r>
            <a:r>
              <a:rPr lang="en-US" sz="1400" dirty="0">
                <a:solidFill>
                  <a:srgbClr val="272525"/>
                </a:solidFill>
                <a:latin typeface="Montserrat" pitchFamily="34" charset="0"/>
                <a:ea typeface="Montserrat" pitchFamily="34" charset="-122"/>
                <a:cs typeface="Montserrat" pitchFamily="34" charset="-120"/>
              </a:rPr>
              <a:t> Privacy, notifications, language.</a:t>
            </a:r>
            <a:endParaRPr lang="en-US" sz="1400" dirty="0"/>
          </a:p>
        </p:txBody>
      </p:sp>
      <p:sp>
        <p:nvSpPr>
          <p:cNvPr id="17" name="Rectangle: Rounded Corners 16">
            <a:extLst>
              <a:ext uri="{FF2B5EF4-FFF2-40B4-BE49-F238E27FC236}">
                <a16:creationId xmlns:a16="http://schemas.microsoft.com/office/drawing/2014/main" id="{A2B1BBED-2ABE-F011-B532-AB0B7057EA87}"/>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8" name="Picture 17" descr="IMG-20250602-WA0037">
            <a:extLst>
              <a:ext uri="{FF2B5EF4-FFF2-40B4-BE49-F238E27FC236}">
                <a16:creationId xmlns:a16="http://schemas.microsoft.com/office/drawing/2014/main" id="{A8C09E22-4B12-EC8C-913B-093DA2B1DACC}"/>
              </a:ext>
            </a:extLst>
          </p:cNvPr>
          <p:cNvPicPr>
            <a:picLocks noChangeAspect="1"/>
          </p:cNvPicPr>
          <p:nvPr/>
        </p:nvPicPr>
        <p:blipFill>
          <a:blip r:embed="rId3"/>
          <a:srcRect l="13539" t="32820" r="13961" b="33431"/>
          <a:stretch>
            <a:fillRect/>
          </a:stretch>
        </p:blipFill>
        <p:spPr>
          <a:xfrm>
            <a:off x="10040599" y="134303"/>
            <a:ext cx="2011680" cy="2098675"/>
          </a:xfrm>
          <a:prstGeom prst="roundRect">
            <a:avLst/>
          </a:prstGeom>
        </p:spPr>
      </p:pic>
      <p:pic>
        <p:nvPicPr>
          <p:cNvPr id="19" name="Picture 18" descr="IMG-20250602-WA0040">
            <a:extLst>
              <a:ext uri="{FF2B5EF4-FFF2-40B4-BE49-F238E27FC236}">
                <a16:creationId xmlns:a16="http://schemas.microsoft.com/office/drawing/2014/main" id="{2E51EA1E-9ABD-61C1-1804-6798F8BBCB6A}"/>
              </a:ext>
            </a:extLst>
          </p:cNvPr>
          <p:cNvPicPr>
            <a:picLocks noChangeAspect="1"/>
          </p:cNvPicPr>
          <p:nvPr/>
        </p:nvPicPr>
        <p:blipFill>
          <a:blip r:embed="rId4"/>
          <a:srcRect t="5049"/>
          <a:stretch>
            <a:fillRect/>
          </a:stretch>
        </p:blipFill>
        <p:spPr>
          <a:xfrm>
            <a:off x="7267249" y="2434317"/>
            <a:ext cx="3606518" cy="5460878"/>
          </a:xfrm>
          <a:prstGeom prst="rect">
            <a:avLst/>
          </a:prstGeom>
        </p:spPr>
      </p:pic>
      <p:pic>
        <p:nvPicPr>
          <p:cNvPr id="20" name="Picture 19" descr="IMG-20250602-WA0035">
            <a:extLst>
              <a:ext uri="{FF2B5EF4-FFF2-40B4-BE49-F238E27FC236}">
                <a16:creationId xmlns:a16="http://schemas.microsoft.com/office/drawing/2014/main" id="{6C312700-4A12-7B69-3C02-9584B1D50569}"/>
              </a:ext>
            </a:extLst>
          </p:cNvPr>
          <p:cNvPicPr>
            <a:picLocks noChangeAspect="1"/>
          </p:cNvPicPr>
          <p:nvPr/>
        </p:nvPicPr>
        <p:blipFill>
          <a:blip r:embed="rId5"/>
          <a:srcRect t="3890" r="5110" b="23313"/>
          <a:stretch>
            <a:fillRect/>
          </a:stretch>
        </p:blipFill>
        <p:spPr>
          <a:xfrm>
            <a:off x="10873767" y="2434317"/>
            <a:ext cx="3756633" cy="5460878"/>
          </a:xfrm>
          <a:prstGeom prst="rect">
            <a:avLst/>
          </a:prstGeom>
        </p:spPr>
      </p:pic>
    </p:spTree>
  </p:cSld>
  <p:clrMapOvr>
    <a:masterClrMapping/>
  </p:clrMapOvr>
  <p:transition spd="slow">
    <p:push dir="d"/>
  </p:transition>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7" name="Image 0">
            <a:extLst>
              <a:ext uri="{FF2B5EF4-FFF2-40B4-BE49-F238E27FC236}">
                <a16:creationId xmlns:a16="http://schemas.microsoft.com/office/drawing/2014/main" id="{7E877BB5-0F85-C8EE-CF18-B3EBC10E5E5F}"/>
              </a:ext>
            </a:extLst>
          </p:cNvPr>
          <p:cNvPicPr>
            <a:picLocks noChangeAspect="1"/>
          </p:cNvPicPr>
          <p:nvPr/>
        </p:nvPicPr>
        <p:blipFill>
          <a:blip r:embed="rId3"/>
          <a:stretch>
            <a:fillRect/>
          </a:stretch>
        </p:blipFill>
        <p:spPr>
          <a:xfrm>
            <a:off x="-1" y="-1191"/>
            <a:ext cx="5696607" cy="8229600"/>
          </a:xfrm>
          <a:prstGeom prst="rect">
            <a:avLst/>
          </a:prstGeom>
        </p:spPr>
      </p:pic>
      <p:sp>
        <p:nvSpPr>
          <p:cNvPr id="18" name="Text 0">
            <a:extLst>
              <a:ext uri="{FF2B5EF4-FFF2-40B4-BE49-F238E27FC236}">
                <a16:creationId xmlns:a16="http://schemas.microsoft.com/office/drawing/2014/main" id="{583BDB1C-1D47-9E15-CC4D-15CB075874E8}"/>
              </a:ext>
            </a:extLst>
          </p:cNvPr>
          <p:cNvSpPr/>
          <p:nvPr/>
        </p:nvSpPr>
        <p:spPr>
          <a:xfrm>
            <a:off x="6265962" y="357307"/>
            <a:ext cx="8104584" cy="85486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350"/>
              </a:lnSpc>
              <a:buNone/>
            </a:pPr>
            <a:r>
              <a:rPr lang="en-US" sz="2650" b="1" dirty="0">
                <a:solidFill>
                  <a:srgbClr val="7068F4"/>
                </a:solidFill>
                <a:latin typeface="Barlow Bold" pitchFamily="34" charset="0"/>
                <a:ea typeface="Barlow Bold" pitchFamily="34" charset="-122"/>
                <a:cs typeface="Barlow Bold" pitchFamily="34" charset="-120"/>
              </a:rPr>
              <a:t>Tools &amp; Technologies Used: Building a Robust Solution</a:t>
            </a:r>
            <a:endParaRPr lang="en-US" sz="2650" dirty="0"/>
          </a:p>
        </p:txBody>
      </p:sp>
      <p:sp>
        <p:nvSpPr>
          <p:cNvPr id="19" name="Shape 1">
            <a:extLst>
              <a:ext uri="{FF2B5EF4-FFF2-40B4-BE49-F238E27FC236}">
                <a16:creationId xmlns:a16="http://schemas.microsoft.com/office/drawing/2014/main" id="{C89E1F74-2C4A-E1C6-6C2B-77D2448A183F}"/>
              </a:ext>
            </a:extLst>
          </p:cNvPr>
          <p:cNvSpPr/>
          <p:nvPr/>
        </p:nvSpPr>
        <p:spPr>
          <a:xfrm>
            <a:off x="6265962" y="1407081"/>
            <a:ext cx="8104584" cy="1772126"/>
          </a:xfrm>
          <a:prstGeom prst="roundRect">
            <a:avLst>
              <a:gd name="adj" fmla="val 6600"/>
            </a:avLst>
          </a:prstGeom>
          <a:solidFill>
            <a:srgbClr val="EEEFF5"/>
          </a:solidFill>
          <a:ln/>
          <a:effectLst>
            <a:outerShdw blurRad="31750" dist="15240" dir="13500000" algn="bl" rotWithShape="0">
              <a:srgbClr val="FFFFFF">
                <a:alpha val="70000"/>
              </a:srgbClr>
            </a:outerShdw>
          </a:effectLst>
        </p:spPr>
        <p:txBody>
          <a:bodyPr/>
          <a:lstStyle/>
          <a:p>
            <a:endParaRPr lang="en-US"/>
          </a:p>
        </p:txBody>
      </p:sp>
      <p:sp>
        <p:nvSpPr>
          <p:cNvPr id="20" name="Text 2">
            <a:extLst>
              <a:ext uri="{FF2B5EF4-FFF2-40B4-BE49-F238E27FC236}">
                <a16:creationId xmlns:a16="http://schemas.microsoft.com/office/drawing/2014/main" id="{037C4976-AD05-846F-AB9B-53DDCE252996}"/>
              </a:ext>
            </a:extLst>
          </p:cNvPr>
          <p:cNvSpPr/>
          <p:nvPr/>
        </p:nvSpPr>
        <p:spPr>
          <a:xfrm>
            <a:off x="6395859" y="1536978"/>
            <a:ext cx="1709857" cy="21371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50"/>
              </a:lnSpc>
              <a:buNone/>
            </a:pPr>
            <a:r>
              <a:rPr lang="en-US" sz="1300" b="1" dirty="0">
                <a:solidFill>
                  <a:srgbClr val="272525"/>
                </a:solidFill>
                <a:latin typeface="Barlow Bold" pitchFamily="34" charset="0"/>
                <a:ea typeface="Barlow Bold" pitchFamily="34" charset="-122"/>
                <a:cs typeface="Barlow Bold" pitchFamily="34" charset="-120"/>
              </a:rPr>
              <a:t>Frontend</a:t>
            </a:r>
            <a:endParaRPr lang="en-US" sz="1300" dirty="0"/>
          </a:p>
        </p:txBody>
      </p:sp>
      <p:sp>
        <p:nvSpPr>
          <p:cNvPr id="21" name="Text 3">
            <a:extLst>
              <a:ext uri="{FF2B5EF4-FFF2-40B4-BE49-F238E27FC236}">
                <a16:creationId xmlns:a16="http://schemas.microsoft.com/office/drawing/2014/main" id="{28C4BAF1-87FC-5848-A6DC-A8CE988FA6B1}"/>
              </a:ext>
            </a:extLst>
          </p:cNvPr>
          <p:cNvSpPr/>
          <p:nvPr/>
        </p:nvSpPr>
        <p:spPr>
          <a:xfrm>
            <a:off x="6395859" y="1828562"/>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React Native</a:t>
            </a:r>
            <a:endParaRPr lang="en-US" sz="1000" dirty="0"/>
          </a:p>
        </p:txBody>
      </p:sp>
      <p:sp>
        <p:nvSpPr>
          <p:cNvPr id="22" name="Text 4">
            <a:extLst>
              <a:ext uri="{FF2B5EF4-FFF2-40B4-BE49-F238E27FC236}">
                <a16:creationId xmlns:a16="http://schemas.microsoft.com/office/drawing/2014/main" id="{25BF2F09-2834-39B8-6956-1D5710F04A60}"/>
              </a:ext>
            </a:extLst>
          </p:cNvPr>
          <p:cNvSpPr/>
          <p:nvPr/>
        </p:nvSpPr>
        <p:spPr>
          <a:xfrm>
            <a:off x="6395859" y="2081808"/>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TypeScript</a:t>
            </a:r>
            <a:endParaRPr lang="en-US" sz="1000" dirty="0"/>
          </a:p>
        </p:txBody>
      </p:sp>
      <p:sp>
        <p:nvSpPr>
          <p:cNvPr id="23" name="Text 5">
            <a:extLst>
              <a:ext uri="{FF2B5EF4-FFF2-40B4-BE49-F238E27FC236}">
                <a16:creationId xmlns:a16="http://schemas.microsoft.com/office/drawing/2014/main" id="{C60C0B15-D927-0C3C-D220-3EED6FD0A2C1}"/>
              </a:ext>
            </a:extLst>
          </p:cNvPr>
          <p:cNvSpPr/>
          <p:nvPr/>
        </p:nvSpPr>
        <p:spPr>
          <a:xfrm>
            <a:off x="6395859" y="2335054"/>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Redux</a:t>
            </a:r>
            <a:endParaRPr lang="en-US" sz="1000" dirty="0"/>
          </a:p>
        </p:txBody>
      </p:sp>
      <p:sp>
        <p:nvSpPr>
          <p:cNvPr id="24" name="Text 6">
            <a:extLst>
              <a:ext uri="{FF2B5EF4-FFF2-40B4-BE49-F238E27FC236}">
                <a16:creationId xmlns:a16="http://schemas.microsoft.com/office/drawing/2014/main" id="{3492D15E-F49C-59FF-BFBC-EE67A67D3B0F}"/>
              </a:ext>
            </a:extLst>
          </p:cNvPr>
          <p:cNvSpPr/>
          <p:nvPr/>
        </p:nvSpPr>
        <p:spPr>
          <a:xfrm>
            <a:off x="6395859" y="2588300"/>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React Navigation</a:t>
            </a:r>
            <a:endParaRPr lang="en-US" sz="1000" dirty="0"/>
          </a:p>
        </p:txBody>
      </p:sp>
      <p:sp>
        <p:nvSpPr>
          <p:cNvPr id="25" name="Text 7">
            <a:extLst>
              <a:ext uri="{FF2B5EF4-FFF2-40B4-BE49-F238E27FC236}">
                <a16:creationId xmlns:a16="http://schemas.microsoft.com/office/drawing/2014/main" id="{B1ED7E0A-551E-A012-C800-DFF1D27BC81B}"/>
              </a:ext>
            </a:extLst>
          </p:cNvPr>
          <p:cNvSpPr/>
          <p:nvPr/>
        </p:nvSpPr>
        <p:spPr>
          <a:xfrm>
            <a:off x="6395859" y="2841546"/>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Figma (UI Prototyping)</a:t>
            </a:r>
            <a:endParaRPr lang="en-US" sz="1000" dirty="0"/>
          </a:p>
        </p:txBody>
      </p:sp>
      <p:sp>
        <p:nvSpPr>
          <p:cNvPr id="26" name="Shape 8">
            <a:extLst>
              <a:ext uri="{FF2B5EF4-FFF2-40B4-BE49-F238E27FC236}">
                <a16:creationId xmlns:a16="http://schemas.microsoft.com/office/drawing/2014/main" id="{475EED26-CBFE-2AE1-78CC-FDBAA9B62566}"/>
              </a:ext>
            </a:extLst>
          </p:cNvPr>
          <p:cNvSpPr/>
          <p:nvPr/>
        </p:nvSpPr>
        <p:spPr>
          <a:xfrm>
            <a:off x="6265962" y="3309104"/>
            <a:ext cx="8104584" cy="1518880"/>
          </a:xfrm>
          <a:prstGeom prst="roundRect">
            <a:avLst>
              <a:gd name="adj" fmla="val 7700"/>
            </a:avLst>
          </a:prstGeom>
          <a:solidFill>
            <a:srgbClr val="EEEFF5"/>
          </a:solidFill>
          <a:ln/>
          <a:effectLst>
            <a:outerShdw blurRad="31750" dist="15240" dir="13500000" algn="bl" rotWithShape="0">
              <a:srgbClr val="FFFFFF">
                <a:alpha val="70000"/>
              </a:srgbClr>
            </a:outerShdw>
          </a:effectLst>
        </p:spPr>
        <p:txBody>
          <a:bodyPr/>
          <a:lstStyle/>
          <a:p>
            <a:endParaRPr lang="en-US"/>
          </a:p>
        </p:txBody>
      </p:sp>
      <p:sp>
        <p:nvSpPr>
          <p:cNvPr id="27" name="Text 9">
            <a:extLst>
              <a:ext uri="{FF2B5EF4-FFF2-40B4-BE49-F238E27FC236}">
                <a16:creationId xmlns:a16="http://schemas.microsoft.com/office/drawing/2014/main" id="{D229D253-E16E-2E68-AB3D-739D1D82EF88}"/>
              </a:ext>
            </a:extLst>
          </p:cNvPr>
          <p:cNvSpPr/>
          <p:nvPr/>
        </p:nvSpPr>
        <p:spPr>
          <a:xfrm>
            <a:off x="6395859" y="3439001"/>
            <a:ext cx="1709857" cy="21371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50"/>
              </a:lnSpc>
              <a:buNone/>
            </a:pPr>
            <a:r>
              <a:rPr lang="en-US" sz="1300" b="1" dirty="0">
                <a:solidFill>
                  <a:srgbClr val="272525"/>
                </a:solidFill>
                <a:latin typeface="Barlow Bold" pitchFamily="34" charset="0"/>
                <a:ea typeface="Barlow Bold" pitchFamily="34" charset="-122"/>
                <a:cs typeface="Barlow Bold" pitchFamily="34" charset="-120"/>
              </a:rPr>
              <a:t>Backend</a:t>
            </a:r>
            <a:endParaRPr lang="en-US" sz="1300" dirty="0"/>
          </a:p>
        </p:txBody>
      </p:sp>
      <p:sp>
        <p:nvSpPr>
          <p:cNvPr id="28" name="Text 10">
            <a:extLst>
              <a:ext uri="{FF2B5EF4-FFF2-40B4-BE49-F238E27FC236}">
                <a16:creationId xmlns:a16="http://schemas.microsoft.com/office/drawing/2014/main" id="{716B6EDA-5989-4210-9FC1-742A5D9B3971}"/>
              </a:ext>
            </a:extLst>
          </p:cNvPr>
          <p:cNvSpPr/>
          <p:nvPr/>
        </p:nvSpPr>
        <p:spPr>
          <a:xfrm>
            <a:off x="6395859" y="3730585"/>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Node.js</a:t>
            </a:r>
            <a:endParaRPr lang="en-US" sz="1000" dirty="0"/>
          </a:p>
        </p:txBody>
      </p:sp>
      <p:sp>
        <p:nvSpPr>
          <p:cNvPr id="29" name="Text 11">
            <a:extLst>
              <a:ext uri="{FF2B5EF4-FFF2-40B4-BE49-F238E27FC236}">
                <a16:creationId xmlns:a16="http://schemas.microsoft.com/office/drawing/2014/main" id="{E0B39D63-387C-46C3-CC48-F35FBE761480}"/>
              </a:ext>
            </a:extLst>
          </p:cNvPr>
          <p:cNvSpPr/>
          <p:nvPr/>
        </p:nvSpPr>
        <p:spPr>
          <a:xfrm>
            <a:off x="6395859" y="3983831"/>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Express.js</a:t>
            </a:r>
            <a:endParaRPr lang="en-US" sz="1000" dirty="0"/>
          </a:p>
        </p:txBody>
      </p:sp>
      <p:sp>
        <p:nvSpPr>
          <p:cNvPr id="30" name="Text 12">
            <a:extLst>
              <a:ext uri="{FF2B5EF4-FFF2-40B4-BE49-F238E27FC236}">
                <a16:creationId xmlns:a16="http://schemas.microsoft.com/office/drawing/2014/main" id="{4689F0F0-A85C-65C0-9AAA-B71D5ED72A34}"/>
              </a:ext>
            </a:extLst>
          </p:cNvPr>
          <p:cNvSpPr/>
          <p:nvPr/>
        </p:nvSpPr>
        <p:spPr>
          <a:xfrm>
            <a:off x="6395859" y="4237077"/>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Mongoose</a:t>
            </a:r>
            <a:endParaRPr lang="en-US" sz="1000" dirty="0"/>
          </a:p>
        </p:txBody>
      </p:sp>
      <p:sp>
        <p:nvSpPr>
          <p:cNvPr id="31" name="Text 13">
            <a:extLst>
              <a:ext uri="{FF2B5EF4-FFF2-40B4-BE49-F238E27FC236}">
                <a16:creationId xmlns:a16="http://schemas.microsoft.com/office/drawing/2014/main" id="{67CE6DEC-7768-47B4-89FD-7B14C711631A}"/>
              </a:ext>
            </a:extLst>
          </p:cNvPr>
          <p:cNvSpPr/>
          <p:nvPr/>
        </p:nvSpPr>
        <p:spPr>
          <a:xfrm>
            <a:off x="6395859" y="4490323"/>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CORS</a:t>
            </a:r>
            <a:endParaRPr lang="en-US" sz="1000" dirty="0"/>
          </a:p>
        </p:txBody>
      </p:sp>
      <p:sp>
        <p:nvSpPr>
          <p:cNvPr id="32" name="Shape 14">
            <a:extLst>
              <a:ext uri="{FF2B5EF4-FFF2-40B4-BE49-F238E27FC236}">
                <a16:creationId xmlns:a16="http://schemas.microsoft.com/office/drawing/2014/main" id="{0EC8F350-9C3A-4BA6-2A2D-9E48CB59C935}"/>
              </a:ext>
            </a:extLst>
          </p:cNvPr>
          <p:cNvSpPr/>
          <p:nvPr/>
        </p:nvSpPr>
        <p:spPr>
          <a:xfrm>
            <a:off x="6265962" y="4957882"/>
            <a:ext cx="8104584" cy="1012388"/>
          </a:xfrm>
          <a:prstGeom prst="roundRect">
            <a:avLst>
              <a:gd name="adj" fmla="val 11552"/>
            </a:avLst>
          </a:prstGeom>
          <a:solidFill>
            <a:srgbClr val="EEEFF5"/>
          </a:solidFill>
          <a:ln/>
          <a:effectLst>
            <a:outerShdw blurRad="31750" dist="15240" dir="13500000" algn="bl" rotWithShape="0">
              <a:srgbClr val="FFFFFF">
                <a:alpha val="70000"/>
              </a:srgbClr>
            </a:outerShdw>
          </a:effectLst>
        </p:spPr>
        <p:txBody>
          <a:bodyPr/>
          <a:lstStyle/>
          <a:p>
            <a:endParaRPr lang="en-US"/>
          </a:p>
        </p:txBody>
      </p:sp>
      <p:sp>
        <p:nvSpPr>
          <p:cNvPr id="33" name="Text 15">
            <a:extLst>
              <a:ext uri="{FF2B5EF4-FFF2-40B4-BE49-F238E27FC236}">
                <a16:creationId xmlns:a16="http://schemas.microsoft.com/office/drawing/2014/main" id="{C714500D-FE75-6C0C-FAB1-E0C3644E9821}"/>
              </a:ext>
            </a:extLst>
          </p:cNvPr>
          <p:cNvSpPr/>
          <p:nvPr/>
        </p:nvSpPr>
        <p:spPr>
          <a:xfrm>
            <a:off x="6395859" y="5087779"/>
            <a:ext cx="1709857" cy="21371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50"/>
              </a:lnSpc>
              <a:buNone/>
            </a:pPr>
            <a:r>
              <a:rPr lang="en-US" sz="1300" b="1" dirty="0">
                <a:solidFill>
                  <a:srgbClr val="272525"/>
                </a:solidFill>
                <a:latin typeface="Barlow Bold" pitchFamily="34" charset="0"/>
                <a:ea typeface="Barlow Bold" pitchFamily="34" charset="-122"/>
                <a:cs typeface="Barlow Bold" pitchFamily="34" charset="-120"/>
              </a:rPr>
              <a:t>Database</a:t>
            </a:r>
            <a:endParaRPr lang="en-US" sz="1300" dirty="0"/>
          </a:p>
        </p:txBody>
      </p:sp>
      <p:sp>
        <p:nvSpPr>
          <p:cNvPr id="34" name="Text 16">
            <a:extLst>
              <a:ext uri="{FF2B5EF4-FFF2-40B4-BE49-F238E27FC236}">
                <a16:creationId xmlns:a16="http://schemas.microsoft.com/office/drawing/2014/main" id="{0925E7AB-F130-8191-EE48-5D6D2C7C344C}"/>
              </a:ext>
            </a:extLst>
          </p:cNvPr>
          <p:cNvSpPr/>
          <p:nvPr/>
        </p:nvSpPr>
        <p:spPr>
          <a:xfrm>
            <a:off x="6395859" y="5379363"/>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MongoDB Atlas (Cloud NoSQL)</a:t>
            </a:r>
            <a:endParaRPr lang="en-US" sz="1000" dirty="0"/>
          </a:p>
        </p:txBody>
      </p:sp>
      <p:sp>
        <p:nvSpPr>
          <p:cNvPr id="35" name="Text 17">
            <a:extLst>
              <a:ext uri="{FF2B5EF4-FFF2-40B4-BE49-F238E27FC236}">
                <a16:creationId xmlns:a16="http://schemas.microsoft.com/office/drawing/2014/main" id="{C95E3F6A-E4FE-F0CD-ABA5-98A3210A59EE}"/>
              </a:ext>
            </a:extLst>
          </p:cNvPr>
          <p:cNvSpPr/>
          <p:nvPr/>
        </p:nvSpPr>
        <p:spPr>
          <a:xfrm>
            <a:off x="6395859" y="5632609"/>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MongoDB Compass</a:t>
            </a:r>
            <a:endParaRPr lang="en-US" sz="1000" dirty="0"/>
          </a:p>
        </p:txBody>
      </p:sp>
      <p:sp>
        <p:nvSpPr>
          <p:cNvPr id="36" name="Shape 18">
            <a:extLst>
              <a:ext uri="{FF2B5EF4-FFF2-40B4-BE49-F238E27FC236}">
                <a16:creationId xmlns:a16="http://schemas.microsoft.com/office/drawing/2014/main" id="{E25036B4-5F9F-7D67-A319-B31824119881}"/>
              </a:ext>
            </a:extLst>
          </p:cNvPr>
          <p:cNvSpPr/>
          <p:nvPr/>
        </p:nvSpPr>
        <p:spPr>
          <a:xfrm>
            <a:off x="6265962" y="6100167"/>
            <a:ext cx="8104584" cy="1772126"/>
          </a:xfrm>
          <a:prstGeom prst="roundRect">
            <a:avLst>
              <a:gd name="adj" fmla="val 6600"/>
            </a:avLst>
          </a:prstGeom>
          <a:solidFill>
            <a:srgbClr val="EEEFF5"/>
          </a:solidFill>
          <a:ln/>
          <a:effectLst>
            <a:outerShdw blurRad="31750" dist="15240" dir="13500000" algn="bl" rotWithShape="0">
              <a:srgbClr val="FFFFFF">
                <a:alpha val="70000"/>
              </a:srgbClr>
            </a:outerShdw>
          </a:effectLst>
        </p:spPr>
        <p:txBody>
          <a:bodyPr/>
          <a:lstStyle/>
          <a:p>
            <a:endParaRPr lang="en-US"/>
          </a:p>
        </p:txBody>
      </p:sp>
      <p:sp>
        <p:nvSpPr>
          <p:cNvPr id="37" name="Text 19">
            <a:extLst>
              <a:ext uri="{FF2B5EF4-FFF2-40B4-BE49-F238E27FC236}">
                <a16:creationId xmlns:a16="http://schemas.microsoft.com/office/drawing/2014/main" id="{33F06471-F725-6724-9DF1-9873D38206D9}"/>
              </a:ext>
            </a:extLst>
          </p:cNvPr>
          <p:cNvSpPr/>
          <p:nvPr/>
        </p:nvSpPr>
        <p:spPr>
          <a:xfrm>
            <a:off x="6395859" y="6230064"/>
            <a:ext cx="1709857" cy="21371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650"/>
              </a:lnSpc>
              <a:buNone/>
            </a:pPr>
            <a:r>
              <a:rPr lang="en-US" sz="1300" b="1" dirty="0">
                <a:solidFill>
                  <a:srgbClr val="272525"/>
                </a:solidFill>
                <a:latin typeface="Barlow Bold" pitchFamily="34" charset="0"/>
                <a:ea typeface="Barlow Bold" pitchFamily="34" charset="-122"/>
                <a:cs typeface="Barlow Bold" pitchFamily="34" charset="-120"/>
              </a:rPr>
              <a:t>Other Services</a:t>
            </a:r>
            <a:endParaRPr lang="en-US" sz="1300" dirty="0"/>
          </a:p>
        </p:txBody>
      </p:sp>
      <p:sp>
        <p:nvSpPr>
          <p:cNvPr id="38" name="Text 20">
            <a:extLst>
              <a:ext uri="{FF2B5EF4-FFF2-40B4-BE49-F238E27FC236}">
                <a16:creationId xmlns:a16="http://schemas.microsoft.com/office/drawing/2014/main" id="{12CB0048-0928-E001-100B-CAAE66637B3D}"/>
              </a:ext>
            </a:extLst>
          </p:cNvPr>
          <p:cNvSpPr/>
          <p:nvPr/>
        </p:nvSpPr>
        <p:spPr>
          <a:xfrm>
            <a:off x="6395859" y="6521648"/>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Firebase (Auth, Notifications)</a:t>
            </a:r>
            <a:endParaRPr lang="en-US" sz="1000" dirty="0"/>
          </a:p>
        </p:txBody>
      </p:sp>
      <p:sp>
        <p:nvSpPr>
          <p:cNvPr id="39" name="Text 21">
            <a:extLst>
              <a:ext uri="{FF2B5EF4-FFF2-40B4-BE49-F238E27FC236}">
                <a16:creationId xmlns:a16="http://schemas.microsoft.com/office/drawing/2014/main" id="{1081A634-1E31-5058-C57D-9097BD63F170}"/>
              </a:ext>
            </a:extLst>
          </p:cNvPr>
          <p:cNvSpPr/>
          <p:nvPr/>
        </p:nvSpPr>
        <p:spPr>
          <a:xfrm>
            <a:off x="6395859" y="6774894"/>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WorkManager (Android)</a:t>
            </a:r>
            <a:endParaRPr lang="en-US" sz="1000" dirty="0"/>
          </a:p>
        </p:txBody>
      </p:sp>
      <p:sp>
        <p:nvSpPr>
          <p:cNvPr id="40" name="Text 22">
            <a:extLst>
              <a:ext uri="{FF2B5EF4-FFF2-40B4-BE49-F238E27FC236}">
                <a16:creationId xmlns:a16="http://schemas.microsoft.com/office/drawing/2014/main" id="{E1A9E8FB-2742-8B3F-A6E3-C29941257B7F}"/>
              </a:ext>
            </a:extLst>
          </p:cNvPr>
          <p:cNvSpPr/>
          <p:nvPr/>
        </p:nvSpPr>
        <p:spPr>
          <a:xfrm>
            <a:off x="6395859" y="7028140"/>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BackgroundTasks (iOS)</a:t>
            </a:r>
            <a:endParaRPr lang="en-US" sz="1000" dirty="0"/>
          </a:p>
        </p:txBody>
      </p:sp>
      <p:sp>
        <p:nvSpPr>
          <p:cNvPr id="41" name="Text 23">
            <a:extLst>
              <a:ext uri="{FF2B5EF4-FFF2-40B4-BE49-F238E27FC236}">
                <a16:creationId xmlns:a16="http://schemas.microsoft.com/office/drawing/2014/main" id="{CE914B6D-C1F7-71EC-10E7-12111924DA86}"/>
              </a:ext>
            </a:extLst>
          </p:cNvPr>
          <p:cNvSpPr/>
          <p:nvPr/>
        </p:nvSpPr>
        <p:spPr>
          <a:xfrm>
            <a:off x="6395859" y="7281386"/>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Jest (Testing)</a:t>
            </a:r>
            <a:endParaRPr lang="en-US" sz="1000" dirty="0"/>
          </a:p>
        </p:txBody>
      </p:sp>
      <p:sp>
        <p:nvSpPr>
          <p:cNvPr id="42" name="Text 24">
            <a:extLst>
              <a:ext uri="{FF2B5EF4-FFF2-40B4-BE49-F238E27FC236}">
                <a16:creationId xmlns:a16="http://schemas.microsoft.com/office/drawing/2014/main" id="{C572BD33-F388-F39F-A64B-BC40666F0C47}"/>
              </a:ext>
            </a:extLst>
          </p:cNvPr>
          <p:cNvSpPr/>
          <p:nvPr/>
        </p:nvSpPr>
        <p:spPr>
          <a:xfrm>
            <a:off x="6395859" y="7534632"/>
            <a:ext cx="7844790" cy="207764"/>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600"/>
              </a:lnSpc>
              <a:buSzPct val="100000"/>
              <a:buChar char="•"/>
            </a:pPr>
            <a:r>
              <a:rPr lang="en-US" sz="1000" dirty="0">
                <a:solidFill>
                  <a:srgbClr val="272525"/>
                </a:solidFill>
                <a:latin typeface="Montserrat" pitchFamily="34" charset="0"/>
                <a:ea typeface="Montserrat" pitchFamily="34" charset="-122"/>
                <a:cs typeface="Montserrat" pitchFamily="34" charset="-120"/>
              </a:rPr>
              <a:t>AES-256 Encryption</a:t>
            </a:r>
            <a:endParaRPr lang="en-US" sz="1000" dirty="0"/>
          </a:p>
        </p:txBody>
      </p:sp>
      <p:sp>
        <p:nvSpPr>
          <p:cNvPr id="43" name="Rectangle: Rounded Corners 42">
            <a:extLst>
              <a:ext uri="{FF2B5EF4-FFF2-40B4-BE49-F238E27FC236}">
                <a16:creationId xmlns:a16="http://schemas.microsoft.com/office/drawing/2014/main" id="{D0EE2CDC-1936-4C61-8F22-CF2FC4ABA5E3}"/>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spd="slow">
    <p:push dir="r"/>
  </p:transition>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15909" y="873204"/>
            <a:ext cx="6262449" cy="623530"/>
          </a:xfrm>
          <a:prstGeom prst="rect">
            <a:avLst/>
          </a:prstGeom>
          <a:noFill/>
          <a:ln/>
        </p:spPr>
        <p:txBody>
          <a:bodyPr wrap="none" lIns="0" tIns="0" rIns="0" bIns="0" rtlCol="0" anchor="t"/>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Testing &amp; Evaluation Results</a:t>
            </a:r>
            <a:endParaRPr lang="en-US" sz="3900" dirty="0"/>
          </a:p>
        </p:txBody>
      </p:sp>
      <p:sp>
        <p:nvSpPr>
          <p:cNvPr id="4" name="Text 1"/>
          <p:cNvSpPr/>
          <p:nvPr/>
        </p:nvSpPr>
        <p:spPr>
          <a:xfrm>
            <a:off x="4415909" y="1875830"/>
            <a:ext cx="2994065" cy="625554"/>
          </a:xfrm>
          <a:prstGeom prst="rect">
            <a:avLst/>
          </a:prstGeom>
          <a:noFill/>
          <a:ln/>
        </p:spPr>
        <p:txBody>
          <a:bodyPr wrap="none" lIns="0" tIns="0" rIns="0" bIns="0" rtlCol="0" anchor="t"/>
          <a:lstStyle/>
          <a:p>
            <a:pPr marL="0" indent="0" algn="ctr">
              <a:lnSpc>
                <a:spcPts val="4900"/>
              </a:lnSpc>
              <a:buNone/>
            </a:pPr>
            <a:r>
              <a:rPr lang="en-US" sz="4900" b="1" dirty="0">
                <a:solidFill>
                  <a:srgbClr val="272525"/>
                </a:solidFill>
                <a:latin typeface="Barlow Bold" pitchFamily="34" charset="0"/>
                <a:ea typeface="Barlow Bold" pitchFamily="34" charset="-122"/>
                <a:cs typeface="Barlow Bold" pitchFamily="34" charset="-120"/>
              </a:rPr>
              <a:t>4.2/5</a:t>
            </a:r>
            <a:endParaRPr lang="en-US" sz="4900" dirty="0"/>
          </a:p>
        </p:txBody>
      </p:sp>
      <p:sp>
        <p:nvSpPr>
          <p:cNvPr id="5" name="Text 2"/>
          <p:cNvSpPr/>
          <p:nvPr/>
        </p:nvSpPr>
        <p:spPr>
          <a:xfrm>
            <a:off x="4665702" y="2738318"/>
            <a:ext cx="2494359" cy="311706"/>
          </a:xfrm>
          <a:prstGeom prst="rect">
            <a:avLst/>
          </a:prstGeom>
          <a:noFill/>
          <a:ln/>
        </p:spPr>
        <p:txBody>
          <a:bodyPr wrap="none" lIns="0" tIns="0" rIns="0" bIns="0" rtlCol="0" anchor="t"/>
          <a:lstStyle/>
          <a:p>
            <a:pPr marL="0" indent="0" algn="ctr">
              <a:lnSpc>
                <a:spcPts val="2450"/>
              </a:lnSpc>
              <a:buNone/>
            </a:pPr>
            <a:r>
              <a:rPr lang="en-US" sz="1950" b="1" dirty="0">
                <a:solidFill>
                  <a:srgbClr val="7068F4"/>
                </a:solidFill>
                <a:latin typeface="Barlow Bold" pitchFamily="34" charset="0"/>
                <a:ea typeface="Barlow Bold" pitchFamily="34" charset="-122"/>
                <a:cs typeface="Barlow Bold" pitchFamily="34" charset="-120"/>
              </a:rPr>
              <a:t>Usability Rating</a:t>
            </a:r>
            <a:endParaRPr lang="en-US" sz="1950" dirty="0">
              <a:solidFill>
                <a:srgbClr val="7068F4"/>
              </a:solidFill>
            </a:endParaRPr>
          </a:p>
        </p:txBody>
      </p:sp>
      <p:sp>
        <p:nvSpPr>
          <p:cNvPr id="6" name="Text 3"/>
          <p:cNvSpPr/>
          <p:nvPr/>
        </p:nvSpPr>
        <p:spPr>
          <a:xfrm>
            <a:off x="4415909" y="3163729"/>
            <a:ext cx="2994065" cy="606504"/>
          </a:xfrm>
          <a:prstGeom prst="rect">
            <a:avLst/>
          </a:prstGeom>
          <a:noFill/>
          <a:ln/>
        </p:spPr>
        <p:txBody>
          <a:bodyPr wrap="square" lIns="0" tIns="0" rIns="0" bIns="0" rtlCol="0" anchor="t"/>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From 20 users, appreciating real-time metrics.</a:t>
            </a:r>
            <a:endParaRPr lang="en-US" sz="1450" dirty="0"/>
          </a:p>
        </p:txBody>
      </p:sp>
      <p:sp>
        <p:nvSpPr>
          <p:cNvPr id="7" name="Text 4"/>
          <p:cNvSpPr/>
          <p:nvPr/>
        </p:nvSpPr>
        <p:spPr>
          <a:xfrm>
            <a:off x="7646908" y="1875830"/>
            <a:ext cx="2994065" cy="625554"/>
          </a:xfrm>
          <a:prstGeom prst="rect">
            <a:avLst/>
          </a:prstGeom>
          <a:noFill/>
          <a:ln/>
        </p:spPr>
        <p:txBody>
          <a:bodyPr wrap="none" lIns="0" tIns="0" rIns="0" bIns="0" rtlCol="0" anchor="t"/>
          <a:lstStyle/>
          <a:p>
            <a:pPr marL="0" indent="0" algn="ctr">
              <a:lnSpc>
                <a:spcPts val="4900"/>
              </a:lnSpc>
              <a:buNone/>
            </a:pPr>
            <a:r>
              <a:rPr lang="en-US" sz="4900" b="1" dirty="0">
                <a:solidFill>
                  <a:srgbClr val="272525"/>
                </a:solidFill>
                <a:latin typeface="Barlow Bold" pitchFamily="34" charset="0"/>
                <a:ea typeface="Barlow Bold" pitchFamily="34" charset="-122"/>
                <a:cs typeface="Barlow Bold" pitchFamily="34" charset="-120"/>
              </a:rPr>
              <a:t>2.8%</a:t>
            </a:r>
            <a:endParaRPr lang="en-US" sz="4900" dirty="0"/>
          </a:p>
        </p:txBody>
      </p:sp>
      <p:sp>
        <p:nvSpPr>
          <p:cNvPr id="8" name="Text 5"/>
          <p:cNvSpPr/>
          <p:nvPr/>
        </p:nvSpPr>
        <p:spPr>
          <a:xfrm>
            <a:off x="7896701" y="2738318"/>
            <a:ext cx="2494359" cy="311706"/>
          </a:xfrm>
          <a:prstGeom prst="rect">
            <a:avLst/>
          </a:prstGeom>
          <a:noFill/>
          <a:ln/>
        </p:spPr>
        <p:txBody>
          <a:bodyPr wrap="none" lIns="0" tIns="0" rIns="0" bIns="0" rtlCol="0" anchor="t"/>
          <a:lstStyle/>
          <a:p>
            <a:pPr marL="0" indent="0" algn="ctr">
              <a:lnSpc>
                <a:spcPts val="2450"/>
              </a:lnSpc>
              <a:buNone/>
            </a:pPr>
            <a:r>
              <a:rPr lang="en-US" sz="1950" b="1" dirty="0">
                <a:solidFill>
                  <a:srgbClr val="7068F4"/>
                </a:solidFill>
                <a:latin typeface="Barlow Bold" pitchFamily="34" charset="0"/>
                <a:ea typeface="Barlow Bold" pitchFamily="34" charset="-122"/>
                <a:cs typeface="Barlow Bold" pitchFamily="34" charset="-120"/>
              </a:rPr>
              <a:t>Battery Usage</a:t>
            </a:r>
            <a:endParaRPr lang="en-US" sz="1950" dirty="0">
              <a:solidFill>
                <a:srgbClr val="7068F4"/>
              </a:solidFill>
            </a:endParaRPr>
          </a:p>
        </p:txBody>
      </p:sp>
      <p:sp>
        <p:nvSpPr>
          <p:cNvPr id="9" name="Text 6"/>
          <p:cNvSpPr/>
          <p:nvPr/>
        </p:nvSpPr>
        <p:spPr>
          <a:xfrm>
            <a:off x="7646908" y="3163729"/>
            <a:ext cx="2994065" cy="606504"/>
          </a:xfrm>
          <a:prstGeom prst="rect">
            <a:avLst/>
          </a:prstGeom>
          <a:noFill/>
          <a:ln/>
        </p:spPr>
        <p:txBody>
          <a:bodyPr wrap="square" lIns="0" tIns="0" rIns="0" bIns="0" rtlCol="0" anchor="t"/>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Per hour, well below the 3% target.</a:t>
            </a:r>
            <a:endParaRPr lang="en-US" sz="1450" dirty="0"/>
          </a:p>
        </p:txBody>
      </p:sp>
      <p:sp>
        <p:nvSpPr>
          <p:cNvPr id="10" name="Text 7"/>
          <p:cNvSpPr/>
          <p:nvPr/>
        </p:nvSpPr>
        <p:spPr>
          <a:xfrm>
            <a:off x="10877907" y="1875830"/>
            <a:ext cx="2994184" cy="625554"/>
          </a:xfrm>
          <a:prstGeom prst="rect">
            <a:avLst/>
          </a:prstGeom>
          <a:noFill/>
          <a:ln/>
        </p:spPr>
        <p:txBody>
          <a:bodyPr wrap="none" lIns="0" tIns="0" rIns="0" bIns="0" rtlCol="0" anchor="t"/>
          <a:lstStyle/>
          <a:p>
            <a:pPr marL="0" indent="0" algn="ctr">
              <a:lnSpc>
                <a:spcPts val="4900"/>
              </a:lnSpc>
              <a:buNone/>
            </a:pPr>
            <a:r>
              <a:rPr lang="en-US" sz="4900" b="1" dirty="0">
                <a:solidFill>
                  <a:srgbClr val="272525"/>
                </a:solidFill>
                <a:latin typeface="Barlow Bold" pitchFamily="34" charset="0"/>
                <a:ea typeface="Barlow Bold" pitchFamily="34" charset="-122"/>
                <a:cs typeface="Barlow Bold" pitchFamily="34" charset="-120"/>
              </a:rPr>
              <a:t>95%</a:t>
            </a:r>
            <a:endParaRPr lang="en-US" sz="4900" dirty="0"/>
          </a:p>
        </p:txBody>
      </p:sp>
      <p:sp>
        <p:nvSpPr>
          <p:cNvPr id="11" name="Text 8"/>
          <p:cNvSpPr/>
          <p:nvPr/>
        </p:nvSpPr>
        <p:spPr>
          <a:xfrm>
            <a:off x="11127819" y="2738318"/>
            <a:ext cx="2494359" cy="311706"/>
          </a:xfrm>
          <a:prstGeom prst="rect">
            <a:avLst/>
          </a:prstGeom>
          <a:noFill/>
          <a:ln/>
        </p:spPr>
        <p:txBody>
          <a:bodyPr wrap="none" lIns="0" tIns="0" rIns="0" bIns="0" rtlCol="0" anchor="t"/>
          <a:lstStyle/>
          <a:p>
            <a:pPr marL="0" indent="0" algn="ctr">
              <a:lnSpc>
                <a:spcPts val="2450"/>
              </a:lnSpc>
              <a:buNone/>
            </a:pPr>
            <a:r>
              <a:rPr lang="en-US" sz="1950" b="1" dirty="0">
                <a:solidFill>
                  <a:srgbClr val="7068F4"/>
                </a:solidFill>
                <a:latin typeface="Barlow Bold" pitchFamily="34" charset="0"/>
                <a:ea typeface="Barlow Bold" pitchFamily="34" charset="-122"/>
                <a:cs typeface="Barlow Bold" pitchFamily="34" charset="-120"/>
              </a:rPr>
              <a:t>Code Coverage</a:t>
            </a:r>
            <a:endParaRPr lang="en-US" sz="1950" dirty="0">
              <a:solidFill>
                <a:srgbClr val="7068F4"/>
              </a:solidFill>
            </a:endParaRPr>
          </a:p>
        </p:txBody>
      </p:sp>
      <p:sp>
        <p:nvSpPr>
          <p:cNvPr id="12" name="Text 9"/>
          <p:cNvSpPr/>
          <p:nvPr/>
        </p:nvSpPr>
        <p:spPr>
          <a:xfrm>
            <a:off x="10877907" y="3163729"/>
            <a:ext cx="2994184" cy="606504"/>
          </a:xfrm>
          <a:prstGeom prst="rect">
            <a:avLst/>
          </a:prstGeom>
          <a:noFill/>
          <a:ln/>
        </p:spPr>
        <p:txBody>
          <a:bodyPr wrap="square" lIns="0" tIns="0" rIns="0" bIns="0" rtlCol="0" anchor="t"/>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Achieved in unit testing, ensuring robust functionality.</a:t>
            </a:r>
            <a:endParaRPr lang="en-US" sz="1450" dirty="0"/>
          </a:p>
        </p:txBody>
      </p:sp>
      <p:sp>
        <p:nvSpPr>
          <p:cNvPr id="13" name="Text 10"/>
          <p:cNvSpPr/>
          <p:nvPr/>
        </p:nvSpPr>
        <p:spPr>
          <a:xfrm>
            <a:off x="7646908" y="4338876"/>
            <a:ext cx="2994065" cy="625554"/>
          </a:xfrm>
          <a:prstGeom prst="rect">
            <a:avLst/>
          </a:prstGeom>
          <a:noFill/>
          <a:ln/>
        </p:spPr>
        <p:txBody>
          <a:bodyPr wrap="none" lIns="0" tIns="0" rIns="0" bIns="0" rtlCol="0" anchor="t"/>
          <a:lstStyle/>
          <a:p>
            <a:pPr marL="0" indent="0" algn="ctr">
              <a:lnSpc>
                <a:spcPts val="4900"/>
              </a:lnSpc>
              <a:buNone/>
            </a:pPr>
            <a:r>
              <a:rPr lang="en-US" sz="4900" b="1" dirty="0">
                <a:solidFill>
                  <a:srgbClr val="272525"/>
                </a:solidFill>
                <a:latin typeface="Barlow Bold" pitchFamily="34" charset="0"/>
                <a:ea typeface="Barlow Bold" pitchFamily="34" charset="-122"/>
                <a:cs typeface="Barlow Bold" pitchFamily="34" charset="-120"/>
              </a:rPr>
              <a:t>300ms</a:t>
            </a:r>
            <a:endParaRPr lang="en-US" sz="4900" dirty="0"/>
          </a:p>
        </p:txBody>
      </p:sp>
      <p:sp>
        <p:nvSpPr>
          <p:cNvPr id="14" name="Text 11"/>
          <p:cNvSpPr/>
          <p:nvPr/>
        </p:nvSpPr>
        <p:spPr>
          <a:xfrm>
            <a:off x="7896701" y="5201364"/>
            <a:ext cx="2494359" cy="311706"/>
          </a:xfrm>
          <a:prstGeom prst="rect">
            <a:avLst/>
          </a:prstGeom>
          <a:noFill/>
          <a:ln/>
        </p:spPr>
        <p:txBody>
          <a:bodyPr wrap="none" lIns="0" tIns="0" rIns="0" bIns="0" rtlCol="0" anchor="t"/>
          <a:lstStyle/>
          <a:p>
            <a:pPr marL="0" indent="0" algn="ctr">
              <a:lnSpc>
                <a:spcPts val="2450"/>
              </a:lnSpc>
              <a:buNone/>
            </a:pPr>
            <a:r>
              <a:rPr lang="en-US" sz="1950" b="1" dirty="0">
                <a:solidFill>
                  <a:srgbClr val="7068F4"/>
                </a:solidFill>
                <a:latin typeface="Barlow Bold" pitchFamily="34" charset="0"/>
                <a:ea typeface="Barlow Bold" pitchFamily="34" charset="-122"/>
                <a:cs typeface="Barlow Bold" pitchFamily="34" charset="-120"/>
              </a:rPr>
              <a:t>API Response Time</a:t>
            </a:r>
            <a:endParaRPr lang="en-US" sz="1950" dirty="0">
              <a:solidFill>
                <a:srgbClr val="7068F4"/>
              </a:solidFill>
            </a:endParaRPr>
          </a:p>
        </p:txBody>
      </p:sp>
      <p:sp>
        <p:nvSpPr>
          <p:cNvPr id="15" name="Text 12"/>
          <p:cNvSpPr/>
          <p:nvPr/>
        </p:nvSpPr>
        <p:spPr>
          <a:xfrm>
            <a:off x="7646908" y="5626775"/>
            <a:ext cx="2994065" cy="606504"/>
          </a:xfrm>
          <a:prstGeom prst="rect">
            <a:avLst/>
          </a:prstGeom>
          <a:noFill/>
          <a:ln/>
        </p:spPr>
        <p:txBody>
          <a:bodyPr wrap="square" lIns="0" tIns="0" rIns="0" bIns="0" rtlCol="0" anchor="t"/>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Average, supporting high uptime.</a:t>
            </a:r>
            <a:endParaRPr lang="en-US" sz="1450" dirty="0"/>
          </a:p>
        </p:txBody>
      </p:sp>
      <p:sp>
        <p:nvSpPr>
          <p:cNvPr id="16" name="Text 13"/>
          <p:cNvSpPr/>
          <p:nvPr/>
        </p:nvSpPr>
        <p:spPr>
          <a:xfrm>
            <a:off x="4415909" y="6446520"/>
            <a:ext cx="9456182" cy="909757"/>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All functional requirements (FR-1 to FR-7) were met, with strong performance in real-time monitoring and privacy controls. Non-functional requirements (NFR-1, NFR-2, NFR-4) were fully achieved. User feedback engagement improved after UI simplifications.</a:t>
            </a:r>
            <a:endParaRPr lang="en-US" sz="1450" dirty="0"/>
          </a:p>
        </p:txBody>
      </p:sp>
      <p:sp>
        <p:nvSpPr>
          <p:cNvPr id="17" name="Rectangle: Rounded Corners 16">
            <a:extLst>
              <a:ext uri="{FF2B5EF4-FFF2-40B4-BE49-F238E27FC236}">
                <a16:creationId xmlns:a16="http://schemas.microsoft.com/office/drawing/2014/main" id="{28761145-7A13-DBA2-967F-A46D11C9ADA3}"/>
              </a:ext>
            </a:extLst>
          </p:cNvPr>
          <p:cNvSpPr/>
          <p:nvPr/>
        </p:nvSpPr>
        <p:spPr>
          <a:xfrm>
            <a:off x="12854152" y="7767144"/>
            <a:ext cx="1776248" cy="461265"/>
          </a:xfrm>
          <a:prstGeom prst="roundRect">
            <a:avLst/>
          </a:prstGeom>
          <a:solidFill>
            <a:schemeClr val="accent3">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A9713FB-91BC-3911-E136-B180CCC8CCF8}"/>
              </a:ext>
            </a:extLst>
          </p:cNvPr>
          <p:cNvPicPr>
            <a:picLocks noChangeAspect="1"/>
          </p:cNvPicPr>
          <p:nvPr/>
        </p:nvPicPr>
        <p:blipFill>
          <a:blip r:embed="rId2"/>
          <a:stretch>
            <a:fillRect/>
          </a:stretch>
        </p:blipFill>
        <p:spPr>
          <a:xfrm>
            <a:off x="9144000" y="0"/>
            <a:ext cx="5486400" cy="8229600"/>
          </a:xfrm>
          <a:prstGeom prst="rect">
            <a:avLst/>
          </a:prstGeom>
        </p:spPr>
      </p:pic>
      <p:sp>
        <p:nvSpPr>
          <p:cNvPr id="3" name="Text 0">
            <a:extLst>
              <a:ext uri="{FF2B5EF4-FFF2-40B4-BE49-F238E27FC236}">
                <a16:creationId xmlns:a16="http://schemas.microsoft.com/office/drawing/2014/main" id="{E0C3A8F9-8AC7-634D-A992-827C3961FE9D}"/>
              </a:ext>
            </a:extLst>
          </p:cNvPr>
          <p:cNvSpPr/>
          <p:nvPr/>
        </p:nvSpPr>
        <p:spPr>
          <a:xfrm>
            <a:off x="1494757" y="685562"/>
            <a:ext cx="5686187" cy="6235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900"/>
              </a:lnSpc>
              <a:buNone/>
            </a:pPr>
            <a:r>
              <a:rPr lang="en-US" sz="3900" b="1" dirty="0">
                <a:solidFill>
                  <a:srgbClr val="7068F4"/>
                </a:solidFill>
                <a:latin typeface="Barlow Bold" pitchFamily="34" charset="0"/>
                <a:ea typeface="Barlow Bold" pitchFamily="34" charset="-122"/>
                <a:cs typeface="Barlow Bold" pitchFamily="34" charset="-120"/>
              </a:rPr>
              <a:t>Conclusion &amp; Future Work</a:t>
            </a:r>
            <a:endParaRPr lang="en-US" sz="3900" dirty="0"/>
          </a:p>
        </p:txBody>
      </p:sp>
      <p:sp>
        <p:nvSpPr>
          <p:cNvPr id="4" name="Text 1">
            <a:extLst>
              <a:ext uri="{FF2B5EF4-FFF2-40B4-BE49-F238E27FC236}">
                <a16:creationId xmlns:a16="http://schemas.microsoft.com/office/drawing/2014/main" id="{3A8EA6C3-E673-7D67-77C3-A36D7F806C76}"/>
              </a:ext>
            </a:extLst>
          </p:cNvPr>
          <p:cNvSpPr/>
          <p:nvPr/>
        </p:nvSpPr>
        <p:spPr>
          <a:xfrm>
            <a:off x="652424" y="1580793"/>
            <a:ext cx="7627382" cy="121300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350"/>
              </a:lnSpc>
              <a:buNone/>
            </a:pPr>
            <a:r>
              <a:rPr lang="en-US" sz="1450" dirty="0">
                <a:solidFill>
                  <a:srgbClr val="272525"/>
                </a:solidFill>
                <a:latin typeface="Montserrat" pitchFamily="34" charset="0"/>
                <a:ea typeface="Montserrat" pitchFamily="34" charset="-122"/>
                <a:cs typeface="Montserrat" pitchFamily="34" charset="-120"/>
              </a:rPr>
              <a:t>The "Checkin" app successfully addresses inconsistent mobile network performance in Cameroon by empowering subscribers, operators, and regulators with real-time data. It integrates innovative QoE monitoring with user feedback, utilizing a scalable cross-platform architecture.</a:t>
            </a:r>
            <a:endParaRPr lang="en-US" sz="1450" dirty="0"/>
          </a:p>
        </p:txBody>
      </p:sp>
      <p:pic>
        <p:nvPicPr>
          <p:cNvPr id="5" name="Image 1">
            <a:extLst>
              <a:ext uri="{FF2B5EF4-FFF2-40B4-BE49-F238E27FC236}">
                <a16:creationId xmlns:a16="http://schemas.microsoft.com/office/drawing/2014/main" id="{BA0F7A80-3FB8-3692-E738-32976D12754C}"/>
              </a:ext>
            </a:extLst>
          </p:cNvPr>
          <p:cNvPicPr>
            <a:picLocks noChangeAspect="1"/>
          </p:cNvPicPr>
          <p:nvPr/>
        </p:nvPicPr>
        <p:blipFill>
          <a:blip r:embed="rId3"/>
          <a:stretch>
            <a:fillRect/>
          </a:stretch>
        </p:blipFill>
        <p:spPr>
          <a:xfrm>
            <a:off x="379155" y="3007043"/>
            <a:ext cx="947857" cy="1137404"/>
          </a:xfrm>
          <a:prstGeom prst="rect">
            <a:avLst/>
          </a:prstGeom>
        </p:spPr>
      </p:pic>
      <p:sp>
        <p:nvSpPr>
          <p:cNvPr id="6" name="Text 2">
            <a:extLst>
              <a:ext uri="{FF2B5EF4-FFF2-40B4-BE49-F238E27FC236}">
                <a16:creationId xmlns:a16="http://schemas.microsoft.com/office/drawing/2014/main" id="{DF133D3C-8E7E-6769-0D5A-989603576A6A}"/>
              </a:ext>
            </a:extLst>
          </p:cNvPr>
          <p:cNvSpPr/>
          <p:nvPr/>
        </p:nvSpPr>
        <p:spPr>
          <a:xfrm>
            <a:off x="1516559" y="3196590"/>
            <a:ext cx="2667000"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Boost User Engagement</a:t>
            </a:r>
            <a:endParaRPr lang="en-US" sz="1950" dirty="0"/>
          </a:p>
        </p:txBody>
      </p:sp>
      <p:sp>
        <p:nvSpPr>
          <p:cNvPr id="7" name="Text 3">
            <a:extLst>
              <a:ext uri="{FF2B5EF4-FFF2-40B4-BE49-F238E27FC236}">
                <a16:creationId xmlns:a16="http://schemas.microsoft.com/office/drawing/2014/main" id="{991F9366-5024-0A63-5663-B38969F9550C}"/>
              </a:ext>
            </a:extLst>
          </p:cNvPr>
          <p:cNvSpPr/>
          <p:nvPr/>
        </p:nvSpPr>
        <p:spPr>
          <a:xfrm>
            <a:off x="1516559" y="3622000"/>
            <a:ext cx="6489978"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Introduce incentives and gamification for feedback submission.</a:t>
            </a:r>
            <a:endParaRPr lang="en-US" sz="1450" dirty="0"/>
          </a:p>
        </p:txBody>
      </p:sp>
      <p:pic>
        <p:nvPicPr>
          <p:cNvPr id="8" name="Image 2">
            <a:extLst>
              <a:ext uri="{FF2B5EF4-FFF2-40B4-BE49-F238E27FC236}">
                <a16:creationId xmlns:a16="http://schemas.microsoft.com/office/drawing/2014/main" id="{AEBF32BB-24F6-4258-89BA-B8DB4345DEE4}"/>
              </a:ext>
            </a:extLst>
          </p:cNvPr>
          <p:cNvPicPr>
            <a:picLocks noChangeAspect="1"/>
          </p:cNvPicPr>
          <p:nvPr/>
        </p:nvPicPr>
        <p:blipFill>
          <a:blip r:embed="rId4"/>
          <a:stretch>
            <a:fillRect/>
          </a:stretch>
        </p:blipFill>
        <p:spPr>
          <a:xfrm>
            <a:off x="379155" y="4144447"/>
            <a:ext cx="947857" cy="1137404"/>
          </a:xfrm>
          <a:prstGeom prst="rect">
            <a:avLst/>
          </a:prstGeom>
        </p:spPr>
      </p:pic>
      <p:sp>
        <p:nvSpPr>
          <p:cNvPr id="9" name="Text 4">
            <a:extLst>
              <a:ext uri="{FF2B5EF4-FFF2-40B4-BE49-F238E27FC236}">
                <a16:creationId xmlns:a16="http://schemas.microsoft.com/office/drawing/2014/main" id="{15CB6176-448B-ED66-5E54-8ABB6ECF1BD4}"/>
              </a:ext>
            </a:extLst>
          </p:cNvPr>
          <p:cNvSpPr/>
          <p:nvPr/>
        </p:nvSpPr>
        <p:spPr>
          <a:xfrm>
            <a:off x="1516559" y="4333994"/>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Scale Infrastructure</a:t>
            </a:r>
            <a:endParaRPr lang="en-US" sz="1950" dirty="0"/>
          </a:p>
        </p:txBody>
      </p:sp>
      <p:sp>
        <p:nvSpPr>
          <p:cNvPr id="10" name="Text 5">
            <a:extLst>
              <a:ext uri="{FF2B5EF4-FFF2-40B4-BE49-F238E27FC236}">
                <a16:creationId xmlns:a16="http://schemas.microsoft.com/office/drawing/2014/main" id="{83742097-8D17-999A-67CC-8EB362D9040B}"/>
              </a:ext>
            </a:extLst>
          </p:cNvPr>
          <p:cNvSpPr/>
          <p:nvPr/>
        </p:nvSpPr>
        <p:spPr>
          <a:xfrm>
            <a:off x="1516559" y="4759404"/>
            <a:ext cx="6489978"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Deploy load balancers and auto-scaling for high user loads.</a:t>
            </a:r>
            <a:endParaRPr lang="en-US" sz="1450" dirty="0"/>
          </a:p>
        </p:txBody>
      </p:sp>
      <p:pic>
        <p:nvPicPr>
          <p:cNvPr id="11" name="Image 3">
            <a:extLst>
              <a:ext uri="{FF2B5EF4-FFF2-40B4-BE49-F238E27FC236}">
                <a16:creationId xmlns:a16="http://schemas.microsoft.com/office/drawing/2014/main" id="{FA291166-2F1B-063F-5BAD-663E7DC5592D}"/>
              </a:ext>
            </a:extLst>
          </p:cNvPr>
          <p:cNvPicPr>
            <a:picLocks noChangeAspect="1"/>
          </p:cNvPicPr>
          <p:nvPr/>
        </p:nvPicPr>
        <p:blipFill>
          <a:blip r:embed="rId5"/>
          <a:stretch>
            <a:fillRect/>
          </a:stretch>
        </p:blipFill>
        <p:spPr>
          <a:xfrm>
            <a:off x="379155" y="5281851"/>
            <a:ext cx="947857" cy="1137404"/>
          </a:xfrm>
          <a:prstGeom prst="rect">
            <a:avLst/>
          </a:prstGeom>
        </p:spPr>
      </p:pic>
      <p:sp>
        <p:nvSpPr>
          <p:cNvPr id="12" name="Text 6">
            <a:extLst>
              <a:ext uri="{FF2B5EF4-FFF2-40B4-BE49-F238E27FC236}">
                <a16:creationId xmlns:a16="http://schemas.microsoft.com/office/drawing/2014/main" id="{DC2A21F4-B4AD-5F72-3709-9A518E891A26}"/>
              </a:ext>
            </a:extLst>
          </p:cNvPr>
          <p:cNvSpPr/>
          <p:nvPr/>
        </p:nvSpPr>
        <p:spPr>
          <a:xfrm>
            <a:off x="1516559" y="5471398"/>
            <a:ext cx="249435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Advanced Analytics</a:t>
            </a:r>
            <a:endParaRPr lang="en-US" sz="1950" dirty="0"/>
          </a:p>
        </p:txBody>
      </p:sp>
      <p:sp>
        <p:nvSpPr>
          <p:cNvPr id="13" name="Text 7">
            <a:extLst>
              <a:ext uri="{FF2B5EF4-FFF2-40B4-BE49-F238E27FC236}">
                <a16:creationId xmlns:a16="http://schemas.microsoft.com/office/drawing/2014/main" id="{7BB2D249-3C59-107B-6FE2-A1088B622D8C}"/>
              </a:ext>
            </a:extLst>
          </p:cNvPr>
          <p:cNvSpPr/>
          <p:nvPr/>
        </p:nvSpPr>
        <p:spPr>
          <a:xfrm>
            <a:off x="1516559" y="5896808"/>
            <a:ext cx="6489978"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Integrate machine learning for predictive network issue detection.</a:t>
            </a:r>
            <a:endParaRPr lang="en-US" sz="1450" dirty="0"/>
          </a:p>
        </p:txBody>
      </p:sp>
      <p:pic>
        <p:nvPicPr>
          <p:cNvPr id="14" name="Image 4">
            <a:extLst>
              <a:ext uri="{FF2B5EF4-FFF2-40B4-BE49-F238E27FC236}">
                <a16:creationId xmlns:a16="http://schemas.microsoft.com/office/drawing/2014/main" id="{65CFDDA1-088C-AE45-F2D6-94E4FC17C65B}"/>
              </a:ext>
            </a:extLst>
          </p:cNvPr>
          <p:cNvPicPr>
            <a:picLocks noChangeAspect="1"/>
          </p:cNvPicPr>
          <p:nvPr/>
        </p:nvPicPr>
        <p:blipFill>
          <a:blip r:embed="rId6"/>
          <a:stretch>
            <a:fillRect/>
          </a:stretch>
        </p:blipFill>
        <p:spPr>
          <a:xfrm>
            <a:off x="379155" y="6419255"/>
            <a:ext cx="947857" cy="1137404"/>
          </a:xfrm>
          <a:prstGeom prst="rect">
            <a:avLst/>
          </a:prstGeom>
        </p:spPr>
      </p:pic>
      <p:sp>
        <p:nvSpPr>
          <p:cNvPr id="15" name="Text 8">
            <a:extLst>
              <a:ext uri="{FF2B5EF4-FFF2-40B4-BE49-F238E27FC236}">
                <a16:creationId xmlns:a16="http://schemas.microsoft.com/office/drawing/2014/main" id="{19EDD9D0-6366-6B14-9087-BB14C8E40D00}"/>
              </a:ext>
            </a:extLst>
          </p:cNvPr>
          <p:cNvSpPr/>
          <p:nvPr/>
        </p:nvSpPr>
        <p:spPr>
          <a:xfrm>
            <a:off x="1516559" y="6608802"/>
            <a:ext cx="2698909" cy="31170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50"/>
              </a:lnSpc>
              <a:buNone/>
            </a:pPr>
            <a:r>
              <a:rPr lang="en-US" sz="1950" b="1" dirty="0">
                <a:solidFill>
                  <a:srgbClr val="272525"/>
                </a:solidFill>
                <a:latin typeface="Barlow Bold" pitchFamily="34" charset="0"/>
                <a:ea typeface="Barlow Bold" pitchFamily="34" charset="-122"/>
                <a:cs typeface="Barlow Bold" pitchFamily="34" charset="-120"/>
              </a:rPr>
              <a:t>Commercial Deployment</a:t>
            </a:r>
            <a:endParaRPr lang="en-US" sz="1950" dirty="0"/>
          </a:p>
        </p:txBody>
      </p:sp>
      <p:sp>
        <p:nvSpPr>
          <p:cNvPr id="16" name="Text 9">
            <a:extLst>
              <a:ext uri="{FF2B5EF4-FFF2-40B4-BE49-F238E27FC236}">
                <a16:creationId xmlns:a16="http://schemas.microsoft.com/office/drawing/2014/main" id="{E6887F44-FD66-F90F-5819-EA66BC925478}"/>
              </a:ext>
            </a:extLst>
          </p:cNvPr>
          <p:cNvSpPr/>
          <p:nvPr/>
        </p:nvSpPr>
        <p:spPr>
          <a:xfrm>
            <a:off x="1516559" y="7034213"/>
            <a:ext cx="6489978" cy="30325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50"/>
              </a:lnSpc>
              <a:buNone/>
            </a:pPr>
            <a:r>
              <a:rPr lang="en-US" sz="1450" dirty="0">
                <a:solidFill>
                  <a:srgbClr val="272525"/>
                </a:solidFill>
                <a:latin typeface="Montserrat" pitchFamily="34" charset="0"/>
                <a:ea typeface="Montserrat" pitchFamily="34" charset="-122"/>
                <a:cs typeface="Montserrat" pitchFamily="34" charset="-120"/>
              </a:rPr>
              <a:t>Partner with operators or regulators for nationwide rollout.</a:t>
            </a:r>
            <a:endParaRPr lang="en-US" sz="1450" dirty="0"/>
          </a:p>
        </p:txBody>
      </p:sp>
    </p:spTree>
    <p:extLst>
      <p:ext uri="{BB962C8B-B14F-4D97-AF65-F5344CB8AC3E}">
        <p14:creationId xmlns:p14="http://schemas.microsoft.com/office/powerpoint/2010/main" val="133162225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1074</Words>
  <Application>Microsoft Office PowerPoint</Application>
  <PresentationFormat>Custom</PresentationFormat>
  <Paragraphs>122</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Montserrat</vt:lpstr>
      <vt:lpstr>Barlow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jorel Angel</cp:lastModifiedBy>
  <cp:revision>4</cp:revision>
  <dcterms:created xsi:type="dcterms:W3CDTF">2025-06-29T20:17:10Z</dcterms:created>
  <dcterms:modified xsi:type="dcterms:W3CDTF">2025-06-29T21:55:34Z</dcterms:modified>
</cp:coreProperties>
</file>