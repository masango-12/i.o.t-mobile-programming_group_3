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5"/>
  </p:notesMasterIdLst>
  <p:sldIdLst>
    <p:sldId id="264" r:id="rId3"/>
    <p:sldId id="256" r:id="rId4"/>
    <p:sldId id="257" r:id="rId6"/>
    <p:sldId id="258" r:id="rId7"/>
    <p:sldId id="259" r:id="rId8"/>
    <p:sldId id="260" r:id="rId9"/>
    <p:sldId id="265" r:id="rId10"/>
    <p:sldId id="261" r:id="rId11"/>
    <p:sldId id="262" r:id="rId12"/>
    <p:sldId id="263" r:id="rId13"/>
    <p:sldId id="266" r:id="rId14"/>
  </p:sldIdLst>
  <p:sldSz cx="14630400" cy="8229600"/>
  <p:notesSz cx="8229600" cy="14630400"/>
  <p:embeddedFontLst>
    <p:embeddedFont>
      <p:font typeface="Outfit Extra Bold" pitchFamily="34" charset="0"/>
      <p:regular r:id="rId18"/>
    </p:embeddedFont>
    <p:embeddedFont>
      <p:font typeface="Outfit Extra Bold" pitchFamily="34" charset="-122"/>
      <p:regular r:id="rId19"/>
    </p:embeddedFont>
    <p:embeddedFont>
      <p:font typeface="Outfit Extra Bold" pitchFamily="34" charset="-120"/>
      <p:regular r:id="rId20"/>
    </p:embeddedFont>
    <p:embeddedFont>
      <p:font typeface="Arimo" panose="020B0604020202020204" pitchFamily="34" charset="0"/>
      <p:bold r:id="rId21"/>
    </p:embeddedFont>
    <p:embeddedFont>
      <p:font typeface="Arimo" panose="020B0604020202020204" pitchFamily="34" charset="-122"/>
      <p:bold r:id="rId22"/>
    </p:embeddedFont>
    <p:embeddedFont>
      <p:font typeface="Arimo" panose="020B0604020202020204" pitchFamily="34" charset="-120"/>
      <p:bold r:id="rId23"/>
    </p:embeddedFont>
    <p:embeddedFont>
      <p:font typeface="Calibri" panose="020F0502020204030204" charset="0"/>
      <p:regular r:id="rId24"/>
      <p:bold r:id="rId25"/>
      <p:italic r:id="rId26"/>
      <p:boldItalic r:id="rId2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3197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font" Target="fonts/font10.fntdata"/><Relationship Id="rId26" Type="http://schemas.openxmlformats.org/officeDocument/2006/relationships/font" Target="fonts/font9.fntdata"/><Relationship Id="rId25" Type="http://schemas.openxmlformats.org/officeDocument/2006/relationships/font" Target="fonts/font8.fntdata"/><Relationship Id="rId24" Type="http://schemas.openxmlformats.org/officeDocument/2006/relationships/font" Target="fonts/font7.fntdata"/><Relationship Id="rId23" Type="http://schemas.openxmlformats.org/officeDocument/2006/relationships/font" Target="fonts/font6.fntdata"/><Relationship Id="rId22" Type="http://schemas.openxmlformats.org/officeDocument/2006/relationships/font" Target="fonts/font5.fntdata"/><Relationship Id="rId21" Type="http://schemas.openxmlformats.org/officeDocument/2006/relationships/font" Target="fonts/font4.fntdata"/><Relationship Id="rId20" Type="http://schemas.openxmlformats.org/officeDocument/2006/relationships/font" Target="fonts/font3.fntdata"/><Relationship Id="rId2" Type="http://schemas.openxmlformats.org/officeDocument/2006/relationships/theme" Target="theme/theme1.xml"/><Relationship Id="rId19" Type="http://schemas.openxmlformats.org/officeDocument/2006/relationships/font" Target="fonts/font2.fntdata"/><Relationship Id="rId18" Type="http://schemas.openxmlformats.org/officeDocument/2006/relationships/font" Target="fonts/font1.fntdata"/><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5.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5.png"/><Relationship Id="rId1" Type="http://schemas.openxmlformats.org/officeDocument/2006/relationships/image" Target="../media/image14.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nvSpPr>
        <p:spPr>
          <a:xfrm>
            <a:off x="464185" y="676275"/>
            <a:ext cx="8640445" cy="1573530"/>
          </a:xfrm>
          <a:prstGeom prst="rect">
            <a:avLst/>
          </a:prstGeom>
          <a:noFill/>
          <a:ln w="9525">
            <a:noFill/>
          </a:ln>
        </p:spPr>
        <p:txBody>
          <a:bodyPr anchor="ctr" anchorCtr="0"/>
          <a:lstStyle>
            <a:lvl1pPr algn="l" rtl="0" fontAlgn="base">
              <a:spcBef>
                <a:spcPct val="0"/>
              </a:spcBef>
              <a:spcAft>
                <a:spcPct val="0"/>
              </a:spcAft>
              <a:defRPr sz="432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pPr algn="ctr"/>
            <a:r>
              <a:rPr lang="en-US" sz="4800" b="1" dirty="0">
                <a:solidFill>
                  <a:srgbClr val="231971"/>
                </a:solidFill>
                <a:latin typeface="Outfit Extra Bold" pitchFamily="34" charset="0"/>
                <a:ea typeface="Outfit Extra Bold" pitchFamily="34" charset="-122"/>
                <a:cs typeface="Outfit Extra Bold" pitchFamily="34" charset="-120"/>
                <a:sym typeface="+mn-ea"/>
              </a:rPr>
              <a:t>Database Design and Implementation</a:t>
            </a:r>
            <a:endParaRPr lang="en-US" sz="4800" b="1">
              <a:latin typeface="Times New Roman" panose="02020603050405020304" charset="0"/>
              <a:cs typeface="Times New Roman" panose="02020603050405020304" charset="0"/>
            </a:endParaRPr>
          </a:p>
        </p:txBody>
      </p:sp>
      <p:sp>
        <p:nvSpPr>
          <p:cNvPr id="3" name="Text Box 2"/>
          <p:cNvSpPr txBox="1"/>
          <p:nvPr/>
        </p:nvSpPr>
        <p:spPr>
          <a:xfrm>
            <a:off x="464185" y="6725285"/>
            <a:ext cx="4876800" cy="967740"/>
          </a:xfrm>
          <a:prstGeom prst="rect">
            <a:avLst/>
          </a:prstGeom>
          <a:noFill/>
        </p:spPr>
        <p:txBody>
          <a:bodyPr wrap="square" rtlCol="0">
            <a:noAutofit/>
          </a:bodyPr>
          <a:p>
            <a:r>
              <a:rPr lang="en-US" sz="2000" b="1">
                <a:solidFill>
                  <a:srgbClr val="231971"/>
                </a:solidFill>
                <a:latin typeface="Times New Roman" panose="02020603050405020304" charset="0"/>
                <a:cs typeface="Times New Roman" panose="02020603050405020304" charset="0"/>
              </a:rPr>
              <a:t>CEF440 - Internet &amp; Mobile Programming </a:t>
            </a:r>
            <a:endParaRPr lang="en-US" sz="2000" b="1">
              <a:solidFill>
                <a:srgbClr val="231971"/>
              </a:solidFill>
              <a:latin typeface="Times New Roman" panose="02020603050405020304" charset="0"/>
              <a:cs typeface="Times New Roman" panose="02020603050405020304" charset="0"/>
            </a:endParaRPr>
          </a:p>
          <a:p>
            <a:endParaRPr lang="en-US" sz="2000" b="1">
              <a:solidFill>
                <a:srgbClr val="231971"/>
              </a:solidFill>
              <a:latin typeface="Times New Roman" panose="02020603050405020304" charset="0"/>
              <a:cs typeface="Times New Roman" panose="02020603050405020304" charset="0"/>
            </a:endParaRPr>
          </a:p>
          <a:p>
            <a:r>
              <a:rPr lang="en-US" sz="2000" b="1">
                <a:solidFill>
                  <a:srgbClr val="231971"/>
                </a:solidFill>
                <a:latin typeface="Times New Roman" panose="02020603050405020304" charset="0"/>
                <a:cs typeface="Times New Roman" panose="02020603050405020304" charset="0"/>
              </a:rPr>
              <a:t>Instructor - Dr Valery Nkemeni</a:t>
            </a:r>
            <a:endParaRPr lang="en-US" sz="2000" b="1">
              <a:solidFill>
                <a:srgbClr val="231971"/>
              </a:solidFill>
              <a:latin typeface="Times New Roman" panose="02020603050405020304" charset="0"/>
              <a:cs typeface="Times New Roman" panose="02020603050405020304" charset="0"/>
            </a:endParaRPr>
          </a:p>
        </p:txBody>
      </p:sp>
      <p:sp>
        <p:nvSpPr>
          <p:cNvPr id="4" name="Text Box 3"/>
          <p:cNvSpPr txBox="1"/>
          <p:nvPr/>
        </p:nvSpPr>
        <p:spPr>
          <a:xfrm>
            <a:off x="2438400" y="3283585"/>
            <a:ext cx="4876800" cy="2210435"/>
          </a:xfrm>
          <a:prstGeom prst="rect">
            <a:avLst/>
          </a:prstGeom>
          <a:noFill/>
        </p:spPr>
        <p:txBody>
          <a:bodyPr wrap="square" rtlCol="0">
            <a:noAutofit/>
          </a:bodyPr>
          <a:p>
            <a:pPr algn="ctr"/>
            <a:r>
              <a:rPr lang="en-US" sz="4400" b="1">
                <a:solidFill>
                  <a:srgbClr val="231971"/>
                </a:solidFill>
                <a:latin typeface="Times New Roman" panose="02020603050405020304" charset="0"/>
                <a:cs typeface="Times New Roman" panose="02020603050405020304" charset="0"/>
              </a:rPr>
              <a:t>Presentation By </a:t>
            </a:r>
            <a:endParaRPr lang="en-US" sz="4400" b="1">
              <a:solidFill>
                <a:srgbClr val="231971"/>
              </a:solidFill>
              <a:latin typeface="Times New Roman" panose="02020603050405020304" charset="0"/>
              <a:cs typeface="Times New Roman" panose="02020603050405020304" charset="0"/>
            </a:endParaRPr>
          </a:p>
          <a:p>
            <a:pPr algn="ctr"/>
            <a:endParaRPr lang="en-US" sz="4400" b="1">
              <a:solidFill>
                <a:srgbClr val="231971"/>
              </a:solidFill>
              <a:latin typeface="Times New Roman" panose="02020603050405020304" charset="0"/>
              <a:cs typeface="Times New Roman" panose="02020603050405020304" charset="0"/>
            </a:endParaRPr>
          </a:p>
          <a:p>
            <a:pPr algn="ctr"/>
            <a:r>
              <a:rPr lang="en-US" sz="4400" b="1">
                <a:solidFill>
                  <a:srgbClr val="231971"/>
                </a:solidFill>
                <a:latin typeface="Times New Roman" panose="02020603050405020304" charset="0"/>
                <a:cs typeface="Times New Roman" panose="02020603050405020304" charset="0"/>
              </a:rPr>
              <a:t>GROUP 3</a:t>
            </a:r>
            <a:endParaRPr lang="en-US" sz="4400" b="1">
              <a:solidFill>
                <a:srgbClr val="231971"/>
              </a:solidFill>
              <a:latin typeface="Times New Roman" panose="02020603050405020304" charset="0"/>
              <a:cs typeface="Times New Roman" panose="02020603050405020304" charset="0"/>
            </a:endParaRPr>
          </a:p>
        </p:txBody>
      </p:sp>
      <p:sp>
        <p:nvSpPr>
          <p:cNvPr id="5" name="Text Box 4"/>
          <p:cNvSpPr txBox="1"/>
          <p:nvPr/>
        </p:nvSpPr>
        <p:spPr>
          <a:xfrm>
            <a:off x="6134100" y="7324725"/>
            <a:ext cx="2970530" cy="368300"/>
          </a:xfrm>
          <a:prstGeom prst="rect">
            <a:avLst/>
          </a:prstGeom>
          <a:noFill/>
        </p:spPr>
        <p:txBody>
          <a:bodyPr wrap="square" rtlCol="0">
            <a:spAutoFit/>
          </a:bodyPr>
          <a:p>
            <a:r>
              <a:rPr lang="en-US" b="1">
                <a:solidFill>
                  <a:srgbClr val="231971"/>
                </a:solidFill>
                <a:latin typeface="Times New Roman" panose="02020603050405020304" charset="0"/>
                <a:cs typeface="Times New Roman" panose="02020603050405020304" charset="0"/>
              </a:rPr>
              <a:t>Academic Year: 2024/2025</a:t>
            </a:r>
            <a:endParaRPr lang="en-US" b="1">
              <a:solidFill>
                <a:srgbClr val="231971"/>
              </a:solidFill>
              <a:latin typeface="Times New Roman" panose="02020603050405020304" charset="0"/>
              <a:cs typeface="Times New Roman" panose="02020603050405020304" charset="0"/>
            </a:endParaRPr>
          </a:p>
        </p:txBody>
      </p:sp>
      <p:pic>
        <p:nvPicPr>
          <p:cNvPr id="6" name="Picture 5" descr="istockphoto-1660763957-612x612"/>
          <p:cNvPicPr>
            <a:picLocks noChangeAspect="1"/>
          </p:cNvPicPr>
          <p:nvPr/>
        </p:nvPicPr>
        <p:blipFill>
          <a:blip r:embed="rId1"/>
          <a:stretch>
            <a:fillRect/>
          </a:stretch>
        </p:blipFill>
        <p:spPr>
          <a:xfrm>
            <a:off x="9483725" y="0"/>
            <a:ext cx="5146675" cy="82238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50" y="1830070"/>
            <a:ext cx="7556500" cy="1005840"/>
          </a:xfrm>
          <a:prstGeom prst="rect">
            <a:avLst/>
          </a:prstGeom>
          <a:noFill/>
        </p:spPr>
        <p:txBody>
          <a:bodyPr wrap="square" lIns="0" tIns="0" rIns="0" bIns="0" rtlCol="0" anchor="t"/>
          <a:lstStyle/>
          <a:p>
            <a:pPr marL="0" indent="0" algn="l">
              <a:lnSpc>
                <a:spcPts val="5550"/>
              </a:lnSpc>
              <a:buNone/>
            </a:pPr>
            <a:r>
              <a:rPr lang="en-US" sz="4450" b="1" dirty="0">
                <a:solidFill>
                  <a:srgbClr val="231971"/>
                </a:solidFill>
                <a:latin typeface="Outfit Extra Bold" pitchFamily="34" charset="0"/>
                <a:ea typeface="Outfit Extra Bold" pitchFamily="34" charset="-122"/>
                <a:cs typeface="Outfit Extra Bold" pitchFamily="34" charset="-120"/>
              </a:rPr>
              <a:t>Introduction</a:t>
            </a:r>
            <a:endParaRPr lang="en-US" sz="4450" dirty="0"/>
          </a:p>
        </p:txBody>
      </p:sp>
      <p:sp>
        <p:nvSpPr>
          <p:cNvPr id="4" name="Text 1"/>
          <p:cNvSpPr/>
          <p:nvPr/>
        </p:nvSpPr>
        <p:spPr>
          <a:xfrm>
            <a:off x="604560" y="3552666"/>
            <a:ext cx="7556421" cy="1451610"/>
          </a:xfrm>
          <a:prstGeom prst="rect">
            <a:avLst/>
          </a:prstGeom>
          <a:noFill/>
        </p:spPr>
        <p:txBody>
          <a:bodyPr wrap="square" lIns="0" tIns="0" rIns="0" bIns="0" rtlCol="0" anchor="t"/>
          <a:lstStyle/>
          <a:p>
            <a:pPr marL="0" indent="0" algn="l">
              <a:lnSpc>
                <a:spcPts val="2850"/>
              </a:lnSpc>
              <a:buNone/>
            </a:pPr>
            <a:r>
              <a:rPr lang="en-US" sz="1750" dirty="0">
                <a:solidFill>
                  <a:srgbClr val="2A2742"/>
                </a:solidFill>
                <a:latin typeface="Arimo" panose="020B0604020202020204" pitchFamily="34" charset="0"/>
                <a:ea typeface="Arimo" panose="020B0604020202020204" pitchFamily="34" charset="-122"/>
                <a:cs typeface="Arimo" panose="020B0604020202020204" pitchFamily="34" charset="-120"/>
              </a:rPr>
              <a:t>This presentation outlines the data elements, conceptual design, and Entity-Relationship Diagram (ERD) for the "Checkin" mobile network monitoring application. We will also cover the database implementation using MongoDB and the backend API design.</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87348" y="541020"/>
            <a:ext cx="6901101" cy="613767"/>
          </a:xfrm>
          <a:prstGeom prst="rect">
            <a:avLst/>
          </a:prstGeom>
          <a:noFill/>
        </p:spPr>
        <p:txBody>
          <a:bodyPr wrap="none" lIns="0" tIns="0" rIns="0" bIns="0" rtlCol="0" anchor="t"/>
          <a:lstStyle/>
          <a:p>
            <a:pPr marL="0" indent="0" algn="l">
              <a:lnSpc>
                <a:spcPts val="4800"/>
              </a:lnSpc>
              <a:buNone/>
            </a:pPr>
            <a:r>
              <a:rPr lang="en-US" sz="3850" b="1" dirty="0">
                <a:solidFill>
                  <a:srgbClr val="231971"/>
                </a:solidFill>
                <a:latin typeface="Outfit Extra Bold" pitchFamily="34" charset="0"/>
                <a:ea typeface="Outfit Extra Bold" pitchFamily="34" charset="-122"/>
                <a:cs typeface="Outfit Extra Bold" pitchFamily="34" charset="-120"/>
              </a:rPr>
              <a:t>Understanding Data Elements</a:t>
            </a:r>
            <a:endParaRPr lang="en-US" sz="3850" dirty="0"/>
          </a:p>
        </p:txBody>
      </p:sp>
      <p:sp>
        <p:nvSpPr>
          <p:cNvPr id="3" name="Text 1"/>
          <p:cNvSpPr/>
          <p:nvPr/>
        </p:nvSpPr>
        <p:spPr>
          <a:xfrm>
            <a:off x="687348" y="1547574"/>
            <a:ext cx="13255704" cy="628650"/>
          </a:xfrm>
          <a:prstGeom prst="rect">
            <a:avLst/>
          </a:prstGeom>
          <a:noFill/>
        </p:spPr>
        <p:txBody>
          <a:bodyPr wrap="square" lIns="0" tIns="0" rIns="0" bIns="0" rtlCol="0" anchor="t"/>
          <a:lstStyle/>
          <a:p>
            <a:pPr marL="0" indent="0" algn="l">
              <a:lnSpc>
                <a:spcPts val="2450"/>
              </a:lnSpc>
              <a:buNone/>
            </a:pPr>
            <a:r>
              <a:rPr lang="en-US" sz="1500" dirty="0">
                <a:solidFill>
                  <a:srgbClr val="2A2742"/>
                </a:solidFill>
                <a:latin typeface="Arimo" panose="020B0604020202020204" pitchFamily="34" charset="0"/>
                <a:ea typeface="Arimo" panose="020B0604020202020204" pitchFamily="34" charset="-122"/>
                <a:cs typeface="Arimo" panose="020B0604020202020204" pitchFamily="34" charset="-120"/>
              </a:rPr>
              <a:t>Data elements are the fundamental units of data, each with a defined meaning and structure. They represent a single piece of information, such as a name, age, or phone number. Each element typically has a name, a data type (e.g., String, Integer), and specific constraints (e.g., unique, not null).</a:t>
            </a:r>
            <a:endParaRPr lang="en-US" sz="1500" dirty="0"/>
          </a:p>
        </p:txBody>
      </p:sp>
      <p:sp>
        <p:nvSpPr>
          <p:cNvPr id="4" name="Shape 2"/>
          <p:cNvSpPr/>
          <p:nvPr/>
        </p:nvSpPr>
        <p:spPr>
          <a:xfrm>
            <a:off x="687348" y="2397085"/>
            <a:ext cx="4287679" cy="5291376"/>
          </a:xfrm>
          <a:prstGeom prst="roundRect">
            <a:avLst>
              <a:gd name="adj" fmla="val 1924"/>
            </a:avLst>
          </a:prstGeom>
          <a:solidFill>
            <a:srgbClr val="E9E6FA"/>
          </a:solidFill>
          <a:ln w="7620">
            <a:solidFill>
              <a:srgbClr val="BDB8DF"/>
            </a:solidFill>
            <a:prstDash val="solid"/>
          </a:ln>
        </p:spPr>
      </p:sp>
      <p:sp>
        <p:nvSpPr>
          <p:cNvPr id="5" name="Text 3"/>
          <p:cNvSpPr/>
          <p:nvPr/>
        </p:nvSpPr>
        <p:spPr>
          <a:xfrm>
            <a:off x="891302" y="2601039"/>
            <a:ext cx="2454950" cy="306824"/>
          </a:xfrm>
          <a:prstGeom prst="rect">
            <a:avLst/>
          </a:prstGeom>
          <a:noFill/>
        </p:spPr>
        <p:txBody>
          <a:bodyPr wrap="none" lIns="0" tIns="0" rIns="0" bIns="0" rtlCol="0" anchor="t"/>
          <a:lstStyle/>
          <a:p>
            <a:pPr marL="0" indent="0" algn="l">
              <a:lnSpc>
                <a:spcPts val="2400"/>
              </a:lnSpc>
              <a:buNone/>
            </a:pPr>
            <a:r>
              <a:rPr lang="en-US" sz="1900" b="1" dirty="0">
                <a:solidFill>
                  <a:srgbClr val="2A2742"/>
                </a:solidFill>
                <a:latin typeface="Outfit Extra Bold" pitchFamily="34" charset="0"/>
                <a:ea typeface="Outfit Extra Bold" pitchFamily="34" charset="-122"/>
                <a:cs typeface="Outfit Extra Bold" pitchFamily="34" charset="-120"/>
              </a:rPr>
              <a:t>User Data</a:t>
            </a:r>
            <a:endParaRPr lang="en-US" sz="1900" dirty="0"/>
          </a:p>
        </p:txBody>
      </p:sp>
      <p:sp>
        <p:nvSpPr>
          <p:cNvPr id="6" name="Text 4"/>
          <p:cNvSpPr/>
          <p:nvPr/>
        </p:nvSpPr>
        <p:spPr>
          <a:xfrm>
            <a:off x="891302" y="3025616"/>
            <a:ext cx="3879771" cy="314325"/>
          </a:xfrm>
          <a:prstGeom prst="rect">
            <a:avLst/>
          </a:prstGeom>
          <a:noFill/>
        </p:spPr>
        <p:txBody>
          <a:bodyPr wrap="none" lIns="0" tIns="0" rIns="0" bIns="0" rtlCol="0" anchor="t"/>
          <a:lstStyle/>
          <a:p>
            <a:pPr marL="342900" indent="-342900" algn="l">
              <a:lnSpc>
                <a:spcPts val="2450"/>
              </a:lnSpc>
              <a:buSzPct val="100000"/>
              <a:buChar char="•"/>
            </a:pPr>
            <a:r>
              <a:rPr lang="en-US" sz="1500" dirty="0">
                <a:solidFill>
                  <a:srgbClr val="2A2742"/>
                </a:solidFill>
                <a:latin typeface="Arimo" panose="020B0604020202020204" pitchFamily="34" charset="0"/>
                <a:ea typeface="Arimo" panose="020B0604020202020204" pitchFamily="34" charset="-122"/>
                <a:cs typeface="Arimo" panose="020B0604020202020204" pitchFamily="34" charset="-120"/>
              </a:rPr>
              <a:t>user_id (PK): Unique identifier</a:t>
            </a:r>
            <a:endParaRPr lang="en-US" sz="1500" dirty="0"/>
          </a:p>
        </p:txBody>
      </p:sp>
      <p:sp>
        <p:nvSpPr>
          <p:cNvPr id="7" name="Text 5"/>
          <p:cNvSpPr/>
          <p:nvPr/>
        </p:nvSpPr>
        <p:spPr>
          <a:xfrm>
            <a:off x="891302" y="3408640"/>
            <a:ext cx="3879771" cy="314325"/>
          </a:xfrm>
          <a:prstGeom prst="rect">
            <a:avLst/>
          </a:prstGeom>
          <a:noFill/>
        </p:spPr>
        <p:txBody>
          <a:bodyPr wrap="none" lIns="0" tIns="0" rIns="0" bIns="0" rtlCol="0" anchor="t"/>
          <a:lstStyle/>
          <a:p>
            <a:pPr marL="342900" indent="-342900" algn="l">
              <a:lnSpc>
                <a:spcPts val="2450"/>
              </a:lnSpc>
              <a:buSzPct val="100000"/>
              <a:buChar char="•"/>
            </a:pPr>
            <a:r>
              <a:rPr lang="en-US" sz="1500" dirty="0">
                <a:solidFill>
                  <a:srgbClr val="2A2742"/>
                </a:solidFill>
                <a:latin typeface="Arimo" panose="020B0604020202020204" pitchFamily="34" charset="0"/>
                <a:ea typeface="Arimo" panose="020B0604020202020204" pitchFamily="34" charset="-122"/>
                <a:cs typeface="Arimo" panose="020B0604020202020204" pitchFamily="34" charset="-120"/>
              </a:rPr>
              <a:t>username: String (50 chars)</a:t>
            </a:r>
            <a:endParaRPr lang="en-US" sz="1500" dirty="0"/>
          </a:p>
        </p:txBody>
      </p:sp>
      <p:sp>
        <p:nvSpPr>
          <p:cNvPr id="8" name="Text 6"/>
          <p:cNvSpPr/>
          <p:nvPr/>
        </p:nvSpPr>
        <p:spPr>
          <a:xfrm>
            <a:off x="891302" y="3791664"/>
            <a:ext cx="3879771" cy="314325"/>
          </a:xfrm>
          <a:prstGeom prst="rect">
            <a:avLst/>
          </a:prstGeom>
          <a:noFill/>
        </p:spPr>
        <p:txBody>
          <a:bodyPr wrap="none" lIns="0" tIns="0" rIns="0" bIns="0" rtlCol="0" anchor="t"/>
          <a:lstStyle/>
          <a:p>
            <a:pPr marL="342900" indent="-342900" algn="l">
              <a:lnSpc>
                <a:spcPts val="2450"/>
              </a:lnSpc>
              <a:buSzPct val="100000"/>
              <a:buChar char="•"/>
            </a:pPr>
            <a:r>
              <a:rPr lang="en-US" sz="1500" dirty="0">
                <a:solidFill>
                  <a:srgbClr val="2A2742"/>
                </a:solidFill>
                <a:latin typeface="Arimo" panose="020B0604020202020204" pitchFamily="34" charset="0"/>
                <a:ea typeface="Arimo" panose="020B0604020202020204" pitchFamily="34" charset="-122"/>
                <a:cs typeface="Arimo" panose="020B0604020202020204" pitchFamily="34" charset="-120"/>
              </a:rPr>
              <a:t>email: String (100 chars), validated</a:t>
            </a:r>
            <a:endParaRPr lang="en-US" sz="1500" dirty="0"/>
          </a:p>
        </p:txBody>
      </p:sp>
      <p:sp>
        <p:nvSpPr>
          <p:cNvPr id="9" name="Text 7"/>
          <p:cNvSpPr/>
          <p:nvPr/>
        </p:nvSpPr>
        <p:spPr>
          <a:xfrm>
            <a:off x="891302" y="4174688"/>
            <a:ext cx="3879771" cy="314325"/>
          </a:xfrm>
          <a:prstGeom prst="rect">
            <a:avLst/>
          </a:prstGeom>
          <a:noFill/>
        </p:spPr>
        <p:txBody>
          <a:bodyPr wrap="none" lIns="0" tIns="0" rIns="0" bIns="0" rtlCol="0" anchor="t"/>
          <a:lstStyle/>
          <a:p>
            <a:pPr marL="342900" indent="-342900" algn="l">
              <a:lnSpc>
                <a:spcPts val="2450"/>
              </a:lnSpc>
              <a:buSzPct val="100000"/>
              <a:buChar char="•"/>
            </a:pPr>
            <a:r>
              <a:rPr lang="en-US" sz="1500" dirty="0">
                <a:solidFill>
                  <a:srgbClr val="2A2742"/>
                </a:solidFill>
                <a:latin typeface="Arimo" panose="020B0604020202020204" pitchFamily="34" charset="0"/>
                <a:ea typeface="Arimo" panose="020B0604020202020204" pitchFamily="34" charset="-122"/>
                <a:cs typeface="Arimo" panose="020B0604020202020204" pitchFamily="34" charset="-120"/>
              </a:rPr>
              <a:t>password_hash: String (hashed)</a:t>
            </a:r>
            <a:endParaRPr lang="en-US" sz="1500" dirty="0"/>
          </a:p>
        </p:txBody>
      </p:sp>
      <p:sp>
        <p:nvSpPr>
          <p:cNvPr id="10" name="Text 8"/>
          <p:cNvSpPr/>
          <p:nvPr/>
        </p:nvSpPr>
        <p:spPr>
          <a:xfrm>
            <a:off x="891302" y="4557713"/>
            <a:ext cx="3879771" cy="314325"/>
          </a:xfrm>
          <a:prstGeom prst="rect">
            <a:avLst/>
          </a:prstGeom>
          <a:noFill/>
        </p:spPr>
        <p:txBody>
          <a:bodyPr wrap="none" lIns="0" tIns="0" rIns="0" bIns="0" rtlCol="0" anchor="t"/>
          <a:lstStyle/>
          <a:p>
            <a:pPr marL="342900" indent="-342900" algn="l">
              <a:lnSpc>
                <a:spcPts val="2450"/>
              </a:lnSpc>
              <a:buSzPct val="100000"/>
              <a:buChar char="•"/>
            </a:pPr>
            <a:r>
              <a:rPr lang="en-US" sz="1500" dirty="0">
                <a:solidFill>
                  <a:srgbClr val="2A2742"/>
                </a:solidFill>
                <a:latin typeface="Arimo" panose="020B0604020202020204" pitchFamily="34" charset="0"/>
                <a:ea typeface="Arimo" panose="020B0604020202020204" pitchFamily="34" charset="-122"/>
                <a:cs typeface="Arimo" panose="020B0604020202020204" pitchFamily="34" charset="-120"/>
              </a:rPr>
              <a:t>preferred_language: Enum ('en', 'fr')</a:t>
            </a:r>
            <a:endParaRPr lang="en-US" sz="1500" dirty="0"/>
          </a:p>
        </p:txBody>
      </p:sp>
      <p:sp>
        <p:nvSpPr>
          <p:cNvPr id="11" name="Text 9"/>
          <p:cNvSpPr/>
          <p:nvPr/>
        </p:nvSpPr>
        <p:spPr>
          <a:xfrm>
            <a:off x="891302" y="4940737"/>
            <a:ext cx="3879771" cy="314325"/>
          </a:xfrm>
          <a:prstGeom prst="rect">
            <a:avLst/>
          </a:prstGeom>
          <a:noFill/>
        </p:spPr>
        <p:txBody>
          <a:bodyPr wrap="none" lIns="0" tIns="0" rIns="0" bIns="0" rtlCol="0" anchor="t"/>
          <a:lstStyle/>
          <a:p>
            <a:pPr marL="342900" indent="-342900" algn="l">
              <a:lnSpc>
                <a:spcPts val="2450"/>
              </a:lnSpc>
              <a:buSzPct val="100000"/>
              <a:buChar char="•"/>
            </a:pPr>
            <a:r>
              <a:rPr lang="en-US" sz="1500" dirty="0">
                <a:solidFill>
                  <a:srgbClr val="2A2742"/>
                </a:solidFill>
                <a:latin typeface="Arimo" panose="020B0604020202020204" pitchFamily="34" charset="0"/>
                <a:ea typeface="Arimo" panose="020B0604020202020204" pitchFamily="34" charset="-122"/>
                <a:cs typeface="Arimo" panose="020B0604020202020204" pitchFamily="34" charset="-120"/>
              </a:rPr>
              <a:t>notification_preferences: Boolean</a:t>
            </a:r>
            <a:endParaRPr lang="en-US" sz="1500" dirty="0"/>
          </a:p>
        </p:txBody>
      </p:sp>
      <p:sp>
        <p:nvSpPr>
          <p:cNvPr id="12" name="Text 10"/>
          <p:cNvSpPr/>
          <p:nvPr/>
        </p:nvSpPr>
        <p:spPr>
          <a:xfrm>
            <a:off x="891302" y="5323761"/>
            <a:ext cx="3879771" cy="314325"/>
          </a:xfrm>
          <a:prstGeom prst="rect">
            <a:avLst/>
          </a:prstGeom>
          <a:noFill/>
        </p:spPr>
        <p:txBody>
          <a:bodyPr wrap="none" lIns="0" tIns="0" rIns="0" bIns="0" rtlCol="0" anchor="t"/>
          <a:lstStyle/>
          <a:p>
            <a:pPr marL="342900" indent="-342900" algn="l">
              <a:lnSpc>
                <a:spcPts val="2450"/>
              </a:lnSpc>
              <a:buSzPct val="100000"/>
              <a:buChar char="•"/>
            </a:pPr>
            <a:r>
              <a:rPr lang="en-US" sz="1500" dirty="0">
                <a:solidFill>
                  <a:srgbClr val="2A2742"/>
                </a:solidFill>
                <a:latin typeface="Arimo" panose="020B0604020202020204" pitchFamily="34" charset="0"/>
                <a:ea typeface="Arimo" panose="020B0604020202020204" pitchFamily="34" charset="-122"/>
                <a:cs typeface="Arimo" panose="020B0604020202020204" pitchFamily="34" charset="-120"/>
              </a:rPr>
              <a:t>data_sharing_preferences: Boolean</a:t>
            </a:r>
            <a:endParaRPr lang="en-US" sz="1500" dirty="0"/>
          </a:p>
        </p:txBody>
      </p:sp>
      <p:sp>
        <p:nvSpPr>
          <p:cNvPr id="13" name="Text 11"/>
          <p:cNvSpPr/>
          <p:nvPr/>
        </p:nvSpPr>
        <p:spPr>
          <a:xfrm>
            <a:off x="891302" y="5706785"/>
            <a:ext cx="3879771" cy="314325"/>
          </a:xfrm>
          <a:prstGeom prst="rect">
            <a:avLst/>
          </a:prstGeom>
          <a:noFill/>
        </p:spPr>
        <p:txBody>
          <a:bodyPr wrap="none" lIns="0" tIns="0" rIns="0" bIns="0" rtlCol="0" anchor="t"/>
          <a:lstStyle/>
          <a:p>
            <a:pPr marL="342900" indent="-342900" algn="l">
              <a:lnSpc>
                <a:spcPts val="2450"/>
              </a:lnSpc>
              <a:buSzPct val="100000"/>
              <a:buChar char="•"/>
            </a:pPr>
            <a:r>
              <a:rPr lang="en-US" sz="1500" dirty="0">
                <a:solidFill>
                  <a:srgbClr val="2A2742"/>
                </a:solidFill>
                <a:latin typeface="Arimo" panose="020B0604020202020204" pitchFamily="34" charset="0"/>
                <a:ea typeface="Arimo" panose="020B0604020202020204" pitchFamily="34" charset="-122"/>
                <a:cs typeface="Arimo" panose="020B0604020202020204" pitchFamily="34" charset="-120"/>
              </a:rPr>
              <a:t>created_at: Timestamp</a:t>
            </a:r>
            <a:endParaRPr lang="en-US" sz="1500" dirty="0"/>
          </a:p>
        </p:txBody>
      </p:sp>
      <p:sp>
        <p:nvSpPr>
          <p:cNvPr id="14" name="Text 12"/>
          <p:cNvSpPr/>
          <p:nvPr/>
        </p:nvSpPr>
        <p:spPr>
          <a:xfrm>
            <a:off x="891302" y="6089809"/>
            <a:ext cx="3879771" cy="314325"/>
          </a:xfrm>
          <a:prstGeom prst="rect">
            <a:avLst/>
          </a:prstGeom>
          <a:noFill/>
        </p:spPr>
        <p:txBody>
          <a:bodyPr wrap="none" lIns="0" tIns="0" rIns="0" bIns="0" rtlCol="0" anchor="t"/>
          <a:lstStyle/>
          <a:p>
            <a:pPr marL="342900" indent="-342900" algn="l">
              <a:lnSpc>
                <a:spcPts val="2450"/>
              </a:lnSpc>
              <a:buSzPct val="100000"/>
              <a:buChar char="•"/>
            </a:pPr>
            <a:r>
              <a:rPr lang="en-US" sz="1500" dirty="0">
                <a:solidFill>
                  <a:srgbClr val="2A2742"/>
                </a:solidFill>
                <a:latin typeface="Arimo" panose="020B0604020202020204" pitchFamily="34" charset="0"/>
                <a:ea typeface="Arimo" panose="020B0604020202020204" pitchFamily="34" charset="-122"/>
                <a:cs typeface="Arimo" panose="020B0604020202020204" pitchFamily="34" charset="-120"/>
              </a:rPr>
              <a:t>last_login: Timestamp</a:t>
            </a:r>
            <a:endParaRPr lang="en-US" sz="1500" dirty="0"/>
          </a:p>
        </p:txBody>
      </p:sp>
      <p:sp>
        <p:nvSpPr>
          <p:cNvPr id="15" name="Shape 13"/>
          <p:cNvSpPr/>
          <p:nvPr/>
        </p:nvSpPr>
        <p:spPr>
          <a:xfrm>
            <a:off x="5171361" y="2397085"/>
            <a:ext cx="4287679" cy="5291376"/>
          </a:xfrm>
          <a:prstGeom prst="roundRect">
            <a:avLst>
              <a:gd name="adj" fmla="val 1924"/>
            </a:avLst>
          </a:prstGeom>
          <a:solidFill>
            <a:srgbClr val="E9E6FA"/>
          </a:solidFill>
          <a:ln w="7620">
            <a:solidFill>
              <a:srgbClr val="BDB8DF"/>
            </a:solidFill>
            <a:prstDash val="solid"/>
          </a:ln>
        </p:spPr>
      </p:sp>
      <p:sp>
        <p:nvSpPr>
          <p:cNvPr id="16" name="Text 14"/>
          <p:cNvSpPr/>
          <p:nvPr/>
        </p:nvSpPr>
        <p:spPr>
          <a:xfrm>
            <a:off x="5375315" y="2601039"/>
            <a:ext cx="2454950" cy="306824"/>
          </a:xfrm>
          <a:prstGeom prst="rect">
            <a:avLst/>
          </a:prstGeom>
          <a:noFill/>
        </p:spPr>
        <p:txBody>
          <a:bodyPr wrap="none" lIns="0" tIns="0" rIns="0" bIns="0" rtlCol="0" anchor="t"/>
          <a:lstStyle/>
          <a:p>
            <a:pPr marL="0" indent="0" algn="l">
              <a:lnSpc>
                <a:spcPts val="2400"/>
              </a:lnSpc>
              <a:buNone/>
            </a:pPr>
            <a:r>
              <a:rPr lang="en-US" sz="1900" b="1" dirty="0">
                <a:solidFill>
                  <a:srgbClr val="2A2742"/>
                </a:solidFill>
                <a:latin typeface="Outfit Extra Bold" pitchFamily="34" charset="0"/>
                <a:ea typeface="Outfit Extra Bold" pitchFamily="34" charset="-122"/>
                <a:cs typeface="Outfit Extra Bold" pitchFamily="34" charset="-120"/>
              </a:rPr>
              <a:t>Network Metrics</a:t>
            </a:r>
            <a:endParaRPr lang="en-US" sz="1900" dirty="0"/>
          </a:p>
        </p:txBody>
      </p:sp>
      <p:sp>
        <p:nvSpPr>
          <p:cNvPr id="17" name="Text 15"/>
          <p:cNvSpPr/>
          <p:nvPr/>
        </p:nvSpPr>
        <p:spPr>
          <a:xfrm>
            <a:off x="5375315" y="3025616"/>
            <a:ext cx="3879771" cy="314325"/>
          </a:xfrm>
          <a:prstGeom prst="rect">
            <a:avLst/>
          </a:prstGeom>
          <a:noFill/>
        </p:spPr>
        <p:txBody>
          <a:bodyPr wrap="none" lIns="0" tIns="0" rIns="0" bIns="0" rtlCol="0" anchor="t"/>
          <a:lstStyle/>
          <a:p>
            <a:pPr marL="342900" indent="-342900" algn="l">
              <a:lnSpc>
                <a:spcPts val="2450"/>
              </a:lnSpc>
              <a:buSzPct val="100000"/>
              <a:buChar char="•"/>
            </a:pPr>
            <a:r>
              <a:rPr lang="en-US" sz="1500" dirty="0">
                <a:solidFill>
                  <a:srgbClr val="2A2742"/>
                </a:solidFill>
                <a:latin typeface="Arimo" panose="020B0604020202020204" pitchFamily="34" charset="0"/>
                <a:ea typeface="Arimo" panose="020B0604020202020204" pitchFamily="34" charset="-122"/>
                <a:cs typeface="Arimo" panose="020B0604020202020204" pitchFamily="34" charset="-120"/>
              </a:rPr>
              <a:t>metric_id (PK): Unique identifier</a:t>
            </a:r>
            <a:endParaRPr lang="en-US" sz="1500" dirty="0"/>
          </a:p>
        </p:txBody>
      </p:sp>
      <p:sp>
        <p:nvSpPr>
          <p:cNvPr id="18" name="Text 16"/>
          <p:cNvSpPr/>
          <p:nvPr/>
        </p:nvSpPr>
        <p:spPr>
          <a:xfrm>
            <a:off x="5375315" y="3408640"/>
            <a:ext cx="3879771" cy="314325"/>
          </a:xfrm>
          <a:prstGeom prst="rect">
            <a:avLst/>
          </a:prstGeom>
          <a:noFill/>
        </p:spPr>
        <p:txBody>
          <a:bodyPr wrap="none" lIns="0" tIns="0" rIns="0" bIns="0" rtlCol="0" anchor="t"/>
          <a:lstStyle/>
          <a:p>
            <a:pPr marL="342900" indent="-342900" algn="l">
              <a:lnSpc>
                <a:spcPts val="2450"/>
              </a:lnSpc>
              <a:buSzPct val="100000"/>
              <a:buChar char="•"/>
            </a:pPr>
            <a:r>
              <a:rPr lang="en-US" sz="1500" dirty="0">
                <a:solidFill>
                  <a:srgbClr val="2A2742"/>
                </a:solidFill>
                <a:latin typeface="Arimo" panose="020B0604020202020204" pitchFamily="34" charset="0"/>
                <a:ea typeface="Arimo" panose="020B0604020202020204" pitchFamily="34" charset="-122"/>
                <a:cs typeface="Arimo" panose="020B0604020202020204" pitchFamily="34" charset="-120"/>
              </a:rPr>
              <a:t>user_id (FK): References User</a:t>
            </a:r>
            <a:endParaRPr lang="en-US" sz="1500" dirty="0"/>
          </a:p>
        </p:txBody>
      </p:sp>
      <p:sp>
        <p:nvSpPr>
          <p:cNvPr id="19" name="Text 17"/>
          <p:cNvSpPr/>
          <p:nvPr/>
        </p:nvSpPr>
        <p:spPr>
          <a:xfrm>
            <a:off x="5375315" y="3791664"/>
            <a:ext cx="3879771" cy="314325"/>
          </a:xfrm>
          <a:prstGeom prst="rect">
            <a:avLst/>
          </a:prstGeom>
          <a:noFill/>
        </p:spPr>
        <p:txBody>
          <a:bodyPr wrap="none" lIns="0" tIns="0" rIns="0" bIns="0" rtlCol="0" anchor="t"/>
          <a:lstStyle/>
          <a:p>
            <a:pPr marL="342900" indent="-342900" algn="l">
              <a:lnSpc>
                <a:spcPts val="2450"/>
              </a:lnSpc>
              <a:buSzPct val="100000"/>
              <a:buChar char="•"/>
            </a:pPr>
            <a:r>
              <a:rPr lang="en-US" sz="1500" dirty="0">
                <a:solidFill>
                  <a:srgbClr val="2A2742"/>
                </a:solidFill>
                <a:latin typeface="Arimo" panose="020B0604020202020204" pitchFamily="34" charset="0"/>
                <a:ea typeface="Arimo" panose="020B0604020202020204" pitchFamily="34" charset="-122"/>
                <a:cs typeface="Arimo" panose="020B0604020202020204" pitchFamily="34" charset="-120"/>
              </a:rPr>
              <a:t>download_speed: Float (Mbps)</a:t>
            </a:r>
            <a:endParaRPr lang="en-US" sz="1500" dirty="0"/>
          </a:p>
        </p:txBody>
      </p:sp>
      <p:sp>
        <p:nvSpPr>
          <p:cNvPr id="20" name="Text 18"/>
          <p:cNvSpPr/>
          <p:nvPr/>
        </p:nvSpPr>
        <p:spPr>
          <a:xfrm>
            <a:off x="5375315" y="4174688"/>
            <a:ext cx="3879771" cy="314325"/>
          </a:xfrm>
          <a:prstGeom prst="rect">
            <a:avLst/>
          </a:prstGeom>
          <a:noFill/>
        </p:spPr>
        <p:txBody>
          <a:bodyPr wrap="none" lIns="0" tIns="0" rIns="0" bIns="0" rtlCol="0" anchor="t"/>
          <a:lstStyle/>
          <a:p>
            <a:pPr marL="342900" indent="-342900" algn="l">
              <a:lnSpc>
                <a:spcPts val="2450"/>
              </a:lnSpc>
              <a:buSzPct val="100000"/>
              <a:buChar char="•"/>
            </a:pPr>
            <a:r>
              <a:rPr lang="en-US" sz="1500" dirty="0">
                <a:solidFill>
                  <a:srgbClr val="2A2742"/>
                </a:solidFill>
                <a:latin typeface="Arimo" panose="020B0604020202020204" pitchFamily="34" charset="0"/>
                <a:ea typeface="Arimo" panose="020B0604020202020204" pitchFamily="34" charset="-122"/>
                <a:cs typeface="Arimo" panose="020B0604020202020204" pitchFamily="34" charset="-120"/>
              </a:rPr>
              <a:t>upload_speed: Float (Mbps)</a:t>
            </a:r>
            <a:endParaRPr lang="en-US" sz="1500" dirty="0"/>
          </a:p>
        </p:txBody>
      </p:sp>
      <p:sp>
        <p:nvSpPr>
          <p:cNvPr id="21" name="Text 19"/>
          <p:cNvSpPr/>
          <p:nvPr/>
        </p:nvSpPr>
        <p:spPr>
          <a:xfrm>
            <a:off x="5375315" y="4557713"/>
            <a:ext cx="3879771" cy="314325"/>
          </a:xfrm>
          <a:prstGeom prst="rect">
            <a:avLst/>
          </a:prstGeom>
          <a:noFill/>
        </p:spPr>
        <p:txBody>
          <a:bodyPr wrap="none" lIns="0" tIns="0" rIns="0" bIns="0" rtlCol="0" anchor="t"/>
          <a:lstStyle/>
          <a:p>
            <a:pPr marL="342900" indent="-342900" algn="l">
              <a:lnSpc>
                <a:spcPts val="2450"/>
              </a:lnSpc>
              <a:buSzPct val="100000"/>
              <a:buChar char="•"/>
            </a:pPr>
            <a:r>
              <a:rPr lang="en-US" sz="1500" dirty="0">
                <a:solidFill>
                  <a:srgbClr val="2A2742"/>
                </a:solidFill>
                <a:latin typeface="Arimo" panose="020B0604020202020204" pitchFamily="34" charset="0"/>
                <a:ea typeface="Arimo" panose="020B0604020202020204" pitchFamily="34" charset="-122"/>
                <a:cs typeface="Arimo" panose="020B0604020202020204" pitchFamily="34" charset="-120"/>
              </a:rPr>
              <a:t>latency: Integer (ms)</a:t>
            </a:r>
            <a:endParaRPr lang="en-US" sz="1500" dirty="0"/>
          </a:p>
        </p:txBody>
      </p:sp>
      <p:sp>
        <p:nvSpPr>
          <p:cNvPr id="22" name="Text 20"/>
          <p:cNvSpPr/>
          <p:nvPr/>
        </p:nvSpPr>
        <p:spPr>
          <a:xfrm>
            <a:off x="5375315" y="4940737"/>
            <a:ext cx="3879771" cy="314325"/>
          </a:xfrm>
          <a:prstGeom prst="rect">
            <a:avLst/>
          </a:prstGeom>
          <a:noFill/>
        </p:spPr>
        <p:txBody>
          <a:bodyPr wrap="none" lIns="0" tIns="0" rIns="0" bIns="0" rtlCol="0" anchor="t"/>
          <a:lstStyle/>
          <a:p>
            <a:pPr marL="342900" indent="-342900" algn="l">
              <a:lnSpc>
                <a:spcPts val="2450"/>
              </a:lnSpc>
              <a:buSzPct val="100000"/>
              <a:buChar char="•"/>
            </a:pPr>
            <a:r>
              <a:rPr lang="en-US" sz="1500" dirty="0">
                <a:solidFill>
                  <a:srgbClr val="2A2742"/>
                </a:solidFill>
                <a:latin typeface="Arimo" panose="020B0604020202020204" pitchFamily="34" charset="0"/>
                <a:ea typeface="Arimo" panose="020B0604020202020204" pitchFamily="34" charset="-122"/>
                <a:cs typeface="Arimo" panose="020B0604020202020204" pitchFamily="34" charset="-120"/>
              </a:rPr>
              <a:t>signal_strength: Integer (dBm)</a:t>
            </a:r>
            <a:endParaRPr lang="en-US" sz="1500" dirty="0"/>
          </a:p>
        </p:txBody>
      </p:sp>
      <p:sp>
        <p:nvSpPr>
          <p:cNvPr id="23" name="Text 21"/>
          <p:cNvSpPr/>
          <p:nvPr/>
        </p:nvSpPr>
        <p:spPr>
          <a:xfrm>
            <a:off x="5375315" y="5323761"/>
            <a:ext cx="3879771" cy="628650"/>
          </a:xfrm>
          <a:prstGeom prst="rect">
            <a:avLst/>
          </a:prstGeom>
          <a:noFill/>
        </p:spPr>
        <p:txBody>
          <a:bodyPr wrap="square" lIns="0" tIns="0" rIns="0" bIns="0" rtlCol="0" anchor="t"/>
          <a:lstStyle/>
          <a:p>
            <a:pPr marL="342900" indent="-342900" algn="l">
              <a:lnSpc>
                <a:spcPts val="2450"/>
              </a:lnSpc>
              <a:buSzPct val="100000"/>
              <a:buChar char="•"/>
            </a:pPr>
            <a:r>
              <a:rPr lang="en-US" sz="1500" dirty="0">
                <a:solidFill>
                  <a:srgbClr val="2A2742"/>
                </a:solidFill>
                <a:latin typeface="Arimo" panose="020B0604020202020204" pitchFamily="34" charset="0"/>
                <a:ea typeface="Arimo" panose="020B0604020202020204" pitchFamily="34" charset="-122"/>
                <a:cs typeface="Arimo" panose="020B0604020202020204" pitchFamily="34" charset="-120"/>
              </a:rPr>
              <a:t>network_type: Enum ('2G', '3G', '4G', '5G', 'WiFi')</a:t>
            </a:r>
            <a:endParaRPr lang="en-US" sz="1500" dirty="0"/>
          </a:p>
        </p:txBody>
      </p:sp>
      <p:sp>
        <p:nvSpPr>
          <p:cNvPr id="24" name="Text 22"/>
          <p:cNvSpPr/>
          <p:nvPr/>
        </p:nvSpPr>
        <p:spPr>
          <a:xfrm>
            <a:off x="5375315" y="6021110"/>
            <a:ext cx="3879771" cy="314325"/>
          </a:xfrm>
          <a:prstGeom prst="rect">
            <a:avLst/>
          </a:prstGeom>
          <a:noFill/>
        </p:spPr>
        <p:txBody>
          <a:bodyPr wrap="none" lIns="0" tIns="0" rIns="0" bIns="0" rtlCol="0" anchor="t"/>
          <a:lstStyle/>
          <a:p>
            <a:pPr marL="342900" indent="-342900" algn="l">
              <a:lnSpc>
                <a:spcPts val="2450"/>
              </a:lnSpc>
              <a:buSzPct val="100000"/>
              <a:buChar char="•"/>
            </a:pPr>
            <a:r>
              <a:rPr lang="en-US" sz="1500" dirty="0">
                <a:solidFill>
                  <a:srgbClr val="2A2742"/>
                </a:solidFill>
                <a:latin typeface="Arimo" panose="020B0604020202020204" pitchFamily="34" charset="0"/>
                <a:ea typeface="Arimo" panose="020B0604020202020204" pitchFamily="34" charset="-122"/>
                <a:cs typeface="Arimo" panose="020B0604020202020204" pitchFamily="34" charset="-120"/>
              </a:rPr>
              <a:t>carrier: String (50 chars)</a:t>
            </a:r>
            <a:endParaRPr lang="en-US" sz="1500" dirty="0"/>
          </a:p>
        </p:txBody>
      </p:sp>
      <p:sp>
        <p:nvSpPr>
          <p:cNvPr id="25" name="Text 23"/>
          <p:cNvSpPr/>
          <p:nvPr/>
        </p:nvSpPr>
        <p:spPr>
          <a:xfrm>
            <a:off x="5375315" y="6404134"/>
            <a:ext cx="3879771" cy="314325"/>
          </a:xfrm>
          <a:prstGeom prst="rect">
            <a:avLst/>
          </a:prstGeom>
          <a:noFill/>
        </p:spPr>
        <p:txBody>
          <a:bodyPr wrap="none" lIns="0" tIns="0" rIns="0" bIns="0" rtlCol="0" anchor="t"/>
          <a:lstStyle/>
          <a:p>
            <a:pPr marL="342900" indent="-342900" algn="l">
              <a:lnSpc>
                <a:spcPts val="2450"/>
              </a:lnSpc>
              <a:buSzPct val="100000"/>
              <a:buChar char="•"/>
            </a:pPr>
            <a:r>
              <a:rPr lang="en-US" sz="1500" dirty="0">
                <a:solidFill>
                  <a:srgbClr val="2A2742"/>
                </a:solidFill>
                <a:latin typeface="Arimo" panose="020B0604020202020204" pitchFamily="34" charset="0"/>
                <a:ea typeface="Arimo" panose="020B0604020202020204" pitchFamily="34" charset="-122"/>
                <a:cs typeface="Arimo" panose="020B0604020202020204" pitchFamily="34" charset="-120"/>
              </a:rPr>
              <a:t>location_latitude: Float (nullable)</a:t>
            </a:r>
            <a:endParaRPr lang="en-US" sz="1500" dirty="0"/>
          </a:p>
        </p:txBody>
      </p:sp>
      <p:sp>
        <p:nvSpPr>
          <p:cNvPr id="26" name="Text 24"/>
          <p:cNvSpPr/>
          <p:nvPr/>
        </p:nvSpPr>
        <p:spPr>
          <a:xfrm>
            <a:off x="5375315" y="6787158"/>
            <a:ext cx="3879771" cy="314325"/>
          </a:xfrm>
          <a:prstGeom prst="rect">
            <a:avLst/>
          </a:prstGeom>
          <a:noFill/>
        </p:spPr>
        <p:txBody>
          <a:bodyPr wrap="none" lIns="0" tIns="0" rIns="0" bIns="0" rtlCol="0" anchor="t"/>
          <a:lstStyle/>
          <a:p>
            <a:pPr marL="342900" indent="-342900" algn="l">
              <a:lnSpc>
                <a:spcPts val="2450"/>
              </a:lnSpc>
              <a:buSzPct val="100000"/>
              <a:buChar char="•"/>
            </a:pPr>
            <a:r>
              <a:rPr lang="en-US" sz="1500" dirty="0">
                <a:solidFill>
                  <a:srgbClr val="2A2742"/>
                </a:solidFill>
                <a:latin typeface="Arimo" panose="020B0604020202020204" pitchFamily="34" charset="0"/>
                <a:ea typeface="Arimo" panose="020B0604020202020204" pitchFamily="34" charset="-122"/>
                <a:cs typeface="Arimo" panose="020B0604020202020204" pitchFamily="34" charset="-120"/>
              </a:rPr>
              <a:t>location_longitude: Float (nullable)</a:t>
            </a:r>
            <a:endParaRPr lang="en-US" sz="1500" dirty="0"/>
          </a:p>
        </p:txBody>
      </p:sp>
      <p:sp>
        <p:nvSpPr>
          <p:cNvPr id="27" name="Text 25"/>
          <p:cNvSpPr/>
          <p:nvPr/>
        </p:nvSpPr>
        <p:spPr>
          <a:xfrm>
            <a:off x="5375315" y="7170182"/>
            <a:ext cx="3879771" cy="314325"/>
          </a:xfrm>
          <a:prstGeom prst="rect">
            <a:avLst/>
          </a:prstGeom>
          <a:noFill/>
        </p:spPr>
        <p:txBody>
          <a:bodyPr wrap="none" lIns="0" tIns="0" rIns="0" bIns="0" rtlCol="0" anchor="t"/>
          <a:lstStyle/>
          <a:p>
            <a:pPr marL="342900" indent="-342900" algn="l">
              <a:lnSpc>
                <a:spcPts val="2450"/>
              </a:lnSpc>
              <a:buSzPct val="100000"/>
              <a:buChar char="•"/>
            </a:pPr>
            <a:r>
              <a:rPr lang="en-US" sz="1500" dirty="0">
                <a:solidFill>
                  <a:srgbClr val="2A2742"/>
                </a:solidFill>
                <a:latin typeface="Arimo" panose="020B0604020202020204" pitchFamily="34" charset="0"/>
                <a:ea typeface="Arimo" panose="020B0604020202020204" pitchFamily="34" charset="-122"/>
                <a:cs typeface="Arimo" panose="020B0604020202020204" pitchFamily="34" charset="-120"/>
              </a:rPr>
              <a:t>timestamp: Timestamp</a:t>
            </a:r>
            <a:endParaRPr lang="en-US" sz="1500" dirty="0"/>
          </a:p>
        </p:txBody>
      </p:sp>
      <p:sp>
        <p:nvSpPr>
          <p:cNvPr id="28" name="Shape 26"/>
          <p:cNvSpPr/>
          <p:nvPr/>
        </p:nvSpPr>
        <p:spPr>
          <a:xfrm>
            <a:off x="9655373" y="2397085"/>
            <a:ext cx="4287679" cy="5291376"/>
          </a:xfrm>
          <a:prstGeom prst="roundRect">
            <a:avLst>
              <a:gd name="adj" fmla="val 1924"/>
            </a:avLst>
          </a:prstGeom>
          <a:solidFill>
            <a:srgbClr val="E9E6FA"/>
          </a:solidFill>
          <a:ln w="7620">
            <a:solidFill>
              <a:srgbClr val="BDB8DF"/>
            </a:solidFill>
            <a:prstDash val="solid"/>
          </a:ln>
        </p:spPr>
      </p:sp>
      <p:sp>
        <p:nvSpPr>
          <p:cNvPr id="29" name="Text 27"/>
          <p:cNvSpPr/>
          <p:nvPr/>
        </p:nvSpPr>
        <p:spPr>
          <a:xfrm>
            <a:off x="9859328" y="2601039"/>
            <a:ext cx="2454950" cy="306824"/>
          </a:xfrm>
          <a:prstGeom prst="rect">
            <a:avLst/>
          </a:prstGeom>
          <a:noFill/>
        </p:spPr>
        <p:txBody>
          <a:bodyPr wrap="none" lIns="0" tIns="0" rIns="0" bIns="0" rtlCol="0" anchor="t"/>
          <a:lstStyle/>
          <a:p>
            <a:pPr marL="0" indent="0" algn="l">
              <a:lnSpc>
                <a:spcPts val="2400"/>
              </a:lnSpc>
              <a:buNone/>
            </a:pPr>
            <a:r>
              <a:rPr lang="en-US" sz="1900" b="1" dirty="0">
                <a:solidFill>
                  <a:srgbClr val="2A2742"/>
                </a:solidFill>
                <a:latin typeface="Outfit Extra Bold" pitchFamily="34" charset="0"/>
                <a:ea typeface="Outfit Extra Bold" pitchFamily="34" charset="-122"/>
                <a:cs typeface="Outfit Extra Bold" pitchFamily="34" charset="-120"/>
              </a:rPr>
              <a:t>Feedback Reports</a:t>
            </a:r>
            <a:endParaRPr lang="en-US" sz="1900" dirty="0"/>
          </a:p>
        </p:txBody>
      </p:sp>
      <p:sp>
        <p:nvSpPr>
          <p:cNvPr id="30" name="Text 28"/>
          <p:cNvSpPr/>
          <p:nvPr/>
        </p:nvSpPr>
        <p:spPr>
          <a:xfrm>
            <a:off x="9859328" y="3025616"/>
            <a:ext cx="3879771" cy="314325"/>
          </a:xfrm>
          <a:prstGeom prst="rect">
            <a:avLst/>
          </a:prstGeom>
          <a:noFill/>
        </p:spPr>
        <p:txBody>
          <a:bodyPr wrap="none" lIns="0" tIns="0" rIns="0" bIns="0" rtlCol="0" anchor="t"/>
          <a:lstStyle/>
          <a:p>
            <a:pPr marL="342900" indent="-342900" algn="l">
              <a:lnSpc>
                <a:spcPts val="2450"/>
              </a:lnSpc>
              <a:buSzPct val="100000"/>
              <a:buChar char="•"/>
            </a:pPr>
            <a:r>
              <a:rPr lang="en-US" sz="1500" dirty="0">
                <a:solidFill>
                  <a:srgbClr val="2A2742"/>
                </a:solidFill>
                <a:latin typeface="Arimo" panose="020B0604020202020204" pitchFamily="34" charset="0"/>
                <a:ea typeface="Arimo" panose="020B0604020202020204" pitchFamily="34" charset="-122"/>
                <a:cs typeface="Arimo" panose="020B0604020202020204" pitchFamily="34" charset="-120"/>
              </a:rPr>
              <a:t>report_id (PK): Unique identifier</a:t>
            </a:r>
            <a:endParaRPr lang="en-US" sz="1500" dirty="0"/>
          </a:p>
        </p:txBody>
      </p:sp>
      <p:sp>
        <p:nvSpPr>
          <p:cNvPr id="31" name="Text 29"/>
          <p:cNvSpPr/>
          <p:nvPr/>
        </p:nvSpPr>
        <p:spPr>
          <a:xfrm>
            <a:off x="9859328" y="3408640"/>
            <a:ext cx="3879771" cy="314325"/>
          </a:xfrm>
          <a:prstGeom prst="rect">
            <a:avLst/>
          </a:prstGeom>
          <a:noFill/>
        </p:spPr>
        <p:txBody>
          <a:bodyPr wrap="none" lIns="0" tIns="0" rIns="0" bIns="0" rtlCol="0" anchor="t"/>
          <a:lstStyle/>
          <a:p>
            <a:pPr marL="342900" indent="-342900" algn="l">
              <a:lnSpc>
                <a:spcPts val="2450"/>
              </a:lnSpc>
              <a:buSzPct val="100000"/>
              <a:buChar char="•"/>
            </a:pPr>
            <a:r>
              <a:rPr lang="en-US" sz="1500" dirty="0">
                <a:solidFill>
                  <a:srgbClr val="2A2742"/>
                </a:solidFill>
                <a:latin typeface="Arimo" panose="020B0604020202020204" pitchFamily="34" charset="0"/>
                <a:ea typeface="Arimo" panose="020B0604020202020204" pitchFamily="34" charset="-122"/>
                <a:cs typeface="Arimo" panose="020B0604020202020204" pitchFamily="34" charset="-120"/>
              </a:rPr>
              <a:t>user_id (FK): References User</a:t>
            </a:r>
            <a:endParaRPr lang="en-US" sz="1500" dirty="0"/>
          </a:p>
        </p:txBody>
      </p:sp>
      <p:sp>
        <p:nvSpPr>
          <p:cNvPr id="32" name="Text 30"/>
          <p:cNvSpPr/>
          <p:nvPr/>
        </p:nvSpPr>
        <p:spPr>
          <a:xfrm>
            <a:off x="9859328" y="3791664"/>
            <a:ext cx="3879771" cy="314325"/>
          </a:xfrm>
          <a:prstGeom prst="rect">
            <a:avLst/>
          </a:prstGeom>
          <a:noFill/>
        </p:spPr>
        <p:txBody>
          <a:bodyPr wrap="none" lIns="0" tIns="0" rIns="0" bIns="0" rtlCol="0" anchor="t"/>
          <a:lstStyle/>
          <a:p>
            <a:pPr marL="342900" indent="-342900" algn="l">
              <a:lnSpc>
                <a:spcPts val="2450"/>
              </a:lnSpc>
              <a:buSzPct val="100000"/>
              <a:buChar char="•"/>
            </a:pPr>
            <a:r>
              <a:rPr lang="en-US" sz="1500" dirty="0">
                <a:solidFill>
                  <a:srgbClr val="2A2742"/>
                </a:solidFill>
                <a:latin typeface="Arimo" panose="020B0604020202020204" pitchFamily="34" charset="0"/>
                <a:ea typeface="Arimo" panose="020B0604020202020204" pitchFamily="34" charset="-122"/>
                <a:cs typeface="Arimo" panose="020B0604020202020204" pitchFamily="34" charset="-120"/>
              </a:rPr>
              <a:t>rating: Integer (1-5)</a:t>
            </a:r>
            <a:endParaRPr lang="en-US" sz="1500" dirty="0"/>
          </a:p>
        </p:txBody>
      </p:sp>
      <p:sp>
        <p:nvSpPr>
          <p:cNvPr id="33" name="Text 31"/>
          <p:cNvSpPr/>
          <p:nvPr/>
        </p:nvSpPr>
        <p:spPr>
          <a:xfrm>
            <a:off x="9859328" y="4174688"/>
            <a:ext cx="3879771" cy="314325"/>
          </a:xfrm>
          <a:prstGeom prst="rect">
            <a:avLst/>
          </a:prstGeom>
          <a:noFill/>
        </p:spPr>
        <p:txBody>
          <a:bodyPr wrap="none" lIns="0" tIns="0" rIns="0" bIns="0" rtlCol="0" anchor="t"/>
          <a:lstStyle/>
          <a:p>
            <a:pPr marL="342900" indent="-342900" algn="l">
              <a:lnSpc>
                <a:spcPts val="2450"/>
              </a:lnSpc>
              <a:buSzPct val="100000"/>
              <a:buChar char="•"/>
            </a:pPr>
            <a:r>
              <a:rPr lang="en-US" sz="1500" dirty="0">
                <a:solidFill>
                  <a:srgbClr val="2A2742"/>
                </a:solidFill>
                <a:latin typeface="Arimo" panose="020B0604020202020204" pitchFamily="34" charset="0"/>
                <a:ea typeface="Arimo" panose="020B0604020202020204" pitchFamily="34" charset="-122"/>
                <a:cs typeface="Arimo" panose="020B0604020202020204" pitchFamily="34" charset="-120"/>
              </a:rPr>
              <a:t>comments: Text (nullable)</a:t>
            </a:r>
            <a:endParaRPr lang="en-US" sz="1500" dirty="0"/>
          </a:p>
        </p:txBody>
      </p:sp>
      <p:sp>
        <p:nvSpPr>
          <p:cNvPr id="34" name="Text 32"/>
          <p:cNvSpPr/>
          <p:nvPr/>
        </p:nvSpPr>
        <p:spPr>
          <a:xfrm>
            <a:off x="9859328" y="4557713"/>
            <a:ext cx="3879771" cy="314325"/>
          </a:xfrm>
          <a:prstGeom prst="rect">
            <a:avLst/>
          </a:prstGeom>
          <a:noFill/>
        </p:spPr>
        <p:txBody>
          <a:bodyPr wrap="none" lIns="0" tIns="0" rIns="0" bIns="0" rtlCol="0" anchor="t"/>
          <a:lstStyle/>
          <a:p>
            <a:pPr marL="342900" indent="-342900" algn="l">
              <a:lnSpc>
                <a:spcPts val="2450"/>
              </a:lnSpc>
              <a:buSzPct val="100000"/>
              <a:buChar char="•"/>
            </a:pPr>
            <a:r>
              <a:rPr lang="en-US" sz="1500" dirty="0">
                <a:solidFill>
                  <a:srgbClr val="2A2742"/>
                </a:solidFill>
                <a:latin typeface="Arimo" panose="020B0604020202020204" pitchFamily="34" charset="0"/>
                <a:ea typeface="Arimo" panose="020B0604020202020204" pitchFamily="34" charset="-122"/>
                <a:cs typeface="Arimo" panose="020B0604020202020204" pitchFamily="34" charset="-120"/>
              </a:rPr>
              <a:t>screenshot_url: String (nullable)</a:t>
            </a:r>
            <a:endParaRPr lang="en-US" sz="1500" dirty="0"/>
          </a:p>
        </p:txBody>
      </p:sp>
      <p:sp>
        <p:nvSpPr>
          <p:cNvPr id="35" name="Text 33"/>
          <p:cNvSpPr/>
          <p:nvPr/>
        </p:nvSpPr>
        <p:spPr>
          <a:xfrm>
            <a:off x="9859328" y="4940737"/>
            <a:ext cx="3879771" cy="314325"/>
          </a:xfrm>
          <a:prstGeom prst="rect">
            <a:avLst/>
          </a:prstGeom>
          <a:noFill/>
        </p:spPr>
        <p:txBody>
          <a:bodyPr wrap="none" lIns="0" tIns="0" rIns="0" bIns="0" rtlCol="0" anchor="t"/>
          <a:lstStyle/>
          <a:p>
            <a:pPr marL="342900" indent="-342900" algn="l">
              <a:lnSpc>
                <a:spcPts val="2450"/>
              </a:lnSpc>
              <a:buSzPct val="100000"/>
              <a:buChar char="•"/>
            </a:pPr>
            <a:r>
              <a:rPr lang="en-US" sz="1500" dirty="0">
                <a:solidFill>
                  <a:srgbClr val="2A2742"/>
                </a:solidFill>
                <a:latin typeface="Arimo" panose="020B0604020202020204" pitchFamily="34" charset="0"/>
                <a:ea typeface="Arimo" panose="020B0604020202020204" pitchFamily="34" charset="-122"/>
                <a:cs typeface="Arimo" panose="020B0604020202020204" pitchFamily="34" charset="-120"/>
              </a:rPr>
              <a:t>location_latitude: Float (nullable)</a:t>
            </a:r>
            <a:endParaRPr lang="en-US" sz="1500" dirty="0"/>
          </a:p>
        </p:txBody>
      </p:sp>
      <p:sp>
        <p:nvSpPr>
          <p:cNvPr id="36" name="Text 34"/>
          <p:cNvSpPr/>
          <p:nvPr/>
        </p:nvSpPr>
        <p:spPr>
          <a:xfrm>
            <a:off x="9859328" y="5323761"/>
            <a:ext cx="3879771" cy="314325"/>
          </a:xfrm>
          <a:prstGeom prst="rect">
            <a:avLst/>
          </a:prstGeom>
          <a:noFill/>
        </p:spPr>
        <p:txBody>
          <a:bodyPr wrap="none" lIns="0" tIns="0" rIns="0" bIns="0" rtlCol="0" anchor="t"/>
          <a:lstStyle/>
          <a:p>
            <a:pPr marL="342900" indent="-342900" algn="l">
              <a:lnSpc>
                <a:spcPts val="2450"/>
              </a:lnSpc>
              <a:buSzPct val="100000"/>
              <a:buChar char="•"/>
            </a:pPr>
            <a:r>
              <a:rPr lang="en-US" sz="1500" dirty="0">
                <a:solidFill>
                  <a:srgbClr val="2A2742"/>
                </a:solidFill>
                <a:latin typeface="Arimo" panose="020B0604020202020204" pitchFamily="34" charset="0"/>
                <a:ea typeface="Arimo" panose="020B0604020202020204" pitchFamily="34" charset="-122"/>
                <a:cs typeface="Arimo" panose="020B0604020202020204" pitchFamily="34" charset="-120"/>
              </a:rPr>
              <a:t>location_longitude: Float (nullable)</a:t>
            </a:r>
            <a:endParaRPr lang="en-US" sz="1500" dirty="0"/>
          </a:p>
        </p:txBody>
      </p:sp>
      <p:sp>
        <p:nvSpPr>
          <p:cNvPr id="37" name="Text 35"/>
          <p:cNvSpPr/>
          <p:nvPr/>
        </p:nvSpPr>
        <p:spPr>
          <a:xfrm>
            <a:off x="9859328" y="5706785"/>
            <a:ext cx="3879771" cy="628650"/>
          </a:xfrm>
          <a:prstGeom prst="rect">
            <a:avLst/>
          </a:prstGeom>
          <a:noFill/>
        </p:spPr>
        <p:txBody>
          <a:bodyPr wrap="square" lIns="0" tIns="0" rIns="0" bIns="0" rtlCol="0" anchor="t"/>
          <a:lstStyle/>
          <a:p>
            <a:pPr marL="342900" indent="-342900" algn="l">
              <a:lnSpc>
                <a:spcPts val="2450"/>
              </a:lnSpc>
              <a:buSzPct val="100000"/>
              <a:buChar char="•"/>
            </a:pPr>
            <a:r>
              <a:rPr lang="en-US" sz="1500" dirty="0">
                <a:solidFill>
                  <a:srgbClr val="2A2742"/>
                </a:solidFill>
                <a:latin typeface="Arimo" panose="020B0604020202020204" pitchFamily="34" charset="0"/>
                <a:ea typeface="Arimo" panose="020B0604020202020204" pitchFamily="34" charset="-122"/>
                <a:cs typeface="Arimo" panose="020B0604020202020204" pitchFamily="34" charset="-120"/>
              </a:rPr>
              <a:t>status: Enum ('Pending', 'In Progress', 'Resolved', 'Rejected')</a:t>
            </a:r>
            <a:endParaRPr lang="en-US" sz="1500" dirty="0"/>
          </a:p>
        </p:txBody>
      </p:sp>
      <p:sp>
        <p:nvSpPr>
          <p:cNvPr id="38" name="Text 36"/>
          <p:cNvSpPr/>
          <p:nvPr/>
        </p:nvSpPr>
        <p:spPr>
          <a:xfrm>
            <a:off x="9859328" y="6404134"/>
            <a:ext cx="3879771" cy="314325"/>
          </a:xfrm>
          <a:prstGeom prst="rect">
            <a:avLst/>
          </a:prstGeom>
          <a:noFill/>
        </p:spPr>
        <p:txBody>
          <a:bodyPr wrap="none" lIns="0" tIns="0" rIns="0" bIns="0" rtlCol="0" anchor="t"/>
          <a:lstStyle/>
          <a:p>
            <a:pPr marL="342900" indent="-342900" algn="l">
              <a:lnSpc>
                <a:spcPts val="2450"/>
              </a:lnSpc>
              <a:buSzPct val="100000"/>
              <a:buChar char="•"/>
            </a:pPr>
            <a:r>
              <a:rPr lang="en-US" sz="1500" dirty="0">
                <a:solidFill>
                  <a:srgbClr val="2A2742"/>
                </a:solidFill>
                <a:latin typeface="Arimo" panose="020B0604020202020204" pitchFamily="34" charset="0"/>
                <a:ea typeface="Arimo" panose="020B0604020202020204" pitchFamily="34" charset="-122"/>
                <a:cs typeface="Arimo" panose="020B0604020202020204" pitchFamily="34" charset="-120"/>
              </a:rPr>
              <a:t>created_at: Timestamp</a:t>
            </a:r>
            <a:endParaRPr lang="en-US" sz="1500" dirty="0"/>
          </a:p>
        </p:txBody>
      </p:sp>
      <p:sp>
        <p:nvSpPr>
          <p:cNvPr id="39" name="Text 37"/>
          <p:cNvSpPr/>
          <p:nvPr/>
        </p:nvSpPr>
        <p:spPr>
          <a:xfrm>
            <a:off x="9859328" y="6787158"/>
            <a:ext cx="3879771" cy="314325"/>
          </a:xfrm>
          <a:prstGeom prst="rect">
            <a:avLst/>
          </a:prstGeom>
          <a:noFill/>
        </p:spPr>
        <p:txBody>
          <a:bodyPr wrap="none" lIns="0" tIns="0" rIns="0" bIns="0" rtlCol="0" anchor="t"/>
          <a:lstStyle/>
          <a:p>
            <a:pPr marL="342900" indent="-342900" algn="l">
              <a:lnSpc>
                <a:spcPts val="2450"/>
              </a:lnSpc>
              <a:buSzPct val="100000"/>
              <a:buChar char="•"/>
            </a:pPr>
            <a:r>
              <a:rPr lang="en-US" sz="1500" dirty="0">
                <a:solidFill>
                  <a:srgbClr val="2A2742"/>
                </a:solidFill>
                <a:latin typeface="Arimo" panose="020B0604020202020204" pitchFamily="34" charset="0"/>
                <a:ea typeface="Arimo" panose="020B0604020202020204" pitchFamily="34" charset="-122"/>
                <a:cs typeface="Arimo" panose="020B0604020202020204" pitchFamily="34" charset="-120"/>
              </a:rPr>
              <a:t>updated_at: Timestamp</a:t>
            </a:r>
            <a:endParaRPr lang="en-US" sz="1500" dirty="0"/>
          </a:p>
        </p:txBody>
      </p:sp>
      <p:sp>
        <p:nvSpPr>
          <p:cNvPr id="40" name="Text 38"/>
          <p:cNvSpPr/>
          <p:nvPr/>
        </p:nvSpPr>
        <p:spPr>
          <a:xfrm>
            <a:off x="9859328" y="7170182"/>
            <a:ext cx="3879771" cy="314325"/>
          </a:xfrm>
          <a:prstGeom prst="rect">
            <a:avLst/>
          </a:prstGeom>
          <a:noFill/>
        </p:spPr>
        <p:txBody>
          <a:bodyPr wrap="none" lIns="0" tIns="0" rIns="0" bIns="0" rtlCol="0" anchor="t"/>
          <a:lstStyle/>
          <a:p>
            <a:pPr marL="342900" indent="-342900" algn="l">
              <a:lnSpc>
                <a:spcPts val="2450"/>
              </a:lnSpc>
              <a:buSzPct val="100000"/>
              <a:buChar char="•"/>
            </a:pPr>
            <a:r>
              <a:rPr lang="en-US" sz="1500" dirty="0">
                <a:solidFill>
                  <a:srgbClr val="2A2742"/>
                </a:solidFill>
                <a:latin typeface="Arimo" panose="020B0604020202020204" pitchFamily="34" charset="0"/>
                <a:ea typeface="Arimo" panose="020B0604020202020204" pitchFamily="34" charset="-122"/>
                <a:cs typeface="Arimo" panose="020B0604020202020204" pitchFamily="34" charset="-120"/>
              </a:rPr>
              <a:t>operator_notes: Text (nullable)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27115" y="571857"/>
            <a:ext cx="6233993" cy="649129"/>
          </a:xfrm>
          <a:prstGeom prst="rect">
            <a:avLst/>
          </a:prstGeom>
          <a:noFill/>
        </p:spPr>
        <p:txBody>
          <a:bodyPr wrap="none" lIns="0" tIns="0" rIns="0" bIns="0" rtlCol="0" anchor="t"/>
          <a:lstStyle/>
          <a:p>
            <a:pPr marL="0" indent="0" algn="l">
              <a:lnSpc>
                <a:spcPts val="5100"/>
              </a:lnSpc>
              <a:buNone/>
            </a:pPr>
            <a:r>
              <a:rPr lang="en-US" sz="4050" b="1" dirty="0">
                <a:solidFill>
                  <a:srgbClr val="231971"/>
                </a:solidFill>
                <a:latin typeface="Outfit Extra Bold" pitchFamily="34" charset="0"/>
                <a:ea typeface="Outfit Extra Bold" pitchFamily="34" charset="-122"/>
                <a:cs typeface="Outfit Extra Bold" pitchFamily="34" charset="-120"/>
              </a:rPr>
              <a:t>Additional Data Elements</a:t>
            </a:r>
            <a:endParaRPr lang="en-US" sz="4050" dirty="0"/>
          </a:p>
        </p:txBody>
      </p:sp>
      <p:sp>
        <p:nvSpPr>
          <p:cNvPr id="3" name="Text 1"/>
          <p:cNvSpPr/>
          <p:nvPr/>
        </p:nvSpPr>
        <p:spPr>
          <a:xfrm>
            <a:off x="727115" y="1636395"/>
            <a:ext cx="13176171" cy="664845"/>
          </a:xfrm>
          <a:prstGeom prst="rect">
            <a:avLst/>
          </a:prstGeom>
          <a:noFill/>
        </p:spPr>
        <p:txBody>
          <a:bodyPr wrap="square" lIns="0" tIns="0" rIns="0" bIns="0" rtlCol="0" anchor="t"/>
          <a:lstStyle/>
          <a:p>
            <a:pPr marL="0" indent="0" algn="l">
              <a:lnSpc>
                <a:spcPts val="2600"/>
              </a:lnSpc>
              <a:buNone/>
            </a:pPr>
            <a:r>
              <a:rPr lang="en-US" sz="1600" dirty="0">
                <a:solidFill>
                  <a:srgbClr val="2A2742"/>
                </a:solidFill>
                <a:latin typeface="Arimo" panose="020B0604020202020204" pitchFamily="34" charset="0"/>
                <a:ea typeface="Arimo" panose="020B0604020202020204" pitchFamily="34" charset="-122"/>
                <a:cs typeface="Arimo" panose="020B0604020202020204" pitchFamily="34" charset="-120"/>
              </a:rPr>
              <a:t>Beyond user and core network data, the "Checkin" app incorporates elements for alerts, operator information, and regulatory reports. These ensure comprehensive monitoring, communication, and compliance within the network ecosystem.</a:t>
            </a:r>
            <a:endParaRPr lang="en-US" sz="1600" dirty="0"/>
          </a:p>
        </p:txBody>
      </p:sp>
      <p:sp>
        <p:nvSpPr>
          <p:cNvPr id="4" name="Text 2"/>
          <p:cNvSpPr/>
          <p:nvPr/>
        </p:nvSpPr>
        <p:spPr>
          <a:xfrm>
            <a:off x="727115" y="2742486"/>
            <a:ext cx="2596753" cy="324564"/>
          </a:xfrm>
          <a:prstGeom prst="rect">
            <a:avLst/>
          </a:prstGeom>
          <a:noFill/>
        </p:spPr>
        <p:txBody>
          <a:bodyPr wrap="none" lIns="0" tIns="0" rIns="0" bIns="0" rtlCol="0" anchor="t"/>
          <a:lstStyle/>
          <a:p>
            <a:pPr marL="0" indent="0" algn="l">
              <a:lnSpc>
                <a:spcPts val="2550"/>
              </a:lnSpc>
              <a:buNone/>
            </a:pPr>
            <a:r>
              <a:rPr lang="en-US" sz="2000" b="1" dirty="0">
                <a:solidFill>
                  <a:srgbClr val="231971"/>
                </a:solidFill>
                <a:latin typeface="Outfit Extra Bold" pitchFamily="34" charset="0"/>
                <a:ea typeface="Outfit Extra Bold" pitchFamily="34" charset="-122"/>
                <a:cs typeface="Outfit Extra Bold" pitchFamily="34" charset="-120"/>
              </a:rPr>
              <a:t>Alerts</a:t>
            </a:r>
            <a:endParaRPr lang="en-US" sz="2000" dirty="0"/>
          </a:p>
        </p:txBody>
      </p:sp>
      <p:sp>
        <p:nvSpPr>
          <p:cNvPr id="5" name="Text 3"/>
          <p:cNvSpPr/>
          <p:nvPr/>
        </p:nvSpPr>
        <p:spPr>
          <a:xfrm>
            <a:off x="727115" y="3274695"/>
            <a:ext cx="4053721" cy="332423"/>
          </a:xfrm>
          <a:prstGeom prst="rect">
            <a:avLst/>
          </a:prstGeom>
          <a:noFill/>
        </p:spPr>
        <p:txBody>
          <a:bodyPr wrap="none" lIns="0" tIns="0" rIns="0" bIns="0" rtlCol="0" anchor="t"/>
          <a:lstStyle/>
          <a:p>
            <a:pPr marL="342900" indent="-342900" algn="l">
              <a:lnSpc>
                <a:spcPts val="2600"/>
              </a:lnSpc>
              <a:buSzPct val="100000"/>
              <a:buChar char="•"/>
            </a:pPr>
            <a:r>
              <a:rPr lang="en-US" sz="1600" dirty="0">
                <a:solidFill>
                  <a:srgbClr val="2A2742"/>
                </a:solidFill>
                <a:latin typeface="Arimo" panose="020B0604020202020204" pitchFamily="34" charset="0"/>
                <a:ea typeface="Arimo" panose="020B0604020202020204" pitchFamily="34" charset="-122"/>
                <a:cs typeface="Arimo" panose="020B0604020202020204" pitchFamily="34" charset="-120"/>
              </a:rPr>
              <a:t>alert_id (PK): Unique identifier</a:t>
            </a:r>
            <a:endParaRPr lang="en-US" sz="1600" dirty="0"/>
          </a:p>
        </p:txBody>
      </p:sp>
      <p:sp>
        <p:nvSpPr>
          <p:cNvPr id="6" name="Text 4"/>
          <p:cNvSpPr/>
          <p:nvPr/>
        </p:nvSpPr>
        <p:spPr>
          <a:xfrm>
            <a:off x="727115" y="3679746"/>
            <a:ext cx="4053721" cy="332423"/>
          </a:xfrm>
          <a:prstGeom prst="rect">
            <a:avLst/>
          </a:prstGeom>
          <a:noFill/>
        </p:spPr>
        <p:txBody>
          <a:bodyPr wrap="none" lIns="0" tIns="0" rIns="0" bIns="0" rtlCol="0" anchor="t"/>
          <a:lstStyle/>
          <a:p>
            <a:pPr marL="342900" indent="-342900" algn="l">
              <a:lnSpc>
                <a:spcPts val="2600"/>
              </a:lnSpc>
              <a:buSzPct val="100000"/>
              <a:buChar char="•"/>
            </a:pPr>
            <a:r>
              <a:rPr lang="en-US" sz="1600" dirty="0">
                <a:solidFill>
                  <a:srgbClr val="2A2742"/>
                </a:solidFill>
                <a:latin typeface="Arimo" panose="020B0604020202020204" pitchFamily="34" charset="0"/>
                <a:ea typeface="Arimo" panose="020B0604020202020204" pitchFamily="34" charset="-122"/>
                <a:cs typeface="Arimo" panose="020B0604020202020204" pitchFamily="34" charset="-120"/>
              </a:rPr>
              <a:t>user_id (FK): References User</a:t>
            </a:r>
            <a:endParaRPr lang="en-US" sz="1600" dirty="0"/>
          </a:p>
        </p:txBody>
      </p:sp>
      <p:sp>
        <p:nvSpPr>
          <p:cNvPr id="7" name="Text 5"/>
          <p:cNvSpPr/>
          <p:nvPr/>
        </p:nvSpPr>
        <p:spPr>
          <a:xfrm>
            <a:off x="727115" y="4084796"/>
            <a:ext cx="4053721" cy="997268"/>
          </a:xfrm>
          <a:prstGeom prst="rect">
            <a:avLst/>
          </a:prstGeom>
          <a:noFill/>
        </p:spPr>
        <p:txBody>
          <a:bodyPr wrap="square" lIns="0" tIns="0" rIns="0" bIns="0" rtlCol="0" anchor="t"/>
          <a:lstStyle/>
          <a:p>
            <a:pPr marL="342900" indent="-342900" algn="l">
              <a:lnSpc>
                <a:spcPts val="2600"/>
              </a:lnSpc>
              <a:buSzPct val="100000"/>
              <a:buChar char="•"/>
            </a:pPr>
            <a:r>
              <a:rPr lang="en-US" sz="1600" dirty="0">
                <a:solidFill>
                  <a:srgbClr val="2A2742"/>
                </a:solidFill>
                <a:latin typeface="Arimo" panose="020B0604020202020204" pitchFamily="34" charset="0"/>
                <a:ea typeface="Arimo" panose="020B0604020202020204" pitchFamily="34" charset="-122"/>
                <a:cs typeface="Arimo" panose="020B0604020202020204" pitchFamily="34" charset="-120"/>
              </a:rPr>
              <a:t>alert_type: Enum ('Low Signal', 'High Latency', 'Slow Speed', 'Outage', 'Maintenance')</a:t>
            </a:r>
            <a:endParaRPr lang="en-US" sz="1600" dirty="0"/>
          </a:p>
        </p:txBody>
      </p:sp>
      <p:sp>
        <p:nvSpPr>
          <p:cNvPr id="8" name="Text 6"/>
          <p:cNvSpPr/>
          <p:nvPr/>
        </p:nvSpPr>
        <p:spPr>
          <a:xfrm>
            <a:off x="727115" y="5154692"/>
            <a:ext cx="4053721" cy="332423"/>
          </a:xfrm>
          <a:prstGeom prst="rect">
            <a:avLst/>
          </a:prstGeom>
          <a:noFill/>
        </p:spPr>
        <p:txBody>
          <a:bodyPr wrap="none" lIns="0" tIns="0" rIns="0" bIns="0" rtlCol="0" anchor="t"/>
          <a:lstStyle/>
          <a:p>
            <a:pPr marL="342900" indent="-342900" algn="l">
              <a:lnSpc>
                <a:spcPts val="2600"/>
              </a:lnSpc>
              <a:buSzPct val="100000"/>
              <a:buChar char="•"/>
            </a:pPr>
            <a:r>
              <a:rPr lang="en-US" sz="1600" dirty="0">
                <a:solidFill>
                  <a:srgbClr val="2A2742"/>
                </a:solidFill>
                <a:latin typeface="Arimo" panose="020B0604020202020204" pitchFamily="34" charset="0"/>
                <a:ea typeface="Arimo" panose="020B0604020202020204" pitchFamily="34" charset="-122"/>
                <a:cs typeface="Arimo" panose="020B0604020202020204" pitchFamily="34" charset="-120"/>
              </a:rPr>
              <a:t>message: String (255 chars)</a:t>
            </a:r>
            <a:endParaRPr lang="en-US" sz="1600" dirty="0"/>
          </a:p>
        </p:txBody>
      </p:sp>
      <p:sp>
        <p:nvSpPr>
          <p:cNvPr id="9" name="Text 7"/>
          <p:cNvSpPr/>
          <p:nvPr/>
        </p:nvSpPr>
        <p:spPr>
          <a:xfrm>
            <a:off x="727115" y="5559743"/>
            <a:ext cx="4053721" cy="664845"/>
          </a:xfrm>
          <a:prstGeom prst="rect">
            <a:avLst/>
          </a:prstGeom>
          <a:noFill/>
        </p:spPr>
        <p:txBody>
          <a:bodyPr wrap="square" lIns="0" tIns="0" rIns="0" bIns="0" rtlCol="0" anchor="t"/>
          <a:lstStyle/>
          <a:p>
            <a:pPr marL="342900" indent="-342900" algn="l">
              <a:lnSpc>
                <a:spcPts val="2600"/>
              </a:lnSpc>
              <a:buSzPct val="100000"/>
              <a:buChar char="•"/>
            </a:pPr>
            <a:r>
              <a:rPr lang="en-US" sz="1600" dirty="0">
                <a:solidFill>
                  <a:srgbClr val="2A2742"/>
                </a:solidFill>
                <a:latin typeface="Arimo" panose="020B0604020202020204" pitchFamily="34" charset="0"/>
                <a:ea typeface="Arimo" panose="020B0604020202020204" pitchFamily="34" charset="-122"/>
                <a:cs typeface="Arimo" panose="020B0604020202020204" pitchFamily="34" charset="-120"/>
              </a:rPr>
              <a:t>severity: Enum ('Low', 'Medium', 'High', 'Critical')</a:t>
            </a:r>
            <a:endParaRPr lang="en-US" sz="1600" dirty="0"/>
          </a:p>
        </p:txBody>
      </p:sp>
      <p:sp>
        <p:nvSpPr>
          <p:cNvPr id="10" name="Text 8"/>
          <p:cNvSpPr/>
          <p:nvPr/>
        </p:nvSpPr>
        <p:spPr>
          <a:xfrm>
            <a:off x="727115" y="6297216"/>
            <a:ext cx="4053721" cy="332423"/>
          </a:xfrm>
          <a:prstGeom prst="rect">
            <a:avLst/>
          </a:prstGeom>
          <a:noFill/>
        </p:spPr>
        <p:txBody>
          <a:bodyPr wrap="none" lIns="0" tIns="0" rIns="0" bIns="0" rtlCol="0" anchor="t"/>
          <a:lstStyle/>
          <a:p>
            <a:pPr marL="342900" indent="-342900" algn="l">
              <a:lnSpc>
                <a:spcPts val="2600"/>
              </a:lnSpc>
              <a:buSzPct val="100000"/>
              <a:buChar char="•"/>
            </a:pPr>
            <a:r>
              <a:rPr lang="en-US" sz="1600" dirty="0">
                <a:solidFill>
                  <a:srgbClr val="2A2742"/>
                </a:solidFill>
                <a:latin typeface="Arimo" panose="020B0604020202020204" pitchFamily="34" charset="0"/>
                <a:ea typeface="Arimo" panose="020B0604020202020204" pitchFamily="34" charset="-122"/>
                <a:cs typeface="Arimo" panose="020B0604020202020204" pitchFamily="34" charset="-120"/>
              </a:rPr>
              <a:t>is_read: Boolean (default false)</a:t>
            </a:r>
            <a:endParaRPr lang="en-US" sz="1600" dirty="0"/>
          </a:p>
        </p:txBody>
      </p:sp>
      <p:sp>
        <p:nvSpPr>
          <p:cNvPr id="11" name="Text 9"/>
          <p:cNvSpPr/>
          <p:nvPr/>
        </p:nvSpPr>
        <p:spPr>
          <a:xfrm>
            <a:off x="727115" y="6702266"/>
            <a:ext cx="4053721" cy="332423"/>
          </a:xfrm>
          <a:prstGeom prst="rect">
            <a:avLst/>
          </a:prstGeom>
          <a:noFill/>
        </p:spPr>
        <p:txBody>
          <a:bodyPr wrap="none" lIns="0" tIns="0" rIns="0" bIns="0" rtlCol="0" anchor="t"/>
          <a:lstStyle/>
          <a:p>
            <a:pPr marL="342900" indent="-342900" algn="l">
              <a:lnSpc>
                <a:spcPts val="2600"/>
              </a:lnSpc>
              <a:buSzPct val="100000"/>
              <a:buChar char="•"/>
            </a:pPr>
            <a:r>
              <a:rPr lang="en-US" sz="1600" dirty="0">
                <a:solidFill>
                  <a:srgbClr val="2A2742"/>
                </a:solidFill>
                <a:latin typeface="Arimo" panose="020B0604020202020204" pitchFamily="34" charset="0"/>
                <a:ea typeface="Arimo" panose="020B0604020202020204" pitchFamily="34" charset="-122"/>
                <a:cs typeface="Arimo" panose="020B0604020202020204" pitchFamily="34" charset="-120"/>
              </a:rPr>
              <a:t>created_at: Timestamp</a:t>
            </a:r>
            <a:endParaRPr lang="en-US" sz="1600" dirty="0"/>
          </a:p>
        </p:txBody>
      </p:sp>
      <p:sp>
        <p:nvSpPr>
          <p:cNvPr id="12" name="Text 10"/>
          <p:cNvSpPr/>
          <p:nvPr/>
        </p:nvSpPr>
        <p:spPr>
          <a:xfrm>
            <a:off x="727115" y="7107317"/>
            <a:ext cx="4053721" cy="332423"/>
          </a:xfrm>
          <a:prstGeom prst="rect">
            <a:avLst/>
          </a:prstGeom>
          <a:noFill/>
        </p:spPr>
        <p:txBody>
          <a:bodyPr wrap="none" lIns="0" tIns="0" rIns="0" bIns="0" rtlCol="0" anchor="t"/>
          <a:lstStyle/>
          <a:p>
            <a:pPr marL="342900" indent="-342900" algn="l">
              <a:lnSpc>
                <a:spcPts val="2600"/>
              </a:lnSpc>
              <a:buSzPct val="100000"/>
              <a:buChar char="•"/>
            </a:pPr>
            <a:r>
              <a:rPr lang="en-US" sz="1600" dirty="0">
                <a:solidFill>
                  <a:srgbClr val="2A2742"/>
                </a:solidFill>
                <a:latin typeface="Arimo" panose="020B0604020202020204" pitchFamily="34" charset="0"/>
                <a:ea typeface="Arimo" panose="020B0604020202020204" pitchFamily="34" charset="-122"/>
                <a:cs typeface="Arimo" panose="020B0604020202020204" pitchFamily="34" charset="-120"/>
              </a:rPr>
              <a:t>dismissed_at: Timestamp (nullable)</a:t>
            </a:r>
            <a:endParaRPr lang="en-US" sz="1600" dirty="0"/>
          </a:p>
        </p:txBody>
      </p:sp>
      <p:sp>
        <p:nvSpPr>
          <p:cNvPr id="13" name="Text 11"/>
          <p:cNvSpPr/>
          <p:nvPr/>
        </p:nvSpPr>
        <p:spPr>
          <a:xfrm>
            <a:off x="5295186" y="2742486"/>
            <a:ext cx="2596753" cy="324564"/>
          </a:xfrm>
          <a:prstGeom prst="rect">
            <a:avLst/>
          </a:prstGeom>
          <a:noFill/>
        </p:spPr>
        <p:txBody>
          <a:bodyPr wrap="none" lIns="0" tIns="0" rIns="0" bIns="0" rtlCol="0" anchor="t"/>
          <a:lstStyle/>
          <a:p>
            <a:pPr marL="0" indent="0" algn="l">
              <a:lnSpc>
                <a:spcPts val="2550"/>
              </a:lnSpc>
              <a:buNone/>
            </a:pPr>
            <a:r>
              <a:rPr lang="en-US" sz="2000" b="1" dirty="0">
                <a:solidFill>
                  <a:srgbClr val="231971"/>
                </a:solidFill>
                <a:latin typeface="Outfit Extra Bold" pitchFamily="34" charset="0"/>
                <a:ea typeface="Outfit Extra Bold" pitchFamily="34" charset="-122"/>
                <a:cs typeface="Outfit Extra Bold" pitchFamily="34" charset="-120"/>
              </a:rPr>
              <a:t>Operator</a:t>
            </a:r>
            <a:endParaRPr lang="en-US" sz="2000" dirty="0"/>
          </a:p>
        </p:txBody>
      </p:sp>
      <p:sp>
        <p:nvSpPr>
          <p:cNvPr id="14" name="Text 12"/>
          <p:cNvSpPr/>
          <p:nvPr/>
        </p:nvSpPr>
        <p:spPr>
          <a:xfrm>
            <a:off x="5295186" y="3274695"/>
            <a:ext cx="4053721" cy="332423"/>
          </a:xfrm>
          <a:prstGeom prst="rect">
            <a:avLst/>
          </a:prstGeom>
          <a:noFill/>
        </p:spPr>
        <p:txBody>
          <a:bodyPr wrap="none" lIns="0" tIns="0" rIns="0" bIns="0" rtlCol="0" anchor="t"/>
          <a:lstStyle/>
          <a:p>
            <a:pPr marL="342900" indent="-342900" algn="l">
              <a:lnSpc>
                <a:spcPts val="2600"/>
              </a:lnSpc>
              <a:buSzPct val="100000"/>
              <a:buChar char="•"/>
            </a:pPr>
            <a:r>
              <a:rPr lang="en-US" sz="1600" dirty="0">
                <a:solidFill>
                  <a:srgbClr val="2A2742"/>
                </a:solidFill>
                <a:latin typeface="Arimo" panose="020B0604020202020204" pitchFamily="34" charset="0"/>
                <a:ea typeface="Arimo" panose="020B0604020202020204" pitchFamily="34" charset="-122"/>
                <a:cs typeface="Arimo" panose="020B0604020202020204" pitchFamily="34" charset="-120"/>
              </a:rPr>
              <a:t>operator_id (PK): Unique identifier</a:t>
            </a:r>
            <a:endParaRPr lang="en-US" sz="1600" dirty="0"/>
          </a:p>
        </p:txBody>
      </p:sp>
      <p:sp>
        <p:nvSpPr>
          <p:cNvPr id="15" name="Text 13"/>
          <p:cNvSpPr/>
          <p:nvPr/>
        </p:nvSpPr>
        <p:spPr>
          <a:xfrm>
            <a:off x="5295186" y="3679746"/>
            <a:ext cx="4053721" cy="332423"/>
          </a:xfrm>
          <a:prstGeom prst="rect">
            <a:avLst/>
          </a:prstGeom>
          <a:noFill/>
        </p:spPr>
        <p:txBody>
          <a:bodyPr wrap="none" lIns="0" tIns="0" rIns="0" bIns="0" rtlCol="0" anchor="t"/>
          <a:lstStyle/>
          <a:p>
            <a:pPr marL="342900" indent="-342900" algn="l">
              <a:lnSpc>
                <a:spcPts val="2600"/>
              </a:lnSpc>
              <a:buSzPct val="100000"/>
              <a:buChar char="•"/>
            </a:pPr>
            <a:r>
              <a:rPr lang="en-US" sz="1600" dirty="0">
                <a:solidFill>
                  <a:srgbClr val="2A2742"/>
                </a:solidFill>
                <a:latin typeface="Arimo" panose="020B0604020202020204" pitchFamily="34" charset="0"/>
                <a:ea typeface="Arimo" panose="020B0604020202020204" pitchFamily="34" charset="-122"/>
                <a:cs typeface="Arimo" panose="020B0604020202020204" pitchFamily="34" charset="-120"/>
              </a:rPr>
              <a:t>name: String (100 chars)</a:t>
            </a:r>
            <a:endParaRPr lang="en-US" sz="1600" dirty="0"/>
          </a:p>
        </p:txBody>
      </p:sp>
      <p:sp>
        <p:nvSpPr>
          <p:cNvPr id="16" name="Text 14"/>
          <p:cNvSpPr/>
          <p:nvPr/>
        </p:nvSpPr>
        <p:spPr>
          <a:xfrm>
            <a:off x="5295186" y="4084796"/>
            <a:ext cx="4053721" cy="332423"/>
          </a:xfrm>
          <a:prstGeom prst="rect">
            <a:avLst/>
          </a:prstGeom>
          <a:noFill/>
        </p:spPr>
        <p:txBody>
          <a:bodyPr wrap="none" lIns="0" tIns="0" rIns="0" bIns="0" rtlCol="0" anchor="t"/>
          <a:lstStyle/>
          <a:p>
            <a:pPr marL="342900" indent="-342900" algn="l">
              <a:lnSpc>
                <a:spcPts val="2600"/>
              </a:lnSpc>
              <a:buSzPct val="100000"/>
              <a:buChar char="•"/>
            </a:pPr>
            <a:r>
              <a:rPr lang="en-US" sz="1600" dirty="0">
                <a:solidFill>
                  <a:srgbClr val="2A2742"/>
                </a:solidFill>
                <a:latin typeface="Arimo" panose="020B0604020202020204" pitchFamily="34" charset="0"/>
                <a:ea typeface="Arimo" panose="020B0604020202020204" pitchFamily="34" charset="-122"/>
                <a:cs typeface="Arimo" panose="020B0604020202020204" pitchFamily="34" charset="-120"/>
              </a:rPr>
              <a:t>contact_email: String (100 chars)</a:t>
            </a:r>
            <a:endParaRPr lang="en-US" sz="1600" dirty="0"/>
          </a:p>
        </p:txBody>
      </p:sp>
      <p:sp>
        <p:nvSpPr>
          <p:cNvPr id="17" name="Text 15"/>
          <p:cNvSpPr/>
          <p:nvPr/>
        </p:nvSpPr>
        <p:spPr>
          <a:xfrm>
            <a:off x="5295186" y="4489847"/>
            <a:ext cx="4053721" cy="332423"/>
          </a:xfrm>
          <a:prstGeom prst="rect">
            <a:avLst/>
          </a:prstGeom>
          <a:noFill/>
        </p:spPr>
        <p:txBody>
          <a:bodyPr wrap="none" lIns="0" tIns="0" rIns="0" bIns="0" rtlCol="0" anchor="t"/>
          <a:lstStyle/>
          <a:p>
            <a:pPr marL="342900" indent="-342900" algn="l">
              <a:lnSpc>
                <a:spcPts val="2600"/>
              </a:lnSpc>
              <a:buSzPct val="100000"/>
              <a:buChar char="•"/>
            </a:pPr>
            <a:r>
              <a:rPr lang="en-US" sz="1600" dirty="0">
                <a:solidFill>
                  <a:srgbClr val="2A2742"/>
                </a:solidFill>
                <a:latin typeface="Arimo" panose="020B0604020202020204" pitchFamily="34" charset="0"/>
                <a:ea typeface="Arimo" panose="020B0604020202020204" pitchFamily="34" charset="-122"/>
                <a:cs typeface="Arimo" panose="020B0604020202020204" pitchFamily="34" charset="-120"/>
              </a:rPr>
              <a:t>service_area: String (100 chars)</a:t>
            </a:r>
            <a:endParaRPr lang="en-US" sz="1600" dirty="0"/>
          </a:p>
        </p:txBody>
      </p:sp>
      <p:sp>
        <p:nvSpPr>
          <p:cNvPr id="18" name="Text 16"/>
          <p:cNvSpPr/>
          <p:nvPr/>
        </p:nvSpPr>
        <p:spPr>
          <a:xfrm>
            <a:off x="5295186" y="4894897"/>
            <a:ext cx="4053721" cy="332423"/>
          </a:xfrm>
          <a:prstGeom prst="rect">
            <a:avLst/>
          </a:prstGeom>
          <a:noFill/>
        </p:spPr>
        <p:txBody>
          <a:bodyPr wrap="none" lIns="0" tIns="0" rIns="0" bIns="0" rtlCol="0" anchor="t"/>
          <a:lstStyle/>
          <a:p>
            <a:pPr marL="342900" indent="-342900" algn="l">
              <a:lnSpc>
                <a:spcPts val="2600"/>
              </a:lnSpc>
              <a:buSzPct val="100000"/>
              <a:buChar char="•"/>
            </a:pPr>
            <a:r>
              <a:rPr lang="en-US" sz="1600" dirty="0">
                <a:solidFill>
                  <a:srgbClr val="2A2742"/>
                </a:solidFill>
                <a:latin typeface="Arimo" panose="020B0604020202020204" pitchFamily="34" charset="0"/>
                <a:ea typeface="Arimo" panose="020B0604020202020204" pitchFamily="34" charset="-122"/>
                <a:cs typeface="Arimo" panose="020B0604020202020204" pitchFamily="34" charset="-120"/>
              </a:rPr>
              <a:t>is_active: Boolean (default true)</a:t>
            </a:r>
            <a:endParaRPr lang="en-US" sz="1600" dirty="0"/>
          </a:p>
        </p:txBody>
      </p:sp>
      <p:sp>
        <p:nvSpPr>
          <p:cNvPr id="19" name="Text 17"/>
          <p:cNvSpPr/>
          <p:nvPr/>
        </p:nvSpPr>
        <p:spPr>
          <a:xfrm>
            <a:off x="9863257" y="2742486"/>
            <a:ext cx="2596753" cy="324564"/>
          </a:xfrm>
          <a:prstGeom prst="rect">
            <a:avLst/>
          </a:prstGeom>
          <a:noFill/>
        </p:spPr>
        <p:txBody>
          <a:bodyPr wrap="none" lIns="0" tIns="0" rIns="0" bIns="0" rtlCol="0" anchor="t"/>
          <a:lstStyle/>
          <a:p>
            <a:pPr marL="0" indent="0" algn="l">
              <a:lnSpc>
                <a:spcPts val="2550"/>
              </a:lnSpc>
              <a:buNone/>
            </a:pPr>
            <a:r>
              <a:rPr lang="en-US" sz="2000" b="1" dirty="0">
                <a:solidFill>
                  <a:srgbClr val="231971"/>
                </a:solidFill>
                <a:latin typeface="Outfit Extra Bold" pitchFamily="34" charset="0"/>
                <a:ea typeface="Outfit Extra Bold" pitchFamily="34" charset="-122"/>
                <a:cs typeface="Outfit Extra Bold" pitchFamily="34" charset="-120"/>
              </a:rPr>
              <a:t>Regulatory Reports</a:t>
            </a:r>
            <a:endParaRPr lang="en-US" sz="2000" dirty="0"/>
          </a:p>
        </p:txBody>
      </p:sp>
      <p:sp>
        <p:nvSpPr>
          <p:cNvPr id="20" name="Text 18"/>
          <p:cNvSpPr/>
          <p:nvPr/>
        </p:nvSpPr>
        <p:spPr>
          <a:xfrm>
            <a:off x="9863257" y="3274695"/>
            <a:ext cx="4053721" cy="332423"/>
          </a:xfrm>
          <a:prstGeom prst="rect">
            <a:avLst/>
          </a:prstGeom>
          <a:noFill/>
        </p:spPr>
        <p:txBody>
          <a:bodyPr wrap="none" lIns="0" tIns="0" rIns="0" bIns="0" rtlCol="0" anchor="t"/>
          <a:lstStyle/>
          <a:p>
            <a:pPr marL="342900" indent="-342900" algn="l">
              <a:lnSpc>
                <a:spcPts val="2600"/>
              </a:lnSpc>
              <a:buSzPct val="100000"/>
              <a:buChar char="•"/>
            </a:pPr>
            <a:r>
              <a:rPr lang="en-US" sz="1600" dirty="0">
                <a:solidFill>
                  <a:srgbClr val="2A2742"/>
                </a:solidFill>
                <a:latin typeface="Arimo" panose="020B0604020202020204" pitchFamily="34" charset="0"/>
                <a:ea typeface="Arimo" panose="020B0604020202020204" pitchFamily="34" charset="-122"/>
                <a:cs typeface="Arimo" panose="020B0604020202020204" pitchFamily="34" charset="-120"/>
              </a:rPr>
              <a:t>report_id (PK): Unique identifier</a:t>
            </a:r>
            <a:endParaRPr lang="en-US" sz="1600" dirty="0"/>
          </a:p>
        </p:txBody>
      </p:sp>
      <p:sp>
        <p:nvSpPr>
          <p:cNvPr id="21" name="Text 19"/>
          <p:cNvSpPr/>
          <p:nvPr/>
        </p:nvSpPr>
        <p:spPr>
          <a:xfrm>
            <a:off x="9863257" y="3679746"/>
            <a:ext cx="4053721" cy="332423"/>
          </a:xfrm>
          <a:prstGeom prst="rect">
            <a:avLst/>
          </a:prstGeom>
          <a:noFill/>
        </p:spPr>
        <p:txBody>
          <a:bodyPr wrap="none" lIns="0" tIns="0" rIns="0" bIns="0" rtlCol="0" anchor="t"/>
          <a:lstStyle/>
          <a:p>
            <a:pPr marL="342900" indent="-342900" algn="l">
              <a:lnSpc>
                <a:spcPts val="2600"/>
              </a:lnSpc>
              <a:buSzPct val="100000"/>
              <a:buChar char="•"/>
            </a:pPr>
            <a:r>
              <a:rPr lang="en-US" sz="1600" dirty="0">
                <a:solidFill>
                  <a:srgbClr val="2A2742"/>
                </a:solidFill>
                <a:latin typeface="Arimo" panose="020B0604020202020204" pitchFamily="34" charset="0"/>
                <a:ea typeface="Arimo" panose="020B0604020202020204" pitchFamily="34" charset="-122"/>
                <a:cs typeface="Arimo" panose="020B0604020202020204" pitchFamily="34" charset="-120"/>
              </a:rPr>
              <a:t>period_start: Date</a:t>
            </a:r>
            <a:endParaRPr lang="en-US" sz="1600" dirty="0"/>
          </a:p>
        </p:txBody>
      </p:sp>
      <p:sp>
        <p:nvSpPr>
          <p:cNvPr id="22" name="Text 20"/>
          <p:cNvSpPr/>
          <p:nvPr/>
        </p:nvSpPr>
        <p:spPr>
          <a:xfrm>
            <a:off x="9863257" y="4084796"/>
            <a:ext cx="4053721" cy="332423"/>
          </a:xfrm>
          <a:prstGeom prst="rect">
            <a:avLst/>
          </a:prstGeom>
          <a:noFill/>
        </p:spPr>
        <p:txBody>
          <a:bodyPr wrap="none" lIns="0" tIns="0" rIns="0" bIns="0" rtlCol="0" anchor="t"/>
          <a:lstStyle/>
          <a:p>
            <a:pPr marL="342900" indent="-342900" algn="l">
              <a:lnSpc>
                <a:spcPts val="2600"/>
              </a:lnSpc>
              <a:buSzPct val="100000"/>
              <a:buChar char="•"/>
            </a:pPr>
            <a:r>
              <a:rPr lang="en-US" sz="1600" dirty="0">
                <a:solidFill>
                  <a:srgbClr val="2A2742"/>
                </a:solidFill>
                <a:latin typeface="Arimo" panose="020B0604020202020204" pitchFamily="34" charset="0"/>
                <a:ea typeface="Arimo" panose="020B0604020202020204" pitchFamily="34" charset="-122"/>
                <a:cs typeface="Arimo" panose="020B0604020202020204" pitchFamily="34" charset="-120"/>
              </a:rPr>
              <a:t>period_end: Date</a:t>
            </a:r>
            <a:endParaRPr lang="en-US" sz="1600" dirty="0"/>
          </a:p>
        </p:txBody>
      </p:sp>
      <p:sp>
        <p:nvSpPr>
          <p:cNvPr id="23" name="Text 21"/>
          <p:cNvSpPr/>
          <p:nvPr/>
        </p:nvSpPr>
        <p:spPr>
          <a:xfrm>
            <a:off x="9863257" y="4489847"/>
            <a:ext cx="4053721" cy="332423"/>
          </a:xfrm>
          <a:prstGeom prst="rect">
            <a:avLst/>
          </a:prstGeom>
          <a:noFill/>
        </p:spPr>
        <p:txBody>
          <a:bodyPr wrap="none" lIns="0" tIns="0" rIns="0" bIns="0" rtlCol="0" anchor="t"/>
          <a:lstStyle/>
          <a:p>
            <a:pPr marL="342900" indent="-342900" algn="l">
              <a:lnSpc>
                <a:spcPts val="2600"/>
              </a:lnSpc>
              <a:buSzPct val="100000"/>
              <a:buChar char="•"/>
            </a:pPr>
            <a:r>
              <a:rPr lang="en-US" sz="1600" dirty="0">
                <a:solidFill>
                  <a:srgbClr val="2A2742"/>
                </a:solidFill>
                <a:latin typeface="Arimo" panose="020B0604020202020204" pitchFamily="34" charset="0"/>
                <a:ea typeface="Arimo" panose="020B0604020202020204" pitchFamily="34" charset="-122"/>
                <a:cs typeface="Arimo" panose="020B0604020202020204" pitchFamily="34" charset="-120"/>
              </a:rPr>
              <a:t>average_download_speed: Float</a:t>
            </a:r>
            <a:endParaRPr lang="en-US" sz="1600" dirty="0"/>
          </a:p>
        </p:txBody>
      </p:sp>
      <p:sp>
        <p:nvSpPr>
          <p:cNvPr id="24" name="Text 22"/>
          <p:cNvSpPr/>
          <p:nvPr/>
        </p:nvSpPr>
        <p:spPr>
          <a:xfrm>
            <a:off x="9863257" y="4894897"/>
            <a:ext cx="4053721" cy="332423"/>
          </a:xfrm>
          <a:prstGeom prst="rect">
            <a:avLst/>
          </a:prstGeom>
          <a:noFill/>
        </p:spPr>
        <p:txBody>
          <a:bodyPr wrap="none" lIns="0" tIns="0" rIns="0" bIns="0" rtlCol="0" anchor="t"/>
          <a:lstStyle/>
          <a:p>
            <a:pPr marL="342900" indent="-342900" algn="l">
              <a:lnSpc>
                <a:spcPts val="2600"/>
              </a:lnSpc>
              <a:buSzPct val="100000"/>
              <a:buChar char="•"/>
            </a:pPr>
            <a:r>
              <a:rPr lang="en-US" sz="1600" dirty="0">
                <a:solidFill>
                  <a:srgbClr val="2A2742"/>
                </a:solidFill>
                <a:latin typeface="Arimo" panose="020B0604020202020204" pitchFamily="34" charset="0"/>
                <a:ea typeface="Arimo" panose="020B0604020202020204" pitchFamily="34" charset="-122"/>
                <a:cs typeface="Arimo" panose="020B0604020202020204" pitchFamily="34" charset="-120"/>
              </a:rPr>
              <a:t>average_upload_speed: Float</a:t>
            </a:r>
            <a:endParaRPr lang="en-US" sz="1600" dirty="0"/>
          </a:p>
        </p:txBody>
      </p:sp>
      <p:sp>
        <p:nvSpPr>
          <p:cNvPr id="25" name="Text 23"/>
          <p:cNvSpPr/>
          <p:nvPr/>
        </p:nvSpPr>
        <p:spPr>
          <a:xfrm>
            <a:off x="9863257" y="5299948"/>
            <a:ext cx="4053721" cy="332423"/>
          </a:xfrm>
          <a:prstGeom prst="rect">
            <a:avLst/>
          </a:prstGeom>
          <a:noFill/>
        </p:spPr>
        <p:txBody>
          <a:bodyPr wrap="none" lIns="0" tIns="0" rIns="0" bIns="0" rtlCol="0" anchor="t"/>
          <a:lstStyle/>
          <a:p>
            <a:pPr marL="342900" indent="-342900" algn="l">
              <a:lnSpc>
                <a:spcPts val="2600"/>
              </a:lnSpc>
              <a:buSzPct val="100000"/>
              <a:buChar char="•"/>
            </a:pPr>
            <a:r>
              <a:rPr lang="en-US" sz="1600" dirty="0">
                <a:solidFill>
                  <a:srgbClr val="2A2742"/>
                </a:solidFill>
                <a:latin typeface="Arimo" panose="020B0604020202020204" pitchFamily="34" charset="0"/>
                <a:ea typeface="Arimo" panose="020B0604020202020204" pitchFamily="34" charset="-122"/>
                <a:cs typeface="Arimo" panose="020B0604020202020204" pitchFamily="34" charset="-120"/>
              </a:rPr>
              <a:t>average_latency: Float</a:t>
            </a:r>
            <a:endParaRPr lang="en-US" sz="1600" dirty="0"/>
          </a:p>
        </p:txBody>
      </p:sp>
      <p:sp>
        <p:nvSpPr>
          <p:cNvPr id="26" name="Text 24"/>
          <p:cNvSpPr/>
          <p:nvPr/>
        </p:nvSpPr>
        <p:spPr>
          <a:xfrm>
            <a:off x="9863257" y="5704999"/>
            <a:ext cx="4053721" cy="332423"/>
          </a:xfrm>
          <a:prstGeom prst="rect">
            <a:avLst/>
          </a:prstGeom>
          <a:noFill/>
        </p:spPr>
        <p:txBody>
          <a:bodyPr wrap="none" lIns="0" tIns="0" rIns="0" bIns="0" rtlCol="0" anchor="t"/>
          <a:lstStyle/>
          <a:p>
            <a:pPr marL="342900" indent="-342900" algn="l">
              <a:lnSpc>
                <a:spcPts val="2600"/>
              </a:lnSpc>
              <a:buSzPct val="100000"/>
              <a:buChar char="•"/>
            </a:pPr>
            <a:r>
              <a:rPr lang="en-US" sz="1600" dirty="0">
                <a:solidFill>
                  <a:srgbClr val="2A2742"/>
                </a:solidFill>
                <a:latin typeface="Arimo" panose="020B0604020202020204" pitchFamily="34" charset="0"/>
                <a:ea typeface="Arimo" panose="020B0604020202020204" pitchFamily="34" charset="-122"/>
                <a:cs typeface="Arimo" panose="020B0604020202020204" pitchFamily="34" charset="-120"/>
              </a:rPr>
              <a:t>outage_count: Integer</a:t>
            </a:r>
            <a:endParaRPr lang="en-US" sz="1600" dirty="0"/>
          </a:p>
        </p:txBody>
      </p:sp>
      <p:sp>
        <p:nvSpPr>
          <p:cNvPr id="27" name="Text 25"/>
          <p:cNvSpPr/>
          <p:nvPr/>
        </p:nvSpPr>
        <p:spPr>
          <a:xfrm>
            <a:off x="9863257" y="6110049"/>
            <a:ext cx="4053721" cy="332423"/>
          </a:xfrm>
          <a:prstGeom prst="rect">
            <a:avLst/>
          </a:prstGeom>
          <a:noFill/>
        </p:spPr>
        <p:txBody>
          <a:bodyPr wrap="none" lIns="0" tIns="0" rIns="0" bIns="0" rtlCol="0" anchor="t"/>
          <a:lstStyle/>
          <a:p>
            <a:pPr marL="342900" indent="-342900" algn="l">
              <a:lnSpc>
                <a:spcPts val="2600"/>
              </a:lnSpc>
              <a:buSzPct val="100000"/>
              <a:buChar char="•"/>
            </a:pPr>
            <a:r>
              <a:rPr lang="en-US" sz="1600" dirty="0">
                <a:solidFill>
                  <a:srgbClr val="2A2742"/>
                </a:solidFill>
                <a:latin typeface="Arimo" panose="020B0604020202020204" pitchFamily="34" charset="0"/>
                <a:ea typeface="Arimo" panose="020B0604020202020204" pitchFamily="34" charset="-122"/>
                <a:cs typeface="Arimo" panose="020B0604020202020204" pitchFamily="34" charset="-120"/>
              </a:rPr>
              <a:t>complaint_count: Integer</a:t>
            </a:r>
            <a:endParaRPr lang="en-US" sz="1600" dirty="0"/>
          </a:p>
        </p:txBody>
      </p:sp>
      <p:sp>
        <p:nvSpPr>
          <p:cNvPr id="28" name="Text 26"/>
          <p:cNvSpPr/>
          <p:nvPr/>
        </p:nvSpPr>
        <p:spPr>
          <a:xfrm>
            <a:off x="9863257" y="6515100"/>
            <a:ext cx="4053721" cy="332423"/>
          </a:xfrm>
          <a:prstGeom prst="rect">
            <a:avLst/>
          </a:prstGeom>
          <a:noFill/>
        </p:spPr>
        <p:txBody>
          <a:bodyPr wrap="none" lIns="0" tIns="0" rIns="0" bIns="0" rtlCol="0" anchor="t"/>
          <a:lstStyle/>
          <a:p>
            <a:pPr marL="342900" indent="-342900" algn="l">
              <a:lnSpc>
                <a:spcPts val="2600"/>
              </a:lnSpc>
              <a:buSzPct val="100000"/>
              <a:buChar char="•"/>
            </a:pPr>
            <a:r>
              <a:rPr lang="en-US" sz="1600" dirty="0">
                <a:solidFill>
                  <a:srgbClr val="2A2742"/>
                </a:solidFill>
                <a:latin typeface="Arimo" panose="020B0604020202020204" pitchFamily="34" charset="0"/>
                <a:ea typeface="Arimo" panose="020B0604020202020204" pitchFamily="34" charset="-122"/>
                <a:cs typeface="Arimo" panose="020B0604020202020204" pitchFamily="34" charset="-120"/>
              </a:rPr>
              <a:t>generated_at: Timestamp</a:t>
            </a:r>
            <a:endParaRPr lang="en-US" sz="1600" dirty="0"/>
          </a:p>
        </p:txBody>
      </p:sp>
      <p:sp>
        <p:nvSpPr>
          <p:cNvPr id="29" name="Text 27"/>
          <p:cNvSpPr/>
          <p:nvPr/>
        </p:nvSpPr>
        <p:spPr>
          <a:xfrm>
            <a:off x="9863257" y="6920151"/>
            <a:ext cx="4053721" cy="664845"/>
          </a:xfrm>
          <a:prstGeom prst="rect">
            <a:avLst/>
          </a:prstGeom>
          <a:noFill/>
        </p:spPr>
        <p:txBody>
          <a:bodyPr wrap="square" lIns="0" tIns="0" rIns="0" bIns="0" rtlCol="0" anchor="t"/>
          <a:lstStyle/>
          <a:p>
            <a:pPr marL="342900" indent="-342900" algn="l">
              <a:lnSpc>
                <a:spcPts val="2600"/>
              </a:lnSpc>
              <a:buSzPct val="100000"/>
              <a:buChar char="•"/>
            </a:pPr>
            <a:r>
              <a:rPr lang="en-US" sz="1600" dirty="0">
                <a:solidFill>
                  <a:srgbClr val="2A2742"/>
                </a:solidFill>
                <a:latin typeface="Arimo" panose="020B0604020202020204" pitchFamily="34" charset="0"/>
                <a:ea typeface="Arimo" panose="020B0604020202020204" pitchFamily="34" charset="-122"/>
                <a:cs typeface="Arimo" panose="020B0604020202020204" pitchFamily="34" charset="-120"/>
              </a:rPr>
              <a:t>operator_id (FK): References Operator (nullable for aggregate reports)</a:t>
            </a:r>
            <a:endParaRPr lang="en-US" sz="1600" dirty="0"/>
          </a:p>
        </p:txBody>
      </p:sp>
      <p:sp>
        <p:nvSpPr>
          <p:cNvPr id="30" name="Rounded Rectangle 29"/>
          <p:cNvSpPr/>
          <p:nvPr/>
        </p:nvSpPr>
        <p:spPr>
          <a:xfrm>
            <a:off x="12684125" y="7685405"/>
            <a:ext cx="1946275" cy="513715"/>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680204"/>
            <a:ext cx="7556421" cy="1417558"/>
          </a:xfrm>
          <a:prstGeom prst="rect">
            <a:avLst/>
          </a:prstGeom>
          <a:noFill/>
        </p:spPr>
        <p:txBody>
          <a:bodyPr wrap="square" lIns="0" tIns="0" rIns="0" bIns="0" rtlCol="0" anchor="t"/>
          <a:lstStyle/>
          <a:p>
            <a:pPr marL="0" indent="0" algn="l">
              <a:lnSpc>
                <a:spcPts val="5550"/>
              </a:lnSpc>
              <a:buNone/>
            </a:pPr>
            <a:r>
              <a:rPr lang="en-US" sz="4450" b="1" dirty="0">
                <a:solidFill>
                  <a:srgbClr val="231971"/>
                </a:solidFill>
                <a:latin typeface="Outfit Extra Bold" pitchFamily="34" charset="0"/>
                <a:ea typeface="Outfit Extra Bold" pitchFamily="34" charset="-122"/>
                <a:cs typeface="Outfit Extra Bold" pitchFamily="34" charset="-120"/>
              </a:rPr>
              <a:t>Conceptual Design Overview</a:t>
            </a:r>
            <a:endParaRPr lang="en-US" sz="4450" dirty="0"/>
          </a:p>
        </p:txBody>
      </p:sp>
      <p:sp>
        <p:nvSpPr>
          <p:cNvPr id="4" name="Text 1"/>
          <p:cNvSpPr/>
          <p:nvPr/>
        </p:nvSpPr>
        <p:spPr>
          <a:xfrm>
            <a:off x="6280190" y="2437924"/>
            <a:ext cx="7556421" cy="1814513"/>
          </a:xfrm>
          <a:prstGeom prst="rect">
            <a:avLst/>
          </a:prstGeom>
          <a:noFill/>
        </p:spPr>
        <p:txBody>
          <a:bodyPr wrap="square" lIns="0" tIns="0" rIns="0" bIns="0" rtlCol="0" anchor="t"/>
          <a:lstStyle/>
          <a:p>
            <a:pPr marL="0" indent="0" algn="l">
              <a:lnSpc>
                <a:spcPts val="2850"/>
              </a:lnSpc>
              <a:buNone/>
            </a:pPr>
            <a:r>
              <a:rPr lang="en-US" sz="1750" dirty="0">
                <a:solidFill>
                  <a:srgbClr val="2A2742"/>
                </a:solidFill>
                <a:latin typeface="Arimo" panose="020B0604020202020204" pitchFamily="34" charset="0"/>
                <a:ea typeface="Arimo" panose="020B0604020202020204" pitchFamily="34" charset="-122"/>
                <a:cs typeface="Arimo" panose="020B0604020202020204" pitchFamily="34" charset="-120"/>
              </a:rPr>
              <a:t>Conceptual design defines the data structure and meaning without focusing on physical implementation. It uses Entity-Relationship (ER) diagrams to represent business requirements. The "Checkin" application features a user-centric design with three main roles: Mobile Subscribers, Network Operators, and Regulatory Authorities.</a:t>
            </a:r>
            <a:endParaRPr lang="en-US" sz="1750" dirty="0"/>
          </a:p>
        </p:txBody>
      </p:sp>
      <p:sp>
        <p:nvSpPr>
          <p:cNvPr id="5" name="Shape 2"/>
          <p:cNvSpPr/>
          <p:nvPr/>
        </p:nvSpPr>
        <p:spPr>
          <a:xfrm>
            <a:off x="6280190" y="4507587"/>
            <a:ext cx="510302" cy="510302"/>
          </a:xfrm>
          <a:prstGeom prst="roundRect">
            <a:avLst>
              <a:gd name="adj" fmla="val 18669"/>
            </a:avLst>
          </a:prstGeom>
          <a:solidFill>
            <a:srgbClr val="E9E6FA"/>
          </a:solidFill>
          <a:ln w="7620">
            <a:solidFill>
              <a:srgbClr val="BDB8DF"/>
            </a:solidFill>
            <a:prstDash val="solid"/>
          </a:ln>
        </p:spPr>
      </p:sp>
      <p:pic>
        <p:nvPicPr>
          <p:cNvPr id="6" name="Image 1" descr="preencoded.png"/>
          <p:cNvPicPr>
            <a:picLocks noChangeAspect="1"/>
          </p:cNvPicPr>
          <p:nvPr/>
        </p:nvPicPr>
        <p:blipFill>
          <a:blip r:embed="rId2"/>
          <a:stretch>
            <a:fillRect/>
          </a:stretch>
        </p:blipFill>
        <p:spPr>
          <a:xfrm>
            <a:off x="6365260" y="4550093"/>
            <a:ext cx="340162" cy="425291"/>
          </a:xfrm>
          <a:prstGeom prst="rect">
            <a:avLst/>
          </a:prstGeom>
        </p:spPr>
      </p:pic>
      <p:sp>
        <p:nvSpPr>
          <p:cNvPr id="7" name="Text 3"/>
          <p:cNvSpPr/>
          <p:nvPr/>
        </p:nvSpPr>
        <p:spPr>
          <a:xfrm>
            <a:off x="7017306" y="4585454"/>
            <a:ext cx="2835235" cy="354330"/>
          </a:xfrm>
          <a:prstGeom prst="rect">
            <a:avLst/>
          </a:prstGeom>
          <a:noFill/>
        </p:spPr>
        <p:txBody>
          <a:bodyPr wrap="none" lIns="0" tIns="0" rIns="0" bIns="0" rtlCol="0" anchor="t"/>
          <a:lstStyle/>
          <a:p>
            <a:pPr marL="0" indent="0" algn="l">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Mobile Subscribers</a:t>
            </a:r>
            <a:endParaRPr lang="en-US" sz="2200" dirty="0"/>
          </a:p>
        </p:txBody>
      </p:sp>
      <p:sp>
        <p:nvSpPr>
          <p:cNvPr id="8" name="Text 4"/>
          <p:cNvSpPr/>
          <p:nvPr/>
        </p:nvSpPr>
        <p:spPr>
          <a:xfrm>
            <a:off x="7017306" y="5075873"/>
            <a:ext cx="2899410" cy="1088708"/>
          </a:xfrm>
          <a:prstGeom prst="rect">
            <a:avLst/>
          </a:prstGeom>
          <a:noFill/>
        </p:spPr>
        <p:txBody>
          <a:bodyPr wrap="square" lIns="0" tIns="0" rIns="0" bIns="0" rtlCol="0" anchor="t"/>
          <a:lstStyle/>
          <a:p>
            <a:pPr marL="0" indent="0" algn="l">
              <a:lnSpc>
                <a:spcPts val="2850"/>
              </a:lnSpc>
              <a:buNone/>
            </a:pPr>
            <a:r>
              <a:rPr lang="en-US" sz="1750" dirty="0">
                <a:solidFill>
                  <a:srgbClr val="2A2742"/>
                </a:solidFill>
                <a:latin typeface="Arimo" panose="020B0604020202020204" pitchFamily="34" charset="0"/>
                <a:ea typeface="Arimo" panose="020B0604020202020204" pitchFamily="34" charset="-122"/>
                <a:cs typeface="Arimo" panose="020B0604020202020204" pitchFamily="34" charset="-120"/>
              </a:rPr>
              <a:t>Primary users monitoring network quality and submitting feedback.</a:t>
            </a:r>
            <a:endParaRPr lang="en-US" sz="1750" dirty="0"/>
          </a:p>
        </p:txBody>
      </p:sp>
      <p:sp>
        <p:nvSpPr>
          <p:cNvPr id="9" name="Shape 5"/>
          <p:cNvSpPr/>
          <p:nvPr/>
        </p:nvSpPr>
        <p:spPr>
          <a:xfrm>
            <a:off x="10200203" y="4507587"/>
            <a:ext cx="510302" cy="510302"/>
          </a:xfrm>
          <a:prstGeom prst="roundRect">
            <a:avLst>
              <a:gd name="adj" fmla="val 18669"/>
            </a:avLst>
          </a:prstGeom>
          <a:solidFill>
            <a:srgbClr val="E9E6FA"/>
          </a:solidFill>
          <a:ln w="7620">
            <a:solidFill>
              <a:srgbClr val="BDB8DF"/>
            </a:solidFill>
            <a:prstDash val="solid"/>
          </a:ln>
        </p:spPr>
      </p:sp>
      <p:pic>
        <p:nvPicPr>
          <p:cNvPr id="10" name="Image 2" descr="preencoded.png"/>
          <p:cNvPicPr>
            <a:picLocks noChangeAspect="1"/>
          </p:cNvPicPr>
          <p:nvPr/>
        </p:nvPicPr>
        <p:blipFill>
          <a:blip r:embed="rId3"/>
          <a:stretch>
            <a:fillRect/>
          </a:stretch>
        </p:blipFill>
        <p:spPr>
          <a:xfrm>
            <a:off x="10285274" y="4550093"/>
            <a:ext cx="340162" cy="425291"/>
          </a:xfrm>
          <a:prstGeom prst="rect">
            <a:avLst/>
          </a:prstGeom>
        </p:spPr>
      </p:pic>
      <p:sp>
        <p:nvSpPr>
          <p:cNvPr id="11" name="Text 6"/>
          <p:cNvSpPr/>
          <p:nvPr/>
        </p:nvSpPr>
        <p:spPr>
          <a:xfrm>
            <a:off x="10937319" y="4585454"/>
            <a:ext cx="2835235" cy="354330"/>
          </a:xfrm>
          <a:prstGeom prst="rect">
            <a:avLst/>
          </a:prstGeom>
          <a:noFill/>
        </p:spPr>
        <p:txBody>
          <a:bodyPr wrap="none" lIns="0" tIns="0" rIns="0" bIns="0" rtlCol="0" anchor="t"/>
          <a:lstStyle/>
          <a:p>
            <a:pPr marL="0" indent="0" algn="l">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Network Operators</a:t>
            </a:r>
            <a:endParaRPr lang="en-US" sz="2200" dirty="0"/>
          </a:p>
        </p:txBody>
      </p:sp>
      <p:sp>
        <p:nvSpPr>
          <p:cNvPr id="12" name="Text 7"/>
          <p:cNvSpPr/>
          <p:nvPr/>
        </p:nvSpPr>
        <p:spPr>
          <a:xfrm>
            <a:off x="10937319" y="5075873"/>
            <a:ext cx="2899410" cy="1088708"/>
          </a:xfrm>
          <a:prstGeom prst="rect">
            <a:avLst/>
          </a:prstGeom>
          <a:noFill/>
        </p:spPr>
        <p:txBody>
          <a:bodyPr wrap="square" lIns="0" tIns="0" rIns="0" bIns="0" rtlCol="0" anchor="t"/>
          <a:lstStyle/>
          <a:p>
            <a:pPr marL="0" indent="0" algn="l">
              <a:lnSpc>
                <a:spcPts val="2850"/>
              </a:lnSpc>
              <a:buNone/>
            </a:pPr>
            <a:r>
              <a:rPr lang="en-US" sz="1750" dirty="0">
                <a:solidFill>
                  <a:srgbClr val="2A2742"/>
                </a:solidFill>
                <a:latin typeface="Arimo" panose="020B0604020202020204" pitchFamily="34" charset="0"/>
                <a:ea typeface="Arimo" panose="020B0604020202020204" pitchFamily="34" charset="-122"/>
                <a:cs typeface="Arimo" panose="020B0604020202020204" pitchFamily="34" charset="-120"/>
              </a:rPr>
              <a:t>Secondary users receiving aggregated reports and individual feedback.</a:t>
            </a:r>
            <a:endParaRPr lang="en-US" sz="1750" dirty="0"/>
          </a:p>
        </p:txBody>
      </p:sp>
      <p:sp>
        <p:nvSpPr>
          <p:cNvPr id="13" name="Shape 8"/>
          <p:cNvSpPr/>
          <p:nvPr/>
        </p:nvSpPr>
        <p:spPr>
          <a:xfrm>
            <a:off x="6280190" y="6618208"/>
            <a:ext cx="510302" cy="510302"/>
          </a:xfrm>
          <a:prstGeom prst="roundRect">
            <a:avLst>
              <a:gd name="adj" fmla="val 18669"/>
            </a:avLst>
          </a:prstGeom>
          <a:solidFill>
            <a:srgbClr val="E9E6FA"/>
          </a:solidFill>
          <a:ln w="7620">
            <a:solidFill>
              <a:srgbClr val="BDB8DF"/>
            </a:solidFill>
            <a:prstDash val="solid"/>
          </a:ln>
        </p:spPr>
      </p:sp>
      <p:pic>
        <p:nvPicPr>
          <p:cNvPr id="14" name="Image 3" descr="preencoded.png"/>
          <p:cNvPicPr>
            <a:picLocks noChangeAspect="1"/>
          </p:cNvPicPr>
          <p:nvPr/>
        </p:nvPicPr>
        <p:blipFill>
          <a:blip r:embed="rId4"/>
          <a:stretch>
            <a:fillRect/>
          </a:stretch>
        </p:blipFill>
        <p:spPr>
          <a:xfrm>
            <a:off x="6365260" y="6660713"/>
            <a:ext cx="340162" cy="425291"/>
          </a:xfrm>
          <a:prstGeom prst="rect">
            <a:avLst/>
          </a:prstGeom>
        </p:spPr>
      </p:pic>
      <p:sp>
        <p:nvSpPr>
          <p:cNvPr id="15" name="Text 9"/>
          <p:cNvSpPr/>
          <p:nvPr/>
        </p:nvSpPr>
        <p:spPr>
          <a:xfrm>
            <a:off x="7017306" y="6696075"/>
            <a:ext cx="3002042" cy="354330"/>
          </a:xfrm>
          <a:prstGeom prst="rect">
            <a:avLst/>
          </a:prstGeom>
          <a:noFill/>
        </p:spPr>
        <p:txBody>
          <a:bodyPr wrap="none" lIns="0" tIns="0" rIns="0" bIns="0" rtlCol="0" anchor="t"/>
          <a:lstStyle/>
          <a:p>
            <a:pPr marL="0" indent="0" algn="l">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Regulatory Authorities</a:t>
            </a:r>
            <a:endParaRPr lang="en-US" sz="2200" dirty="0"/>
          </a:p>
        </p:txBody>
      </p:sp>
      <p:sp>
        <p:nvSpPr>
          <p:cNvPr id="16" name="Text 10"/>
          <p:cNvSpPr/>
          <p:nvPr/>
        </p:nvSpPr>
        <p:spPr>
          <a:xfrm>
            <a:off x="7017306" y="7186493"/>
            <a:ext cx="6819305" cy="362903"/>
          </a:xfrm>
          <a:prstGeom prst="rect">
            <a:avLst/>
          </a:prstGeom>
          <a:noFill/>
        </p:spPr>
        <p:txBody>
          <a:bodyPr wrap="none" lIns="0" tIns="0" rIns="0" bIns="0" rtlCol="0" anchor="t"/>
          <a:lstStyle/>
          <a:p>
            <a:pPr marL="0" indent="0" algn="l">
              <a:lnSpc>
                <a:spcPts val="2850"/>
              </a:lnSpc>
              <a:buNone/>
            </a:pPr>
            <a:r>
              <a:rPr lang="en-US" sz="1750" dirty="0">
                <a:solidFill>
                  <a:srgbClr val="2A2742"/>
                </a:solidFill>
                <a:latin typeface="Arimo" panose="020B0604020202020204" pitchFamily="34" charset="0"/>
                <a:ea typeface="Arimo" panose="020B0604020202020204" pitchFamily="34" charset="-122"/>
                <a:cs typeface="Arimo" panose="020B0604020202020204" pitchFamily="34" charset="-120"/>
              </a:rPr>
              <a:t>Tertiary users receiving anonymized aggregate data for compliance.</a:t>
            </a:r>
            <a:endParaRPr lang="en-US" sz="1750" dirty="0"/>
          </a:p>
        </p:txBody>
      </p:sp>
      <p:sp>
        <p:nvSpPr>
          <p:cNvPr id="17" name="Rounded Rectangle 16"/>
          <p:cNvSpPr/>
          <p:nvPr/>
        </p:nvSpPr>
        <p:spPr>
          <a:xfrm>
            <a:off x="12684125" y="7685405"/>
            <a:ext cx="1946275" cy="513715"/>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96875" y="496570"/>
            <a:ext cx="5781675" cy="746125"/>
          </a:xfrm>
          <a:prstGeom prst="rect">
            <a:avLst/>
          </a:prstGeom>
          <a:noFill/>
        </p:spPr>
        <p:txBody>
          <a:bodyPr wrap="none" lIns="0" tIns="0" rIns="0" bIns="0" rtlCol="0" anchor="t"/>
          <a:lstStyle/>
          <a:p>
            <a:pPr marL="0" indent="0" algn="l">
              <a:lnSpc>
                <a:spcPts val="2750"/>
              </a:lnSpc>
              <a:buNone/>
            </a:pPr>
            <a:r>
              <a:rPr lang="en-US" sz="2800" b="1" dirty="0">
                <a:solidFill>
                  <a:srgbClr val="231971"/>
                </a:solidFill>
                <a:latin typeface="Outfit Extra Bold" pitchFamily="34" charset="0"/>
                <a:ea typeface="Outfit Extra Bold" pitchFamily="34" charset="-122"/>
                <a:cs typeface="Outfit Extra Bold" pitchFamily="34" charset="-120"/>
              </a:rPr>
              <a:t>Key Conceptual Components &amp; ERD</a:t>
            </a:r>
            <a:endParaRPr lang="en-US" sz="2800" b="1" dirty="0">
              <a:solidFill>
                <a:srgbClr val="231971"/>
              </a:solidFill>
              <a:latin typeface="Outfit Extra Bold" pitchFamily="34" charset="0"/>
              <a:ea typeface="Outfit Extra Bold" pitchFamily="34" charset="-122"/>
              <a:cs typeface="Outfit Extra Bold" pitchFamily="34" charset="-120"/>
            </a:endParaRPr>
          </a:p>
        </p:txBody>
      </p:sp>
      <p:sp>
        <p:nvSpPr>
          <p:cNvPr id="3" name="Text 1"/>
          <p:cNvSpPr/>
          <p:nvPr/>
        </p:nvSpPr>
        <p:spPr>
          <a:xfrm>
            <a:off x="396875" y="1299210"/>
            <a:ext cx="8378190" cy="1996440"/>
          </a:xfrm>
          <a:prstGeom prst="rect">
            <a:avLst/>
          </a:prstGeom>
          <a:noFill/>
        </p:spPr>
        <p:txBody>
          <a:bodyPr wrap="square" lIns="0" tIns="0" rIns="0" bIns="0" rtlCol="0" anchor="t"/>
          <a:lstStyle/>
          <a:p>
            <a:pPr marL="0" indent="0" algn="l">
              <a:lnSpc>
                <a:spcPct val="150000"/>
              </a:lnSpc>
              <a:buNone/>
            </a:pPr>
            <a:r>
              <a:rPr lang="en-US" sz="1600" dirty="0">
                <a:solidFill>
                  <a:srgbClr val="2A2742"/>
                </a:solidFill>
                <a:latin typeface="Arimo" panose="020B0604020202020204" pitchFamily="34" charset="0"/>
                <a:ea typeface="Arimo" panose="020B0604020202020204" pitchFamily="34" charset="-122"/>
                <a:cs typeface="Arimo" panose="020B0604020202020204" pitchFamily="34" charset="-120"/>
              </a:rPr>
              <a:t>The "Checkin" app's conceptual design includes continuous network monitoring, a user feedback system, an alert system, comprehensive reporting, and settings management. These components are interconnected, as illustrated in the Entity-Relationship Diagram (ERD), which defines relationships between entities like User, NetworkMetrics, and FeedbackReports.</a:t>
            </a:r>
            <a:endParaRPr lang="en-US" sz="1600" dirty="0">
              <a:solidFill>
                <a:srgbClr val="2A2742"/>
              </a:solidFill>
              <a:latin typeface="Arimo" panose="020B0604020202020204" pitchFamily="34" charset="0"/>
              <a:ea typeface="Arimo" panose="020B0604020202020204" pitchFamily="34" charset="-122"/>
              <a:cs typeface="Arimo" panose="020B0604020202020204" pitchFamily="34" charset="-120"/>
            </a:endParaRPr>
          </a:p>
        </p:txBody>
      </p:sp>
      <p:pic>
        <p:nvPicPr>
          <p:cNvPr id="4" name="Image 0" descr="preencoded.png"/>
          <p:cNvPicPr>
            <a:picLocks noChangeAspect="1"/>
          </p:cNvPicPr>
          <p:nvPr/>
        </p:nvPicPr>
        <p:blipFill>
          <a:blip r:embed="rId1"/>
          <a:stretch>
            <a:fillRect/>
          </a:stretch>
        </p:blipFill>
        <p:spPr>
          <a:xfrm>
            <a:off x="395565" y="3561437"/>
            <a:ext cx="566976" cy="680442"/>
          </a:xfrm>
          <a:prstGeom prst="rect">
            <a:avLst/>
          </a:prstGeom>
        </p:spPr>
      </p:pic>
      <p:sp>
        <p:nvSpPr>
          <p:cNvPr id="5" name="Text 2"/>
          <p:cNvSpPr/>
          <p:nvPr/>
        </p:nvSpPr>
        <p:spPr>
          <a:xfrm>
            <a:off x="1132562" y="3674785"/>
            <a:ext cx="1417558" cy="177165"/>
          </a:xfrm>
          <a:prstGeom prst="rect">
            <a:avLst/>
          </a:prstGeom>
          <a:noFill/>
        </p:spPr>
        <p:txBody>
          <a:bodyPr wrap="none" lIns="0" tIns="0" rIns="0" bIns="0" rtlCol="0" anchor="t"/>
          <a:lstStyle/>
          <a:p>
            <a:pPr marL="0" indent="0" algn="l">
              <a:lnSpc>
                <a:spcPts val="1350"/>
              </a:lnSpc>
              <a:buNone/>
            </a:pPr>
            <a:r>
              <a:rPr lang="en-US" sz="1600" b="1" dirty="0">
                <a:solidFill>
                  <a:srgbClr val="2A2742"/>
                </a:solidFill>
                <a:latin typeface="Outfit Extra Bold" pitchFamily="34" charset="0"/>
                <a:ea typeface="Outfit Extra Bold" pitchFamily="34" charset="-122"/>
                <a:cs typeface="Outfit Extra Bold" pitchFamily="34" charset="-120"/>
              </a:rPr>
              <a:t>Network Monitoring</a:t>
            </a:r>
            <a:endParaRPr lang="en-US" sz="1600" b="1" dirty="0">
              <a:solidFill>
                <a:srgbClr val="2A2742"/>
              </a:solidFill>
              <a:latin typeface="Outfit Extra Bold" pitchFamily="34" charset="0"/>
              <a:ea typeface="Outfit Extra Bold" pitchFamily="34" charset="-122"/>
              <a:cs typeface="Outfit Extra Bold" pitchFamily="34" charset="-120"/>
            </a:endParaRPr>
          </a:p>
        </p:txBody>
      </p:sp>
      <p:sp>
        <p:nvSpPr>
          <p:cNvPr id="6" name="Text 3"/>
          <p:cNvSpPr/>
          <p:nvPr/>
        </p:nvSpPr>
        <p:spPr>
          <a:xfrm>
            <a:off x="1132562" y="3919934"/>
            <a:ext cx="13099733" cy="181451"/>
          </a:xfrm>
          <a:prstGeom prst="rect">
            <a:avLst/>
          </a:prstGeom>
          <a:noFill/>
        </p:spPr>
        <p:txBody>
          <a:bodyPr wrap="none" lIns="0" tIns="0" rIns="0" bIns="0" rtlCol="0" anchor="t"/>
          <a:lstStyle/>
          <a:p>
            <a:pPr marL="0" indent="0" algn="l">
              <a:lnSpc>
                <a:spcPts val="1400"/>
              </a:lnSpc>
              <a:buNone/>
            </a:pPr>
            <a:r>
              <a:rPr lang="en-US" sz="1600" dirty="0">
                <a:solidFill>
                  <a:srgbClr val="2A2742"/>
                </a:solidFill>
                <a:latin typeface="Arimo" panose="020B0604020202020204" pitchFamily="34" charset="0"/>
                <a:ea typeface="Arimo" panose="020B0604020202020204" pitchFamily="34" charset="-122"/>
                <a:cs typeface="Arimo" panose="020B0604020202020204" pitchFamily="34" charset="-120"/>
              </a:rPr>
              <a:t>Continuous background collection of network metrics.</a:t>
            </a:r>
            <a:endParaRPr lang="en-US" sz="1600" dirty="0">
              <a:solidFill>
                <a:srgbClr val="2A2742"/>
              </a:solidFill>
              <a:latin typeface="Arimo" panose="020B0604020202020204" pitchFamily="34" charset="0"/>
              <a:ea typeface="Arimo" panose="020B0604020202020204" pitchFamily="34" charset="-122"/>
              <a:cs typeface="Arimo" panose="020B0604020202020204" pitchFamily="34" charset="-120"/>
            </a:endParaRPr>
          </a:p>
        </p:txBody>
      </p:sp>
      <p:pic>
        <p:nvPicPr>
          <p:cNvPr id="7" name="Image 1" descr="preencoded.png"/>
          <p:cNvPicPr>
            <a:picLocks noChangeAspect="1"/>
          </p:cNvPicPr>
          <p:nvPr/>
        </p:nvPicPr>
        <p:blipFill>
          <a:blip r:embed="rId2"/>
          <a:stretch>
            <a:fillRect/>
          </a:stretch>
        </p:blipFill>
        <p:spPr>
          <a:xfrm>
            <a:off x="395565" y="4241879"/>
            <a:ext cx="566976" cy="680442"/>
          </a:xfrm>
          <a:prstGeom prst="rect">
            <a:avLst/>
          </a:prstGeom>
        </p:spPr>
      </p:pic>
      <p:sp>
        <p:nvSpPr>
          <p:cNvPr id="8" name="Text 4"/>
          <p:cNvSpPr/>
          <p:nvPr/>
        </p:nvSpPr>
        <p:spPr>
          <a:xfrm>
            <a:off x="1132562" y="4355227"/>
            <a:ext cx="1417558" cy="177165"/>
          </a:xfrm>
          <a:prstGeom prst="rect">
            <a:avLst/>
          </a:prstGeom>
          <a:noFill/>
        </p:spPr>
        <p:txBody>
          <a:bodyPr wrap="none" lIns="0" tIns="0" rIns="0" bIns="0" rtlCol="0" anchor="t"/>
          <a:lstStyle/>
          <a:p>
            <a:pPr marL="0" indent="0" algn="l">
              <a:lnSpc>
                <a:spcPts val="1350"/>
              </a:lnSpc>
              <a:buNone/>
            </a:pPr>
            <a:r>
              <a:rPr lang="en-US" sz="1600" b="1" dirty="0">
                <a:solidFill>
                  <a:srgbClr val="2A2742"/>
                </a:solidFill>
                <a:latin typeface="Outfit Extra Bold" pitchFamily="34" charset="0"/>
                <a:ea typeface="Outfit Extra Bold" pitchFamily="34" charset="-122"/>
                <a:cs typeface="Outfit Extra Bold" pitchFamily="34" charset="-120"/>
              </a:rPr>
              <a:t>Feedback System</a:t>
            </a:r>
            <a:endParaRPr lang="en-US" sz="1600" b="1" dirty="0">
              <a:solidFill>
                <a:srgbClr val="2A2742"/>
              </a:solidFill>
              <a:latin typeface="Outfit Extra Bold" pitchFamily="34" charset="0"/>
              <a:ea typeface="Outfit Extra Bold" pitchFamily="34" charset="-122"/>
              <a:cs typeface="Outfit Extra Bold" pitchFamily="34" charset="-120"/>
            </a:endParaRPr>
          </a:p>
        </p:txBody>
      </p:sp>
      <p:sp>
        <p:nvSpPr>
          <p:cNvPr id="9" name="Text 5"/>
          <p:cNvSpPr/>
          <p:nvPr/>
        </p:nvSpPr>
        <p:spPr>
          <a:xfrm>
            <a:off x="1132562" y="4600377"/>
            <a:ext cx="13099733" cy="181451"/>
          </a:xfrm>
          <a:prstGeom prst="rect">
            <a:avLst/>
          </a:prstGeom>
          <a:noFill/>
        </p:spPr>
        <p:txBody>
          <a:bodyPr wrap="none" lIns="0" tIns="0" rIns="0" bIns="0" rtlCol="0" anchor="t"/>
          <a:lstStyle/>
          <a:p>
            <a:pPr marL="0" indent="0" algn="l">
              <a:lnSpc>
                <a:spcPts val="1400"/>
              </a:lnSpc>
              <a:buNone/>
            </a:pPr>
            <a:r>
              <a:rPr lang="en-US" sz="1600" dirty="0">
                <a:solidFill>
                  <a:srgbClr val="2A2742"/>
                </a:solidFill>
                <a:latin typeface="Arimo" panose="020B0604020202020204" pitchFamily="34" charset="0"/>
                <a:ea typeface="Arimo" panose="020B0604020202020204" pitchFamily="34" charset="-122"/>
                <a:cs typeface="Arimo" panose="020B0604020202020204" pitchFamily="34" charset="-120"/>
              </a:rPr>
              <a:t>User-submitted reports with optional location data.</a:t>
            </a:r>
            <a:endParaRPr lang="en-US" sz="1600" dirty="0">
              <a:solidFill>
                <a:srgbClr val="2A2742"/>
              </a:solidFill>
              <a:latin typeface="Arimo" panose="020B0604020202020204" pitchFamily="34" charset="0"/>
              <a:ea typeface="Arimo" panose="020B0604020202020204" pitchFamily="34" charset="-122"/>
              <a:cs typeface="Arimo" panose="020B0604020202020204" pitchFamily="34" charset="-120"/>
            </a:endParaRPr>
          </a:p>
        </p:txBody>
      </p:sp>
      <p:pic>
        <p:nvPicPr>
          <p:cNvPr id="10" name="Image 2" descr="preencoded.png"/>
          <p:cNvPicPr>
            <a:picLocks noChangeAspect="1"/>
          </p:cNvPicPr>
          <p:nvPr/>
        </p:nvPicPr>
        <p:blipFill>
          <a:blip r:embed="rId3"/>
          <a:stretch>
            <a:fillRect/>
          </a:stretch>
        </p:blipFill>
        <p:spPr>
          <a:xfrm>
            <a:off x="395565" y="4922322"/>
            <a:ext cx="566976" cy="680442"/>
          </a:xfrm>
          <a:prstGeom prst="rect">
            <a:avLst/>
          </a:prstGeom>
        </p:spPr>
      </p:pic>
      <p:sp>
        <p:nvSpPr>
          <p:cNvPr id="11" name="Text 6"/>
          <p:cNvSpPr/>
          <p:nvPr/>
        </p:nvSpPr>
        <p:spPr>
          <a:xfrm>
            <a:off x="1132562" y="5035669"/>
            <a:ext cx="1417558" cy="177165"/>
          </a:xfrm>
          <a:prstGeom prst="rect">
            <a:avLst/>
          </a:prstGeom>
          <a:noFill/>
        </p:spPr>
        <p:txBody>
          <a:bodyPr wrap="none" lIns="0" tIns="0" rIns="0" bIns="0" rtlCol="0" anchor="t"/>
          <a:lstStyle/>
          <a:p>
            <a:pPr marL="0" indent="0" algn="l">
              <a:lnSpc>
                <a:spcPts val="1350"/>
              </a:lnSpc>
              <a:buNone/>
            </a:pPr>
            <a:r>
              <a:rPr lang="en-US" sz="1600" b="1" dirty="0">
                <a:solidFill>
                  <a:srgbClr val="2A2742"/>
                </a:solidFill>
                <a:latin typeface="Outfit Extra Bold" pitchFamily="34" charset="0"/>
                <a:ea typeface="Outfit Extra Bold" pitchFamily="34" charset="-122"/>
                <a:cs typeface="Outfit Extra Bold" pitchFamily="34" charset="-120"/>
              </a:rPr>
              <a:t>Alert System</a:t>
            </a:r>
            <a:endParaRPr lang="en-US" sz="1600" b="1" dirty="0">
              <a:solidFill>
                <a:srgbClr val="2A2742"/>
              </a:solidFill>
              <a:latin typeface="Outfit Extra Bold" pitchFamily="34" charset="0"/>
              <a:ea typeface="Outfit Extra Bold" pitchFamily="34" charset="-122"/>
              <a:cs typeface="Outfit Extra Bold" pitchFamily="34" charset="-120"/>
            </a:endParaRPr>
          </a:p>
        </p:txBody>
      </p:sp>
      <p:sp>
        <p:nvSpPr>
          <p:cNvPr id="12" name="Text 7"/>
          <p:cNvSpPr/>
          <p:nvPr/>
        </p:nvSpPr>
        <p:spPr>
          <a:xfrm>
            <a:off x="1132562" y="5281454"/>
            <a:ext cx="13099733" cy="181451"/>
          </a:xfrm>
          <a:prstGeom prst="rect">
            <a:avLst/>
          </a:prstGeom>
          <a:noFill/>
        </p:spPr>
        <p:txBody>
          <a:bodyPr wrap="none" lIns="0" tIns="0" rIns="0" bIns="0" rtlCol="0" anchor="t"/>
          <a:lstStyle/>
          <a:p>
            <a:pPr marL="0" indent="0" algn="l">
              <a:lnSpc>
                <a:spcPts val="1400"/>
              </a:lnSpc>
              <a:buNone/>
            </a:pPr>
            <a:r>
              <a:rPr lang="en-US" sz="1600" dirty="0">
                <a:solidFill>
                  <a:srgbClr val="2A2742"/>
                </a:solidFill>
                <a:latin typeface="Arimo" panose="020B0604020202020204" pitchFamily="34" charset="0"/>
                <a:ea typeface="Arimo" panose="020B0604020202020204" pitchFamily="34" charset="-122"/>
                <a:cs typeface="Arimo" panose="020B0604020202020204" pitchFamily="34" charset="-120"/>
              </a:rPr>
              <a:t>Notifications about network conditions or feedback responses.</a:t>
            </a:r>
            <a:endParaRPr lang="en-US" sz="1600" dirty="0">
              <a:solidFill>
                <a:srgbClr val="2A2742"/>
              </a:solidFill>
              <a:latin typeface="Arimo" panose="020B0604020202020204" pitchFamily="34" charset="0"/>
              <a:ea typeface="Arimo" panose="020B0604020202020204" pitchFamily="34" charset="-122"/>
              <a:cs typeface="Arimo" panose="020B0604020202020204" pitchFamily="34" charset="-120"/>
            </a:endParaRPr>
          </a:p>
        </p:txBody>
      </p:sp>
      <p:pic>
        <p:nvPicPr>
          <p:cNvPr id="13" name="Image 3" descr="preencoded.png"/>
          <p:cNvPicPr>
            <a:picLocks noChangeAspect="1"/>
          </p:cNvPicPr>
          <p:nvPr/>
        </p:nvPicPr>
        <p:blipFill>
          <a:blip r:embed="rId4"/>
          <a:stretch>
            <a:fillRect/>
          </a:stretch>
        </p:blipFill>
        <p:spPr>
          <a:xfrm>
            <a:off x="395565" y="5602764"/>
            <a:ext cx="566976" cy="680442"/>
          </a:xfrm>
          <a:prstGeom prst="rect">
            <a:avLst/>
          </a:prstGeom>
        </p:spPr>
      </p:pic>
      <p:sp>
        <p:nvSpPr>
          <p:cNvPr id="14" name="Text 8"/>
          <p:cNvSpPr/>
          <p:nvPr/>
        </p:nvSpPr>
        <p:spPr>
          <a:xfrm>
            <a:off x="1132562" y="5716111"/>
            <a:ext cx="1417558" cy="177165"/>
          </a:xfrm>
          <a:prstGeom prst="rect">
            <a:avLst/>
          </a:prstGeom>
          <a:noFill/>
        </p:spPr>
        <p:txBody>
          <a:bodyPr wrap="none" lIns="0" tIns="0" rIns="0" bIns="0" rtlCol="0" anchor="t"/>
          <a:lstStyle/>
          <a:p>
            <a:pPr marL="0" indent="0" algn="l">
              <a:lnSpc>
                <a:spcPts val="1350"/>
              </a:lnSpc>
              <a:buNone/>
            </a:pPr>
            <a:r>
              <a:rPr lang="en-US" sz="1600" b="1" dirty="0">
                <a:solidFill>
                  <a:srgbClr val="2A2742"/>
                </a:solidFill>
                <a:latin typeface="Outfit Extra Bold" pitchFamily="34" charset="0"/>
                <a:ea typeface="Outfit Extra Bold" pitchFamily="34" charset="-122"/>
                <a:cs typeface="Outfit Extra Bold" pitchFamily="34" charset="-120"/>
              </a:rPr>
              <a:t>Reporting</a:t>
            </a:r>
            <a:endParaRPr lang="en-US" sz="1600" b="1" dirty="0">
              <a:solidFill>
                <a:srgbClr val="2A2742"/>
              </a:solidFill>
              <a:latin typeface="Outfit Extra Bold" pitchFamily="34" charset="0"/>
              <a:ea typeface="Outfit Extra Bold" pitchFamily="34" charset="-122"/>
              <a:cs typeface="Outfit Extra Bold" pitchFamily="34" charset="-120"/>
            </a:endParaRPr>
          </a:p>
        </p:txBody>
      </p:sp>
      <p:sp>
        <p:nvSpPr>
          <p:cNvPr id="15" name="Text 9"/>
          <p:cNvSpPr/>
          <p:nvPr/>
        </p:nvSpPr>
        <p:spPr>
          <a:xfrm>
            <a:off x="1132562" y="5961261"/>
            <a:ext cx="13099733" cy="181451"/>
          </a:xfrm>
          <a:prstGeom prst="rect">
            <a:avLst/>
          </a:prstGeom>
          <a:noFill/>
        </p:spPr>
        <p:txBody>
          <a:bodyPr wrap="none" lIns="0" tIns="0" rIns="0" bIns="0" rtlCol="0" anchor="t"/>
          <a:lstStyle/>
          <a:p>
            <a:pPr marL="0" indent="0" algn="l">
              <a:lnSpc>
                <a:spcPts val="1400"/>
              </a:lnSpc>
              <a:buNone/>
            </a:pPr>
            <a:r>
              <a:rPr lang="en-US" sz="1600" dirty="0">
                <a:solidFill>
                  <a:srgbClr val="2A2742"/>
                </a:solidFill>
                <a:latin typeface="Arimo" panose="020B0604020202020204" pitchFamily="34" charset="0"/>
                <a:ea typeface="Arimo" panose="020B0604020202020204" pitchFamily="34" charset="-122"/>
                <a:cs typeface="Arimo" panose="020B0604020202020204" pitchFamily="34" charset="-120"/>
              </a:rPr>
              <a:t>Historical views of metrics and feedback for all user types.</a:t>
            </a:r>
            <a:endParaRPr lang="en-US" sz="1600" dirty="0">
              <a:solidFill>
                <a:srgbClr val="2A2742"/>
              </a:solidFill>
              <a:latin typeface="Arimo" panose="020B0604020202020204" pitchFamily="34" charset="0"/>
              <a:ea typeface="Arimo" panose="020B0604020202020204" pitchFamily="34" charset="-122"/>
              <a:cs typeface="Arimo" panose="020B0604020202020204" pitchFamily="34" charset="-120"/>
            </a:endParaRPr>
          </a:p>
        </p:txBody>
      </p:sp>
      <p:pic>
        <p:nvPicPr>
          <p:cNvPr id="16" name="Image 4" descr="preencoded.png"/>
          <p:cNvPicPr>
            <a:picLocks noChangeAspect="1"/>
          </p:cNvPicPr>
          <p:nvPr/>
        </p:nvPicPr>
        <p:blipFill>
          <a:blip r:embed="rId5"/>
          <a:stretch>
            <a:fillRect/>
          </a:stretch>
        </p:blipFill>
        <p:spPr>
          <a:xfrm>
            <a:off x="395565" y="6283206"/>
            <a:ext cx="566976" cy="680442"/>
          </a:xfrm>
          <a:prstGeom prst="rect">
            <a:avLst/>
          </a:prstGeom>
        </p:spPr>
      </p:pic>
      <p:sp>
        <p:nvSpPr>
          <p:cNvPr id="17" name="Text 10"/>
          <p:cNvSpPr/>
          <p:nvPr/>
        </p:nvSpPr>
        <p:spPr>
          <a:xfrm>
            <a:off x="1132562" y="6396553"/>
            <a:ext cx="1455063" cy="177165"/>
          </a:xfrm>
          <a:prstGeom prst="rect">
            <a:avLst/>
          </a:prstGeom>
          <a:noFill/>
        </p:spPr>
        <p:txBody>
          <a:bodyPr wrap="none" lIns="0" tIns="0" rIns="0" bIns="0" rtlCol="0" anchor="t"/>
          <a:lstStyle/>
          <a:p>
            <a:pPr marL="0" indent="0" algn="l">
              <a:lnSpc>
                <a:spcPts val="1350"/>
              </a:lnSpc>
              <a:buNone/>
            </a:pPr>
            <a:r>
              <a:rPr lang="en-US" sz="1600" b="1" dirty="0">
                <a:solidFill>
                  <a:srgbClr val="2A2742"/>
                </a:solidFill>
                <a:latin typeface="Outfit Extra Bold" pitchFamily="34" charset="0"/>
                <a:ea typeface="Outfit Extra Bold" pitchFamily="34" charset="-122"/>
                <a:cs typeface="Outfit Extra Bold" pitchFamily="34" charset="-120"/>
              </a:rPr>
              <a:t>Settings Management</a:t>
            </a:r>
            <a:endParaRPr lang="en-US" sz="1600" b="1" dirty="0">
              <a:solidFill>
                <a:srgbClr val="2A2742"/>
              </a:solidFill>
              <a:latin typeface="Outfit Extra Bold" pitchFamily="34" charset="0"/>
              <a:ea typeface="Outfit Extra Bold" pitchFamily="34" charset="-122"/>
              <a:cs typeface="Outfit Extra Bold" pitchFamily="34" charset="-120"/>
            </a:endParaRPr>
          </a:p>
        </p:txBody>
      </p:sp>
      <p:sp>
        <p:nvSpPr>
          <p:cNvPr id="18" name="Text 11"/>
          <p:cNvSpPr/>
          <p:nvPr/>
        </p:nvSpPr>
        <p:spPr>
          <a:xfrm>
            <a:off x="1132562" y="6641703"/>
            <a:ext cx="13099733" cy="181451"/>
          </a:xfrm>
          <a:prstGeom prst="rect">
            <a:avLst/>
          </a:prstGeom>
          <a:noFill/>
        </p:spPr>
        <p:txBody>
          <a:bodyPr wrap="none" lIns="0" tIns="0" rIns="0" bIns="0" rtlCol="0" anchor="t"/>
          <a:lstStyle/>
          <a:p>
            <a:pPr marL="0" indent="0" algn="l">
              <a:lnSpc>
                <a:spcPts val="1400"/>
              </a:lnSpc>
              <a:buNone/>
            </a:pPr>
            <a:r>
              <a:rPr lang="en-US" sz="1600" dirty="0">
                <a:solidFill>
                  <a:srgbClr val="2A2742"/>
                </a:solidFill>
                <a:latin typeface="Arimo" panose="020B0604020202020204" pitchFamily="34" charset="0"/>
                <a:ea typeface="Arimo" panose="020B0604020202020204" pitchFamily="34" charset="-122"/>
                <a:cs typeface="Arimo" panose="020B0604020202020204" pitchFamily="34" charset="-120"/>
              </a:rPr>
              <a:t>User preferences for privacy, notifications, and language.</a:t>
            </a:r>
            <a:endParaRPr lang="en-US" sz="1600" dirty="0">
              <a:solidFill>
                <a:srgbClr val="2A2742"/>
              </a:solidFill>
              <a:latin typeface="Arimo" panose="020B0604020202020204" pitchFamily="34" charset="0"/>
              <a:ea typeface="Arimo" panose="020B0604020202020204" pitchFamily="34" charset="-122"/>
              <a:cs typeface="Arimo" panose="020B0604020202020204" pitchFamily="34" charset="-120"/>
            </a:endParaRPr>
          </a:p>
        </p:txBody>
      </p:sp>
      <p:sp>
        <p:nvSpPr>
          <p:cNvPr id="21" name="Rounded Rectangle 20"/>
          <p:cNvSpPr/>
          <p:nvPr/>
        </p:nvSpPr>
        <p:spPr>
          <a:xfrm>
            <a:off x="12684125" y="7685405"/>
            <a:ext cx="1946275" cy="513715"/>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22" name="Image 0" descr="preencoded.png"/>
          <p:cNvPicPr>
            <a:picLocks noChangeAspect="1"/>
          </p:cNvPicPr>
          <p:nvPr/>
        </p:nvPicPr>
        <p:blipFill>
          <a:blip r:embed="rId6"/>
          <a:stretch>
            <a:fillRect/>
          </a:stretch>
        </p:blipFill>
        <p:spPr>
          <a:xfrm>
            <a:off x="9144000" y="0"/>
            <a:ext cx="5486400" cy="8229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 name="Image 5" descr="preencoded.png"/>
          <p:cNvPicPr>
            <a:picLocks noChangeAspect="1"/>
          </p:cNvPicPr>
          <p:nvPr/>
        </p:nvPicPr>
        <p:blipFill>
          <a:blip r:embed="rId1"/>
          <a:stretch>
            <a:fillRect/>
          </a:stretch>
        </p:blipFill>
        <p:spPr>
          <a:xfrm>
            <a:off x="194945" y="967105"/>
            <a:ext cx="10500995" cy="7185025"/>
          </a:xfrm>
          <a:prstGeom prst="rect">
            <a:avLst/>
          </a:prstGeom>
        </p:spPr>
      </p:pic>
      <p:pic>
        <p:nvPicPr>
          <p:cNvPr id="1025623750" name="Picture 1"/>
          <p:cNvPicPr>
            <a:picLocks noChangeAspect="1"/>
          </p:cNvPicPr>
          <p:nvPr/>
        </p:nvPicPr>
        <p:blipFill>
          <a:blip r:embed="rId2"/>
          <a:stretch>
            <a:fillRect/>
          </a:stretch>
        </p:blipFill>
        <p:spPr>
          <a:xfrm>
            <a:off x="10601325" y="967105"/>
            <a:ext cx="3877945" cy="7185025"/>
          </a:xfrm>
          <a:prstGeom prst="rect">
            <a:avLst/>
          </a:prstGeom>
        </p:spPr>
      </p:pic>
      <p:sp>
        <p:nvSpPr>
          <p:cNvPr id="2" name="Text 0"/>
          <p:cNvSpPr/>
          <p:nvPr/>
        </p:nvSpPr>
        <p:spPr>
          <a:xfrm>
            <a:off x="396835" y="311825"/>
            <a:ext cx="4660583" cy="354330"/>
          </a:xfrm>
          <a:prstGeom prst="rect">
            <a:avLst/>
          </a:prstGeom>
          <a:noFill/>
        </p:spPr>
        <p:txBody>
          <a:bodyPr wrap="none" lIns="0" tIns="0" rIns="0" bIns="0" rtlCol="0" anchor="t"/>
          <a:p>
            <a:pPr marL="0" indent="0" algn="l">
              <a:lnSpc>
                <a:spcPts val="2750"/>
              </a:lnSpc>
              <a:buNone/>
            </a:pPr>
            <a:r>
              <a:rPr lang="en-US" sz="2200" b="1" dirty="0">
                <a:solidFill>
                  <a:srgbClr val="231971"/>
                </a:solidFill>
                <a:latin typeface="Outfit Extra Bold" pitchFamily="34" charset="0"/>
                <a:ea typeface="Outfit Extra Bold" pitchFamily="34" charset="-122"/>
                <a:cs typeface="Outfit Extra Bold" pitchFamily="34" charset="-120"/>
              </a:rPr>
              <a:t>Entity Relation Diagram</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11386" y="1007031"/>
            <a:ext cx="7581186" cy="545902"/>
          </a:xfrm>
          <a:prstGeom prst="rect">
            <a:avLst/>
          </a:prstGeom>
          <a:noFill/>
        </p:spPr>
        <p:txBody>
          <a:bodyPr wrap="none" lIns="0" tIns="0" rIns="0" bIns="0" rtlCol="0" anchor="t"/>
          <a:lstStyle/>
          <a:p>
            <a:pPr marL="0" indent="0" algn="l">
              <a:lnSpc>
                <a:spcPts val="4250"/>
              </a:lnSpc>
              <a:buNone/>
            </a:pPr>
            <a:r>
              <a:rPr lang="en-US" sz="3400" b="1" dirty="0">
                <a:solidFill>
                  <a:srgbClr val="231971"/>
                </a:solidFill>
                <a:latin typeface="Outfit Extra Bold" pitchFamily="34" charset="0"/>
                <a:ea typeface="Outfit Extra Bold" pitchFamily="34" charset="-122"/>
                <a:cs typeface="Outfit Extra Bold" pitchFamily="34" charset="-120"/>
              </a:rPr>
              <a:t>Database Implementation: MongoDB</a:t>
            </a:r>
            <a:endParaRPr lang="en-US" sz="3400" dirty="0"/>
          </a:p>
        </p:txBody>
      </p:sp>
      <p:sp>
        <p:nvSpPr>
          <p:cNvPr id="4" name="Text 1"/>
          <p:cNvSpPr/>
          <p:nvPr/>
        </p:nvSpPr>
        <p:spPr>
          <a:xfrm>
            <a:off x="611386" y="1814989"/>
            <a:ext cx="7921228" cy="1117759"/>
          </a:xfrm>
          <a:prstGeom prst="rect">
            <a:avLst/>
          </a:prstGeom>
          <a:noFill/>
        </p:spPr>
        <p:txBody>
          <a:bodyPr wrap="square" lIns="0" tIns="0" rIns="0" bIns="0" rtlCol="0" anchor="t"/>
          <a:lstStyle/>
          <a:p>
            <a:pPr marL="0" indent="0" algn="l">
              <a:lnSpc>
                <a:spcPts val="2200"/>
              </a:lnSpc>
              <a:buNone/>
            </a:pPr>
            <a:r>
              <a:rPr lang="en-US" sz="1350" dirty="0">
                <a:solidFill>
                  <a:srgbClr val="2A2742"/>
                </a:solidFill>
                <a:latin typeface="Arimo" panose="020B0604020202020204" pitchFamily="34" charset="0"/>
                <a:ea typeface="Arimo" panose="020B0604020202020204" pitchFamily="34" charset="-122"/>
                <a:cs typeface="Arimo" panose="020B0604020202020204" pitchFamily="34" charset="-120"/>
              </a:rPr>
              <a:t>For the "Network Alerts &amp; Diagnostics" project, MongoDB was chosen as the primary database. This NoSQL, document-oriented database offers schema flexibility, easy scalability, and seamless integration with JSON-like data, which aligns perfectly with our backend's Node.js and Express framework.</a:t>
            </a:r>
            <a:endParaRPr lang="en-US" sz="1350" dirty="0"/>
          </a:p>
        </p:txBody>
      </p:sp>
      <p:pic>
        <p:nvPicPr>
          <p:cNvPr id="5" name="Image 1" descr="preencoded.png"/>
          <p:cNvPicPr>
            <a:picLocks noChangeAspect="1"/>
          </p:cNvPicPr>
          <p:nvPr/>
        </p:nvPicPr>
        <p:blipFill>
          <a:blip r:embed="rId2"/>
          <a:stretch>
            <a:fillRect/>
          </a:stretch>
        </p:blipFill>
        <p:spPr>
          <a:xfrm>
            <a:off x="611386" y="3159681"/>
            <a:ext cx="436721" cy="436721"/>
          </a:xfrm>
          <a:prstGeom prst="rect">
            <a:avLst/>
          </a:prstGeom>
        </p:spPr>
      </p:pic>
      <p:sp>
        <p:nvSpPr>
          <p:cNvPr id="6" name="Text 2"/>
          <p:cNvSpPr/>
          <p:nvPr/>
        </p:nvSpPr>
        <p:spPr>
          <a:xfrm>
            <a:off x="1222772" y="3232904"/>
            <a:ext cx="1883450" cy="272891"/>
          </a:xfrm>
          <a:prstGeom prst="rect">
            <a:avLst/>
          </a:prstGeom>
          <a:noFill/>
        </p:spPr>
        <p:txBody>
          <a:bodyPr wrap="none" lIns="0" tIns="0" rIns="0" bIns="0" rtlCol="0" anchor="t"/>
          <a:lstStyle/>
          <a:p>
            <a:pPr marL="0" indent="0" algn="l">
              <a:lnSpc>
                <a:spcPts val="2100"/>
              </a:lnSpc>
              <a:buNone/>
            </a:pPr>
            <a:r>
              <a:rPr lang="en-US" sz="1700" b="1" dirty="0">
                <a:solidFill>
                  <a:srgbClr val="2A2742"/>
                </a:solidFill>
                <a:latin typeface="Outfit Extra Bold" pitchFamily="34" charset="0"/>
                <a:ea typeface="Outfit Extra Bold" pitchFamily="34" charset="-122"/>
                <a:cs typeface="Outfit Extra Bold" pitchFamily="34" charset="-120"/>
              </a:rPr>
              <a:t>Schema Flexibility</a:t>
            </a:r>
            <a:endParaRPr lang="en-US" sz="1700" dirty="0"/>
          </a:p>
        </p:txBody>
      </p:sp>
      <p:sp>
        <p:nvSpPr>
          <p:cNvPr id="7" name="Text 3"/>
          <p:cNvSpPr/>
          <p:nvPr/>
        </p:nvSpPr>
        <p:spPr>
          <a:xfrm>
            <a:off x="1222772" y="3610570"/>
            <a:ext cx="1883450" cy="838319"/>
          </a:xfrm>
          <a:prstGeom prst="rect">
            <a:avLst/>
          </a:prstGeom>
          <a:noFill/>
        </p:spPr>
        <p:txBody>
          <a:bodyPr wrap="square" lIns="0" tIns="0" rIns="0" bIns="0" rtlCol="0" anchor="t"/>
          <a:lstStyle/>
          <a:p>
            <a:pPr marL="0" indent="0" algn="l">
              <a:lnSpc>
                <a:spcPts val="2200"/>
              </a:lnSpc>
              <a:buNone/>
            </a:pPr>
            <a:r>
              <a:rPr lang="en-US" sz="1350" dirty="0">
                <a:solidFill>
                  <a:srgbClr val="2A2742"/>
                </a:solidFill>
                <a:latin typeface="Arimo" panose="020B0604020202020204" pitchFamily="34" charset="0"/>
                <a:ea typeface="Arimo" panose="020B0604020202020204" pitchFamily="34" charset="-122"/>
                <a:cs typeface="Arimo" panose="020B0604020202020204" pitchFamily="34" charset="-120"/>
              </a:rPr>
              <a:t>Accommodates diverse data structures without complex migrations.</a:t>
            </a:r>
            <a:endParaRPr lang="en-US" sz="1350" dirty="0"/>
          </a:p>
        </p:txBody>
      </p:sp>
      <p:pic>
        <p:nvPicPr>
          <p:cNvPr id="8" name="Image 2" descr="preencoded.png"/>
          <p:cNvPicPr>
            <a:picLocks noChangeAspect="1"/>
          </p:cNvPicPr>
          <p:nvPr/>
        </p:nvPicPr>
        <p:blipFill>
          <a:blip r:embed="rId3"/>
          <a:stretch>
            <a:fillRect/>
          </a:stretch>
        </p:blipFill>
        <p:spPr>
          <a:xfrm>
            <a:off x="3324582" y="3159681"/>
            <a:ext cx="436721" cy="436721"/>
          </a:xfrm>
          <a:prstGeom prst="rect">
            <a:avLst/>
          </a:prstGeom>
        </p:spPr>
      </p:pic>
      <p:sp>
        <p:nvSpPr>
          <p:cNvPr id="9" name="Text 4"/>
          <p:cNvSpPr/>
          <p:nvPr/>
        </p:nvSpPr>
        <p:spPr>
          <a:xfrm>
            <a:off x="3935968" y="3232904"/>
            <a:ext cx="1883450" cy="272891"/>
          </a:xfrm>
          <a:prstGeom prst="rect">
            <a:avLst/>
          </a:prstGeom>
          <a:noFill/>
        </p:spPr>
        <p:txBody>
          <a:bodyPr wrap="none" lIns="0" tIns="0" rIns="0" bIns="0" rtlCol="0" anchor="t"/>
          <a:lstStyle/>
          <a:p>
            <a:pPr marL="0" indent="0" algn="l">
              <a:lnSpc>
                <a:spcPts val="2100"/>
              </a:lnSpc>
              <a:buNone/>
            </a:pPr>
            <a:r>
              <a:rPr lang="en-US" sz="1700" b="1" dirty="0">
                <a:solidFill>
                  <a:srgbClr val="2A2742"/>
                </a:solidFill>
                <a:latin typeface="Outfit Extra Bold" pitchFamily="34" charset="0"/>
                <a:ea typeface="Outfit Extra Bold" pitchFamily="34" charset="-122"/>
                <a:cs typeface="Outfit Extra Bold" pitchFamily="34" charset="-120"/>
              </a:rPr>
              <a:t>Scalability</a:t>
            </a:r>
            <a:endParaRPr lang="en-US" sz="1700" dirty="0"/>
          </a:p>
        </p:txBody>
      </p:sp>
      <p:sp>
        <p:nvSpPr>
          <p:cNvPr id="10" name="Text 5"/>
          <p:cNvSpPr/>
          <p:nvPr/>
        </p:nvSpPr>
        <p:spPr>
          <a:xfrm>
            <a:off x="3935968" y="3610570"/>
            <a:ext cx="1883450" cy="1117759"/>
          </a:xfrm>
          <a:prstGeom prst="rect">
            <a:avLst/>
          </a:prstGeom>
          <a:noFill/>
        </p:spPr>
        <p:txBody>
          <a:bodyPr wrap="square" lIns="0" tIns="0" rIns="0" bIns="0" rtlCol="0" anchor="t"/>
          <a:lstStyle/>
          <a:p>
            <a:pPr marL="0" indent="0" algn="l">
              <a:lnSpc>
                <a:spcPts val="2200"/>
              </a:lnSpc>
              <a:buNone/>
            </a:pPr>
            <a:r>
              <a:rPr lang="en-US" sz="1350" dirty="0">
                <a:solidFill>
                  <a:srgbClr val="2A2742"/>
                </a:solidFill>
                <a:latin typeface="Arimo" panose="020B0604020202020204" pitchFamily="34" charset="0"/>
                <a:ea typeface="Arimo" panose="020B0604020202020204" pitchFamily="34" charset="-122"/>
                <a:cs typeface="Arimo" panose="020B0604020202020204" pitchFamily="34" charset="-120"/>
              </a:rPr>
              <a:t>Supports horizontal scaling and high availability for data growth.</a:t>
            </a:r>
            <a:endParaRPr lang="en-US" sz="1350" dirty="0"/>
          </a:p>
        </p:txBody>
      </p:sp>
      <p:pic>
        <p:nvPicPr>
          <p:cNvPr id="11" name="Image 3" descr="preencoded.png"/>
          <p:cNvPicPr>
            <a:picLocks noChangeAspect="1"/>
          </p:cNvPicPr>
          <p:nvPr/>
        </p:nvPicPr>
        <p:blipFill>
          <a:blip r:embed="rId4"/>
          <a:stretch>
            <a:fillRect/>
          </a:stretch>
        </p:blipFill>
        <p:spPr>
          <a:xfrm>
            <a:off x="6037778" y="3159681"/>
            <a:ext cx="436721" cy="436721"/>
          </a:xfrm>
          <a:prstGeom prst="rect">
            <a:avLst/>
          </a:prstGeom>
        </p:spPr>
      </p:pic>
      <p:sp>
        <p:nvSpPr>
          <p:cNvPr id="12" name="Text 6"/>
          <p:cNvSpPr/>
          <p:nvPr/>
        </p:nvSpPr>
        <p:spPr>
          <a:xfrm>
            <a:off x="6649164" y="3232904"/>
            <a:ext cx="1883450" cy="545783"/>
          </a:xfrm>
          <a:prstGeom prst="rect">
            <a:avLst/>
          </a:prstGeom>
          <a:noFill/>
        </p:spPr>
        <p:txBody>
          <a:bodyPr wrap="square" lIns="0" tIns="0" rIns="0" bIns="0" rtlCol="0" anchor="t"/>
          <a:lstStyle/>
          <a:p>
            <a:pPr marL="0" indent="0" algn="l">
              <a:lnSpc>
                <a:spcPts val="2100"/>
              </a:lnSpc>
              <a:buNone/>
            </a:pPr>
            <a:r>
              <a:rPr lang="en-US" sz="1700" b="1" dirty="0">
                <a:solidFill>
                  <a:srgbClr val="2A2742"/>
                </a:solidFill>
                <a:latin typeface="Outfit Extra Bold" pitchFamily="34" charset="0"/>
                <a:ea typeface="Outfit Extra Bold" pitchFamily="34" charset="-122"/>
                <a:cs typeface="Outfit Extra Bold" pitchFamily="34" charset="-120"/>
              </a:rPr>
              <a:t>JSON-Like Storage</a:t>
            </a:r>
            <a:endParaRPr lang="en-US" sz="1700" dirty="0"/>
          </a:p>
        </p:txBody>
      </p:sp>
      <p:sp>
        <p:nvSpPr>
          <p:cNvPr id="13" name="Text 7"/>
          <p:cNvSpPr/>
          <p:nvPr/>
        </p:nvSpPr>
        <p:spPr>
          <a:xfrm>
            <a:off x="6649164" y="3883462"/>
            <a:ext cx="1883450" cy="1117759"/>
          </a:xfrm>
          <a:prstGeom prst="rect">
            <a:avLst/>
          </a:prstGeom>
          <a:noFill/>
        </p:spPr>
        <p:txBody>
          <a:bodyPr wrap="square" lIns="0" tIns="0" rIns="0" bIns="0" rtlCol="0" anchor="t"/>
          <a:lstStyle/>
          <a:p>
            <a:pPr marL="0" indent="0" algn="l">
              <a:lnSpc>
                <a:spcPts val="2200"/>
              </a:lnSpc>
              <a:buNone/>
            </a:pPr>
            <a:r>
              <a:rPr lang="en-US" sz="1350" dirty="0">
                <a:solidFill>
                  <a:srgbClr val="2A2742"/>
                </a:solidFill>
                <a:latin typeface="Arimo" panose="020B0604020202020204" pitchFamily="34" charset="0"/>
                <a:ea typeface="Arimo" panose="020B0604020202020204" pitchFamily="34" charset="-122"/>
                <a:cs typeface="Arimo" panose="020B0604020202020204" pitchFamily="34" charset="-120"/>
              </a:rPr>
              <a:t>Enables seamless mapping with frontend and backend JSON communication.</a:t>
            </a:r>
            <a:endParaRPr lang="en-US" sz="1350" dirty="0"/>
          </a:p>
        </p:txBody>
      </p:sp>
      <p:pic>
        <p:nvPicPr>
          <p:cNvPr id="14" name="Image 4" descr="preencoded.png"/>
          <p:cNvPicPr>
            <a:picLocks noChangeAspect="1"/>
          </p:cNvPicPr>
          <p:nvPr/>
        </p:nvPicPr>
        <p:blipFill>
          <a:blip r:embed="rId5"/>
          <a:stretch>
            <a:fillRect/>
          </a:stretch>
        </p:blipFill>
        <p:spPr>
          <a:xfrm>
            <a:off x="611386" y="5381030"/>
            <a:ext cx="436721" cy="436721"/>
          </a:xfrm>
          <a:prstGeom prst="rect">
            <a:avLst/>
          </a:prstGeom>
        </p:spPr>
      </p:pic>
      <p:sp>
        <p:nvSpPr>
          <p:cNvPr id="15" name="Text 8"/>
          <p:cNvSpPr/>
          <p:nvPr/>
        </p:nvSpPr>
        <p:spPr>
          <a:xfrm>
            <a:off x="1222772" y="5454253"/>
            <a:ext cx="1883450" cy="545783"/>
          </a:xfrm>
          <a:prstGeom prst="rect">
            <a:avLst/>
          </a:prstGeom>
          <a:noFill/>
        </p:spPr>
        <p:txBody>
          <a:bodyPr wrap="square" lIns="0" tIns="0" rIns="0" bIns="0" rtlCol="0" anchor="t"/>
          <a:lstStyle/>
          <a:p>
            <a:pPr marL="0" indent="0" algn="l">
              <a:lnSpc>
                <a:spcPts val="2100"/>
              </a:lnSpc>
              <a:buNone/>
            </a:pPr>
            <a:r>
              <a:rPr lang="en-US" sz="1700" b="1" dirty="0">
                <a:solidFill>
                  <a:srgbClr val="2A2742"/>
                </a:solidFill>
                <a:latin typeface="Outfit Extra Bold" pitchFamily="34" charset="0"/>
                <a:ea typeface="Outfit Extra Bold" pitchFamily="34" charset="-122"/>
                <a:cs typeface="Outfit Extra Bold" pitchFamily="34" charset="-120"/>
              </a:rPr>
              <a:t>Rapid Development</a:t>
            </a:r>
            <a:endParaRPr lang="en-US" sz="1700" dirty="0"/>
          </a:p>
        </p:txBody>
      </p:sp>
      <p:sp>
        <p:nvSpPr>
          <p:cNvPr id="16" name="Text 9"/>
          <p:cNvSpPr/>
          <p:nvPr/>
        </p:nvSpPr>
        <p:spPr>
          <a:xfrm>
            <a:off x="1222772" y="6104811"/>
            <a:ext cx="1883450" cy="1117759"/>
          </a:xfrm>
          <a:prstGeom prst="rect">
            <a:avLst/>
          </a:prstGeom>
          <a:noFill/>
        </p:spPr>
        <p:txBody>
          <a:bodyPr wrap="square" lIns="0" tIns="0" rIns="0" bIns="0" rtlCol="0" anchor="t"/>
          <a:lstStyle/>
          <a:p>
            <a:pPr marL="0" indent="0" algn="l">
              <a:lnSpc>
                <a:spcPts val="2200"/>
              </a:lnSpc>
              <a:buNone/>
            </a:pPr>
            <a:r>
              <a:rPr lang="en-US" sz="1350" dirty="0">
                <a:solidFill>
                  <a:srgbClr val="2A2742"/>
                </a:solidFill>
                <a:latin typeface="Arimo" panose="020B0604020202020204" pitchFamily="34" charset="0"/>
                <a:ea typeface="Arimo" panose="020B0604020202020204" pitchFamily="34" charset="-122"/>
                <a:cs typeface="Arimo" panose="020B0604020202020204" pitchFamily="34" charset="-120"/>
              </a:rPr>
              <a:t>Integrates easily with Node.js using Mongoose ODM for fast cycles.</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3057" y="505301"/>
            <a:ext cx="7423428" cy="574119"/>
          </a:xfrm>
          <a:prstGeom prst="rect">
            <a:avLst/>
          </a:prstGeom>
          <a:noFill/>
        </p:spPr>
        <p:txBody>
          <a:bodyPr wrap="none" lIns="0" tIns="0" rIns="0" bIns="0" rtlCol="0" anchor="t"/>
          <a:lstStyle/>
          <a:p>
            <a:pPr marL="0" indent="0" algn="l">
              <a:lnSpc>
                <a:spcPts val="4500"/>
              </a:lnSpc>
              <a:buNone/>
            </a:pPr>
            <a:r>
              <a:rPr lang="en-US" sz="3600" b="1" dirty="0">
                <a:solidFill>
                  <a:srgbClr val="231971"/>
                </a:solidFill>
                <a:latin typeface="Outfit Extra Bold" pitchFamily="34" charset="0"/>
                <a:ea typeface="Outfit Extra Bold" pitchFamily="34" charset="-122"/>
                <a:cs typeface="Outfit Extra Bold" pitchFamily="34" charset="-120"/>
              </a:rPr>
              <a:t>Backend API Design and Endpoints</a:t>
            </a:r>
            <a:endParaRPr lang="en-US" sz="3600" dirty="0"/>
          </a:p>
        </p:txBody>
      </p:sp>
      <p:sp>
        <p:nvSpPr>
          <p:cNvPr id="3" name="Text 1"/>
          <p:cNvSpPr/>
          <p:nvPr/>
        </p:nvSpPr>
        <p:spPr>
          <a:xfrm>
            <a:off x="643057" y="1446848"/>
            <a:ext cx="13344287" cy="587693"/>
          </a:xfrm>
          <a:prstGeom prst="rect">
            <a:avLst/>
          </a:prstGeom>
          <a:noFill/>
        </p:spPr>
        <p:txBody>
          <a:bodyPr wrap="square" lIns="0" tIns="0" rIns="0" bIns="0" rtlCol="0" anchor="t"/>
          <a:lstStyle/>
          <a:p>
            <a:pPr marL="0" indent="0" algn="l">
              <a:lnSpc>
                <a:spcPts val="2300"/>
              </a:lnSpc>
              <a:buNone/>
            </a:pPr>
            <a:r>
              <a:rPr lang="en-US" sz="1400" dirty="0">
                <a:solidFill>
                  <a:srgbClr val="2A2742"/>
                </a:solidFill>
                <a:latin typeface="Arimo" panose="020B0604020202020204" pitchFamily="34" charset="0"/>
                <a:ea typeface="Arimo" panose="020B0604020202020204" pitchFamily="34" charset="-122"/>
                <a:cs typeface="Arimo" panose="020B0604020202020204" pitchFamily="34" charset="-120"/>
              </a:rPr>
              <a:t>The backend, built with Node.js and Express, exposes several API endpoints for data submission and retrieval. These include health checks, feedback, speed test results, and network trend data, ensuring robust communication between the mobile app and the database.</a:t>
            </a:r>
            <a:endParaRPr lang="en-US" sz="1400" dirty="0"/>
          </a:p>
        </p:txBody>
      </p:sp>
      <p:sp>
        <p:nvSpPr>
          <p:cNvPr id="4" name="Shape 2"/>
          <p:cNvSpPr/>
          <p:nvPr/>
        </p:nvSpPr>
        <p:spPr>
          <a:xfrm>
            <a:off x="7303770" y="2241233"/>
            <a:ext cx="22860" cy="5486162"/>
          </a:xfrm>
          <a:prstGeom prst="roundRect">
            <a:avLst>
              <a:gd name="adj" fmla="val 337604"/>
            </a:avLst>
          </a:prstGeom>
          <a:solidFill>
            <a:srgbClr val="BDB8DF"/>
          </a:solidFill>
        </p:spPr>
      </p:sp>
      <p:sp>
        <p:nvSpPr>
          <p:cNvPr id="5" name="Shape 3"/>
          <p:cNvSpPr/>
          <p:nvPr/>
        </p:nvSpPr>
        <p:spPr>
          <a:xfrm>
            <a:off x="6580108" y="2436495"/>
            <a:ext cx="551259" cy="22860"/>
          </a:xfrm>
          <a:prstGeom prst="roundRect">
            <a:avLst>
              <a:gd name="adj" fmla="val 337604"/>
            </a:avLst>
          </a:prstGeom>
          <a:solidFill>
            <a:srgbClr val="BDB8DF"/>
          </a:solidFill>
        </p:spPr>
      </p:sp>
      <p:sp>
        <p:nvSpPr>
          <p:cNvPr id="6" name="Shape 4"/>
          <p:cNvSpPr/>
          <p:nvPr/>
        </p:nvSpPr>
        <p:spPr>
          <a:xfrm>
            <a:off x="7108508" y="2241233"/>
            <a:ext cx="413385" cy="413385"/>
          </a:xfrm>
          <a:prstGeom prst="roundRect">
            <a:avLst>
              <a:gd name="adj" fmla="val 18669"/>
            </a:avLst>
          </a:prstGeom>
          <a:solidFill>
            <a:srgbClr val="E9E6FA"/>
          </a:solidFill>
          <a:ln w="7620">
            <a:solidFill>
              <a:srgbClr val="BDB8DF"/>
            </a:solidFill>
            <a:prstDash val="solid"/>
          </a:ln>
        </p:spPr>
      </p:sp>
      <p:sp>
        <p:nvSpPr>
          <p:cNvPr id="7" name="Text 5"/>
          <p:cNvSpPr/>
          <p:nvPr/>
        </p:nvSpPr>
        <p:spPr>
          <a:xfrm>
            <a:off x="7177385" y="2275701"/>
            <a:ext cx="275630" cy="344448"/>
          </a:xfrm>
          <a:prstGeom prst="rect">
            <a:avLst/>
          </a:prstGeom>
          <a:noFill/>
        </p:spPr>
        <p:txBody>
          <a:bodyPr wrap="none" lIns="0" tIns="0" rIns="0" bIns="0" rtlCol="0" anchor="t"/>
          <a:lstStyle/>
          <a:p>
            <a:pPr marL="0" indent="0" algn="ctr">
              <a:lnSpc>
                <a:spcPts val="2150"/>
              </a:lnSpc>
              <a:buNone/>
            </a:pPr>
            <a:r>
              <a:rPr lang="en-US" sz="2150" b="1" dirty="0">
                <a:solidFill>
                  <a:srgbClr val="2A2742"/>
                </a:solidFill>
                <a:latin typeface="Outfit Extra Bold" pitchFamily="34" charset="0"/>
                <a:ea typeface="Outfit Extra Bold" pitchFamily="34" charset="-122"/>
                <a:cs typeface="Outfit Extra Bold" pitchFamily="34" charset="-120"/>
              </a:rPr>
              <a:t>1</a:t>
            </a:r>
            <a:endParaRPr lang="en-US" sz="2150" dirty="0"/>
          </a:p>
        </p:txBody>
      </p:sp>
      <p:sp>
        <p:nvSpPr>
          <p:cNvPr id="8" name="Text 6"/>
          <p:cNvSpPr/>
          <p:nvPr/>
        </p:nvSpPr>
        <p:spPr>
          <a:xfrm>
            <a:off x="4099679" y="2304336"/>
            <a:ext cx="2296835" cy="287060"/>
          </a:xfrm>
          <a:prstGeom prst="rect">
            <a:avLst/>
          </a:prstGeom>
          <a:noFill/>
        </p:spPr>
        <p:txBody>
          <a:bodyPr wrap="none" lIns="0" tIns="0" rIns="0" bIns="0" rtlCol="0" anchor="t"/>
          <a:lstStyle/>
          <a:p>
            <a:pPr marL="0" indent="0" algn="r">
              <a:lnSpc>
                <a:spcPts val="2250"/>
              </a:lnSpc>
              <a:buNone/>
            </a:pPr>
            <a:r>
              <a:rPr lang="en-US" sz="1800" b="1" dirty="0">
                <a:solidFill>
                  <a:srgbClr val="2A2742"/>
                </a:solidFill>
                <a:latin typeface="Outfit Extra Bold" pitchFamily="34" charset="0"/>
                <a:ea typeface="Outfit Extra Bold" pitchFamily="34" charset="-122"/>
                <a:cs typeface="Outfit Extra Bold" pitchFamily="34" charset="-120"/>
              </a:rPr>
              <a:t>Health Check</a:t>
            </a:r>
            <a:endParaRPr lang="en-US" sz="1800" dirty="0"/>
          </a:p>
        </p:txBody>
      </p:sp>
      <p:sp>
        <p:nvSpPr>
          <p:cNvPr id="9" name="Text 7"/>
          <p:cNvSpPr/>
          <p:nvPr/>
        </p:nvSpPr>
        <p:spPr>
          <a:xfrm>
            <a:off x="643057" y="2701647"/>
            <a:ext cx="5753457" cy="293846"/>
          </a:xfrm>
          <a:prstGeom prst="rect">
            <a:avLst/>
          </a:prstGeom>
          <a:noFill/>
        </p:spPr>
        <p:txBody>
          <a:bodyPr wrap="none" lIns="0" tIns="0" rIns="0" bIns="0" rtlCol="0" anchor="t"/>
          <a:lstStyle/>
          <a:p>
            <a:pPr marL="0" indent="0" algn="r">
              <a:lnSpc>
                <a:spcPts val="2300"/>
              </a:lnSpc>
              <a:buNone/>
            </a:pPr>
            <a:r>
              <a:rPr lang="en-US" sz="1400" dirty="0">
                <a:solidFill>
                  <a:srgbClr val="2A2742"/>
                </a:solidFill>
                <a:latin typeface="Arimo" panose="020B0604020202020204" pitchFamily="34" charset="0"/>
                <a:ea typeface="Arimo" panose="020B0604020202020204" pitchFamily="34" charset="-122"/>
                <a:cs typeface="Arimo" panose="020B0604020202020204" pitchFamily="34" charset="-120"/>
              </a:rPr>
              <a:t>GET /api/health: Verifies server status and connectivity.</a:t>
            </a:r>
            <a:endParaRPr lang="en-US" sz="1400" dirty="0"/>
          </a:p>
        </p:txBody>
      </p:sp>
      <p:sp>
        <p:nvSpPr>
          <p:cNvPr id="10" name="Shape 8"/>
          <p:cNvSpPr/>
          <p:nvPr/>
        </p:nvSpPr>
        <p:spPr>
          <a:xfrm>
            <a:off x="7499033" y="3538895"/>
            <a:ext cx="551259" cy="22860"/>
          </a:xfrm>
          <a:prstGeom prst="roundRect">
            <a:avLst>
              <a:gd name="adj" fmla="val 337604"/>
            </a:avLst>
          </a:prstGeom>
          <a:solidFill>
            <a:srgbClr val="BDB8DF"/>
          </a:solidFill>
        </p:spPr>
      </p:sp>
      <p:sp>
        <p:nvSpPr>
          <p:cNvPr id="11" name="Shape 9"/>
          <p:cNvSpPr/>
          <p:nvPr/>
        </p:nvSpPr>
        <p:spPr>
          <a:xfrm>
            <a:off x="7108508" y="3343632"/>
            <a:ext cx="413385" cy="413385"/>
          </a:xfrm>
          <a:prstGeom prst="roundRect">
            <a:avLst>
              <a:gd name="adj" fmla="val 18669"/>
            </a:avLst>
          </a:prstGeom>
          <a:solidFill>
            <a:srgbClr val="E9E6FA"/>
          </a:solidFill>
          <a:ln w="7620">
            <a:solidFill>
              <a:srgbClr val="BDB8DF"/>
            </a:solidFill>
            <a:prstDash val="solid"/>
          </a:ln>
        </p:spPr>
      </p:sp>
      <p:sp>
        <p:nvSpPr>
          <p:cNvPr id="12" name="Text 10"/>
          <p:cNvSpPr/>
          <p:nvPr/>
        </p:nvSpPr>
        <p:spPr>
          <a:xfrm>
            <a:off x="7177385" y="3378101"/>
            <a:ext cx="275630" cy="344448"/>
          </a:xfrm>
          <a:prstGeom prst="rect">
            <a:avLst/>
          </a:prstGeom>
          <a:noFill/>
        </p:spPr>
        <p:txBody>
          <a:bodyPr wrap="none" lIns="0" tIns="0" rIns="0" bIns="0" rtlCol="0" anchor="t"/>
          <a:lstStyle/>
          <a:p>
            <a:pPr marL="0" indent="0" algn="ctr">
              <a:lnSpc>
                <a:spcPts val="2150"/>
              </a:lnSpc>
              <a:buNone/>
            </a:pPr>
            <a:r>
              <a:rPr lang="en-US" sz="2150" b="1" dirty="0">
                <a:solidFill>
                  <a:srgbClr val="2A2742"/>
                </a:solidFill>
                <a:latin typeface="Outfit Extra Bold" pitchFamily="34" charset="0"/>
                <a:ea typeface="Outfit Extra Bold" pitchFamily="34" charset="-122"/>
                <a:cs typeface="Outfit Extra Bold" pitchFamily="34" charset="-120"/>
              </a:rPr>
              <a:t>2</a:t>
            </a:r>
            <a:endParaRPr lang="en-US" sz="2150" dirty="0"/>
          </a:p>
        </p:txBody>
      </p:sp>
      <p:sp>
        <p:nvSpPr>
          <p:cNvPr id="13" name="Text 11"/>
          <p:cNvSpPr/>
          <p:nvPr/>
        </p:nvSpPr>
        <p:spPr>
          <a:xfrm>
            <a:off x="8233886" y="3406735"/>
            <a:ext cx="2296835" cy="287060"/>
          </a:xfrm>
          <a:prstGeom prst="rect">
            <a:avLst/>
          </a:prstGeom>
          <a:noFill/>
        </p:spPr>
        <p:txBody>
          <a:bodyPr wrap="none" lIns="0" tIns="0" rIns="0" bIns="0" rtlCol="0" anchor="t"/>
          <a:lstStyle/>
          <a:p>
            <a:pPr marL="0" indent="0" algn="l">
              <a:lnSpc>
                <a:spcPts val="2250"/>
              </a:lnSpc>
              <a:buNone/>
            </a:pPr>
            <a:r>
              <a:rPr lang="en-US" sz="1800" b="1" dirty="0">
                <a:solidFill>
                  <a:srgbClr val="2A2742"/>
                </a:solidFill>
                <a:latin typeface="Outfit Extra Bold" pitchFamily="34" charset="0"/>
                <a:ea typeface="Outfit Extra Bold" pitchFamily="34" charset="-122"/>
                <a:cs typeface="Outfit Extra Bold" pitchFamily="34" charset="-120"/>
              </a:rPr>
              <a:t>Feedback</a:t>
            </a:r>
            <a:endParaRPr lang="en-US" sz="1800" dirty="0"/>
          </a:p>
        </p:txBody>
      </p:sp>
      <p:sp>
        <p:nvSpPr>
          <p:cNvPr id="14" name="Text 12"/>
          <p:cNvSpPr/>
          <p:nvPr/>
        </p:nvSpPr>
        <p:spPr>
          <a:xfrm>
            <a:off x="8233886" y="3804047"/>
            <a:ext cx="5753457" cy="587693"/>
          </a:xfrm>
          <a:prstGeom prst="rect">
            <a:avLst/>
          </a:prstGeom>
          <a:noFill/>
        </p:spPr>
        <p:txBody>
          <a:bodyPr wrap="square" lIns="0" tIns="0" rIns="0" bIns="0" rtlCol="0" anchor="t"/>
          <a:lstStyle/>
          <a:p>
            <a:pPr marL="0" indent="0" algn="l">
              <a:lnSpc>
                <a:spcPts val="2300"/>
              </a:lnSpc>
              <a:buNone/>
            </a:pPr>
            <a:r>
              <a:rPr lang="en-US" sz="1400" dirty="0">
                <a:solidFill>
                  <a:srgbClr val="2A2742"/>
                </a:solidFill>
                <a:latin typeface="Arimo" panose="020B0604020202020204" pitchFamily="34" charset="0"/>
                <a:ea typeface="Arimo" panose="020B0604020202020204" pitchFamily="34" charset="-122"/>
                <a:cs typeface="Arimo" panose="020B0604020202020204" pitchFamily="34" charset="-120"/>
              </a:rPr>
              <a:t>POST /api/feedback: Receives and saves user feedback. GET /api/feedback: Retrieves latest 20 submissions.</a:t>
            </a:r>
            <a:endParaRPr lang="en-US" sz="1400" dirty="0"/>
          </a:p>
        </p:txBody>
      </p:sp>
      <p:sp>
        <p:nvSpPr>
          <p:cNvPr id="15" name="Shape 13"/>
          <p:cNvSpPr/>
          <p:nvPr/>
        </p:nvSpPr>
        <p:spPr>
          <a:xfrm>
            <a:off x="6580108" y="4489133"/>
            <a:ext cx="551259" cy="22860"/>
          </a:xfrm>
          <a:prstGeom prst="roundRect">
            <a:avLst>
              <a:gd name="adj" fmla="val 337604"/>
            </a:avLst>
          </a:prstGeom>
          <a:solidFill>
            <a:srgbClr val="BDB8DF"/>
          </a:solidFill>
        </p:spPr>
      </p:sp>
      <p:sp>
        <p:nvSpPr>
          <p:cNvPr id="16" name="Shape 14"/>
          <p:cNvSpPr/>
          <p:nvPr/>
        </p:nvSpPr>
        <p:spPr>
          <a:xfrm>
            <a:off x="7108508" y="4293870"/>
            <a:ext cx="413385" cy="413385"/>
          </a:xfrm>
          <a:prstGeom prst="roundRect">
            <a:avLst>
              <a:gd name="adj" fmla="val 18669"/>
            </a:avLst>
          </a:prstGeom>
          <a:solidFill>
            <a:srgbClr val="E9E6FA"/>
          </a:solidFill>
          <a:ln w="7620">
            <a:solidFill>
              <a:srgbClr val="BDB8DF"/>
            </a:solidFill>
            <a:prstDash val="solid"/>
          </a:ln>
        </p:spPr>
      </p:sp>
      <p:sp>
        <p:nvSpPr>
          <p:cNvPr id="17" name="Text 15"/>
          <p:cNvSpPr/>
          <p:nvPr/>
        </p:nvSpPr>
        <p:spPr>
          <a:xfrm>
            <a:off x="7177385" y="4328339"/>
            <a:ext cx="275630" cy="344448"/>
          </a:xfrm>
          <a:prstGeom prst="rect">
            <a:avLst/>
          </a:prstGeom>
          <a:noFill/>
        </p:spPr>
        <p:txBody>
          <a:bodyPr wrap="none" lIns="0" tIns="0" rIns="0" bIns="0" rtlCol="0" anchor="t"/>
          <a:lstStyle/>
          <a:p>
            <a:pPr marL="0" indent="0" algn="ctr">
              <a:lnSpc>
                <a:spcPts val="2150"/>
              </a:lnSpc>
              <a:buNone/>
            </a:pPr>
            <a:r>
              <a:rPr lang="en-US" sz="2150" b="1" dirty="0">
                <a:solidFill>
                  <a:srgbClr val="2A2742"/>
                </a:solidFill>
                <a:latin typeface="Outfit Extra Bold" pitchFamily="34" charset="0"/>
                <a:ea typeface="Outfit Extra Bold" pitchFamily="34" charset="-122"/>
                <a:cs typeface="Outfit Extra Bold" pitchFamily="34" charset="-120"/>
              </a:rPr>
              <a:t>3</a:t>
            </a:r>
            <a:endParaRPr lang="en-US" sz="2150" dirty="0"/>
          </a:p>
        </p:txBody>
      </p:sp>
      <p:sp>
        <p:nvSpPr>
          <p:cNvPr id="18" name="Text 16"/>
          <p:cNvSpPr/>
          <p:nvPr/>
        </p:nvSpPr>
        <p:spPr>
          <a:xfrm>
            <a:off x="4099679" y="4356973"/>
            <a:ext cx="2296835" cy="287060"/>
          </a:xfrm>
          <a:prstGeom prst="rect">
            <a:avLst/>
          </a:prstGeom>
          <a:noFill/>
        </p:spPr>
        <p:txBody>
          <a:bodyPr wrap="none" lIns="0" tIns="0" rIns="0" bIns="0" rtlCol="0" anchor="t"/>
          <a:lstStyle/>
          <a:p>
            <a:pPr marL="0" indent="0" algn="r">
              <a:lnSpc>
                <a:spcPts val="2250"/>
              </a:lnSpc>
              <a:buNone/>
            </a:pPr>
            <a:r>
              <a:rPr lang="en-US" sz="1800" b="1" dirty="0">
                <a:solidFill>
                  <a:srgbClr val="2A2742"/>
                </a:solidFill>
                <a:latin typeface="Outfit Extra Bold" pitchFamily="34" charset="0"/>
                <a:ea typeface="Outfit Extra Bold" pitchFamily="34" charset="-122"/>
                <a:cs typeface="Outfit Extra Bold" pitchFamily="34" charset="-120"/>
              </a:rPr>
              <a:t>Speed Test</a:t>
            </a:r>
            <a:endParaRPr lang="en-US" sz="1800" dirty="0"/>
          </a:p>
        </p:txBody>
      </p:sp>
      <p:sp>
        <p:nvSpPr>
          <p:cNvPr id="19" name="Text 17"/>
          <p:cNvSpPr/>
          <p:nvPr/>
        </p:nvSpPr>
        <p:spPr>
          <a:xfrm>
            <a:off x="643057" y="4754285"/>
            <a:ext cx="5753457" cy="881539"/>
          </a:xfrm>
          <a:prstGeom prst="rect">
            <a:avLst/>
          </a:prstGeom>
          <a:noFill/>
        </p:spPr>
        <p:txBody>
          <a:bodyPr wrap="square" lIns="0" tIns="0" rIns="0" bIns="0" rtlCol="0" anchor="t"/>
          <a:lstStyle/>
          <a:p>
            <a:pPr marL="0" indent="0" algn="r">
              <a:lnSpc>
                <a:spcPts val="2300"/>
              </a:lnSpc>
              <a:buNone/>
            </a:pPr>
            <a:r>
              <a:rPr lang="en-US" sz="1400" dirty="0">
                <a:solidFill>
                  <a:srgbClr val="2A2742"/>
                </a:solidFill>
                <a:latin typeface="Arimo" panose="020B0604020202020204" pitchFamily="34" charset="0"/>
                <a:ea typeface="Arimo" panose="020B0604020202020204" pitchFamily="34" charset="-122"/>
                <a:cs typeface="Arimo" panose="020B0604020202020204" pitchFamily="34" charset="-120"/>
              </a:rPr>
              <a:t>POST /api/speedtest: Stores speed test results. GET /api/speedtest: Fetches latest 20 results. GET /api/speedtest/history/:userId: Retrieves user-specific history.</a:t>
            </a:r>
            <a:endParaRPr lang="en-US" sz="1400" dirty="0"/>
          </a:p>
        </p:txBody>
      </p:sp>
      <p:sp>
        <p:nvSpPr>
          <p:cNvPr id="20" name="Shape 18"/>
          <p:cNvSpPr/>
          <p:nvPr/>
        </p:nvSpPr>
        <p:spPr>
          <a:xfrm>
            <a:off x="7499033" y="5439370"/>
            <a:ext cx="551259" cy="22860"/>
          </a:xfrm>
          <a:prstGeom prst="roundRect">
            <a:avLst>
              <a:gd name="adj" fmla="val 337604"/>
            </a:avLst>
          </a:prstGeom>
          <a:solidFill>
            <a:srgbClr val="BDB8DF"/>
          </a:solidFill>
        </p:spPr>
      </p:sp>
      <p:sp>
        <p:nvSpPr>
          <p:cNvPr id="21" name="Shape 19"/>
          <p:cNvSpPr/>
          <p:nvPr/>
        </p:nvSpPr>
        <p:spPr>
          <a:xfrm>
            <a:off x="7108508" y="5244108"/>
            <a:ext cx="413385" cy="413385"/>
          </a:xfrm>
          <a:prstGeom prst="roundRect">
            <a:avLst>
              <a:gd name="adj" fmla="val 18669"/>
            </a:avLst>
          </a:prstGeom>
          <a:solidFill>
            <a:srgbClr val="E9E6FA"/>
          </a:solidFill>
          <a:ln w="7620">
            <a:solidFill>
              <a:srgbClr val="BDB8DF"/>
            </a:solidFill>
            <a:prstDash val="solid"/>
          </a:ln>
        </p:spPr>
      </p:sp>
      <p:sp>
        <p:nvSpPr>
          <p:cNvPr id="22" name="Text 20"/>
          <p:cNvSpPr/>
          <p:nvPr/>
        </p:nvSpPr>
        <p:spPr>
          <a:xfrm>
            <a:off x="7177385" y="5278576"/>
            <a:ext cx="275630" cy="344448"/>
          </a:xfrm>
          <a:prstGeom prst="rect">
            <a:avLst/>
          </a:prstGeom>
          <a:noFill/>
        </p:spPr>
        <p:txBody>
          <a:bodyPr wrap="none" lIns="0" tIns="0" rIns="0" bIns="0" rtlCol="0" anchor="t"/>
          <a:lstStyle/>
          <a:p>
            <a:pPr marL="0" indent="0" algn="ctr">
              <a:lnSpc>
                <a:spcPts val="2150"/>
              </a:lnSpc>
              <a:buNone/>
            </a:pPr>
            <a:r>
              <a:rPr lang="en-US" sz="2150" b="1" dirty="0">
                <a:solidFill>
                  <a:srgbClr val="2A2742"/>
                </a:solidFill>
                <a:latin typeface="Outfit Extra Bold" pitchFamily="34" charset="0"/>
                <a:ea typeface="Outfit Extra Bold" pitchFamily="34" charset="-122"/>
                <a:cs typeface="Outfit Extra Bold" pitchFamily="34" charset="-120"/>
              </a:rPr>
              <a:t>4</a:t>
            </a:r>
            <a:endParaRPr lang="en-US" sz="2150" dirty="0"/>
          </a:p>
        </p:txBody>
      </p:sp>
      <p:sp>
        <p:nvSpPr>
          <p:cNvPr id="23" name="Text 21"/>
          <p:cNvSpPr/>
          <p:nvPr/>
        </p:nvSpPr>
        <p:spPr>
          <a:xfrm>
            <a:off x="8233886" y="5307211"/>
            <a:ext cx="2296835" cy="287060"/>
          </a:xfrm>
          <a:prstGeom prst="rect">
            <a:avLst/>
          </a:prstGeom>
          <a:noFill/>
        </p:spPr>
        <p:txBody>
          <a:bodyPr wrap="none" lIns="0" tIns="0" rIns="0" bIns="0" rtlCol="0" anchor="t"/>
          <a:lstStyle/>
          <a:p>
            <a:pPr marL="0" indent="0" algn="l">
              <a:lnSpc>
                <a:spcPts val="2250"/>
              </a:lnSpc>
              <a:buNone/>
            </a:pPr>
            <a:r>
              <a:rPr lang="en-US" sz="1800" b="1" dirty="0">
                <a:solidFill>
                  <a:srgbClr val="2A2742"/>
                </a:solidFill>
                <a:latin typeface="Outfit Extra Bold" pitchFamily="34" charset="0"/>
                <a:ea typeface="Outfit Extra Bold" pitchFamily="34" charset="-122"/>
                <a:cs typeface="Outfit Extra Bold" pitchFamily="34" charset="-120"/>
              </a:rPr>
              <a:t>Network Trend</a:t>
            </a:r>
            <a:endParaRPr lang="en-US" sz="1800" dirty="0"/>
          </a:p>
        </p:txBody>
      </p:sp>
      <p:sp>
        <p:nvSpPr>
          <p:cNvPr id="24" name="Text 22"/>
          <p:cNvSpPr/>
          <p:nvPr/>
        </p:nvSpPr>
        <p:spPr>
          <a:xfrm>
            <a:off x="8233886" y="5704523"/>
            <a:ext cx="5753457" cy="587693"/>
          </a:xfrm>
          <a:prstGeom prst="rect">
            <a:avLst/>
          </a:prstGeom>
          <a:noFill/>
        </p:spPr>
        <p:txBody>
          <a:bodyPr wrap="square" lIns="0" tIns="0" rIns="0" bIns="0" rtlCol="0" anchor="t"/>
          <a:lstStyle/>
          <a:p>
            <a:pPr marL="0" indent="0" algn="l">
              <a:lnSpc>
                <a:spcPts val="2300"/>
              </a:lnSpc>
              <a:buNone/>
            </a:pPr>
            <a:r>
              <a:rPr lang="en-US" sz="1400" dirty="0">
                <a:solidFill>
                  <a:srgbClr val="2A2742"/>
                </a:solidFill>
                <a:latin typeface="Arimo" panose="020B0604020202020204" pitchFamily="34" charset="0"/>
                <a:ea typeface="Arimo" panose="020B0604020202020204" pitchFamily="34" charset="-122"/>
                <a:cs typeface="Arimo" panose="020B0604020202020204" pitchFamily="34" charset="-120"/>
              </a:rPr>
              <a:t>POST /api/network-trend: Logs network status datapoints. GET /api/network-trend: Retrieves recent samples.</a:t>
            </a:r>
            <a:endParaRPr lang="en-US" sz="1400" dirty="0"/>
          </a:p>
        </p:txBody>
      </p:sp>
      <p:sp>
        <p:nvSpPr>
          <p:cNvPr id="25" name="Shape 23"/>
          <p:cNvSpPr/>
          <p:nvPr/>
        </p:nvSpPr>
        <p:spPr>
          <a:xfrm>
            <a:off x="6580108" y="6389608"/>
            <a:ext cx="551259" cy="22860"/>
          </a:xfrm>
          <a:prstGeom prst="roundRect">
            <a:avLst>
              <a:gd name="adj" fmla="val 337604"/>
            </a:avLst>
          </a:prstGeom>
          <a:solidFill>
            <a:srgbClr val="BDB8DF"/>
          </a:solidFill>
        </p:spPr>
      </p:sp>
      <p:sp>
        <p:nvSpPr>
          <p:cNvPr id="26" name="Shape 24"/>
          <p:cNvSpPr/>
          <p:nvPr/>
        </p:nvSpPr>
        <p:spPr>
          <a:xfrm>
            <a:off x="7108508" y="6194346"/>
            <a:ext cx="413385" cy="413385"/>
          </a:xfrm>
          <a:prstGeom prst="roundRect">
            <a:avLst>
              <a:gd name="adj" fmla="val 18669"/>
            </a:avLst>
          </a:prstGeom>
          <a:solidFill>
            <a:srgbClr val="E9E6FA"/>
          </a:solidFill>
          <a:ln w="7620">
            <a:solidFill>
              <a:srgbClr val="BDB8DF"/>
            </a:solidFill>
            <a:prstDash val="solid"/>
          </a:ln>
        </p:spPr>
      </p:sp>
      <p:sp>
        <p:nvSpPr>
          <p:cNvPr id="27" name="Text 25"/>
          <p:cNvSpPr/>
          <p:nvPr/>
        </p:nvSpPr>
        <p:spPr>
          <a:xfrm>
            <a:off x="7177385" y="6228814"/>
            <a:ext cx="275630" cy="344448"/>
          </a:xfrm>
          <a:prstGeom prst="rect">
            <a:avLst/>
          </a:prstGeom>
          <a:noFill/>
        </p:spPr>
        <p:txBody>
          <a:bodyPr wrap="none" lIns="0" tIns="0" rIns="0" bIns="0" rtlCol="0" anchor="t"/>
          <a:lstStyle/>
          <a:p>
            <a:pPr marL="0" indent="0" algn="ctr">
              <a:lnSpc>
                <a:spcPts val="2150"/>
              </a:lnSpc>
              <a:buNone/>
            </a:pPr>
            <a:r>
              <a:rPr lang="en-US" sz="2150" b="1" dirty="0">
                <a:solidFill>
                  <a:srgbClr val="2A2742"/>
                </a:solidFill>
                <a:latin typeface="Outfit Extra Bold" pitchFamily="34" charset="0"/>
                <a:ea typeface="Outfit Extra Bold" pitchFamily="34" charset="-122"/>
                <a:cs typeface="Outfit Extra Bold" pitchFamily="34" charset="-120"/>
              </a:rPr>
              <a:t>5</a:t>
            </a:r>
            <a:endParaRPr lang="en-US" sz="2150" dirty="0"/>
          </a:p>
        </p:txBody>
      </p:sp>
      <p:sp>
        <p:nvSpPr>
          <p:cNvPr id="28" name="Text 26"/>
          <p:cNvSpPr/>
          <p:nvPr/>
        </p:nvSpPr>
        <p:spPr>
          <a:xfrm>
            <a:off x="3993713" y="6257449"/>
            <a:ext cx="2402800" cy="287060"/>
          </a:xfrm>
          <a:prstGeom prst="rect">
            <a:avLst/>
          </a:prstGeom>
          <a:noFill/>
        </p:spPr>
        <p:txBody>
          <a:bodyPr wrap="none" lIns="0" tIns="0" rIns="0" bIns="0" rtlCol="0" anchor="t"/>
          <a:lstStyle/>
          <a:p>
            <a:pPr marL="0" indent="0" algn="r">
              <a:lnSpc>
                <a:spcPts val="2250"/>
              </a:lnSpc>
              <a:buNone/>
            </a:pPr>
            <a:r>
              <a:rPr lang="en-US" sz="1800" b="1" dirty="0">
                <a:solidFill>
                  <a:srgbClr val="2A2742"/>
                </a:solidFill>
                <a:latin typeface="Outfit Extra Bold" pitchFamily="34" charset="0"/>
                <a:ea typeface="Outfit Extra Bold" pitchFamily="34" charset="-122"/>
                <a:cs typeface="Outfit Extra Bold" pitchFamily="34" charset="-120"/>
              </a:rPr>
              <a:t>Combined Diagnostics</a:t>
            </a:r>
            <a:endParaRPr lang="en-US" sz="1800" dirty="0"/>
          </a:p>
        </p:txBody>
      </p:sp>
      <p:sp>
        <p:nvSpPr>
          <p:cNvPr id="29" name="Text 27"/>
          <p:cNvSpPr/>
          <p:nvPr/>
        </p:nvSpPr>
        <p:spPr>
          <a:xfrm>
            <a:off x="643057" y="6654760"/>
            <a:ext cx="5753457" cy="587693"/>
          </a:xfrm>
          <a:prstGeom prst="rect">
            <a:avLst/>
          </a:prstGeom>
          <a:noFill/>
        </p:spPr>
        <p:txBody>
          <a:bodyPr wrap="square" lIns="0" tIns="0" rIns="0" bIns="0" rtlCol="0" anchor="t"/>
          <a:lstStyle/>
          <a:p>
            <a:pPr marL="0" indent="0" algn="r">
              <a:lnSpc>
                <a:spcPts val="2300"/>
              </a:lnSpc>
              <a:buNone/>
            </a:pPr>
            <a:r>
              <a:rPr lang="en-US" sz="1400" dirty="0">
                <a:solidFill>
                  <a:srgbClr val="2A2742"/>
                </a:solidFill>
                <a:latin typeface="Arimo" panose="020B0604020202020204" pitchFamily="34" charset="0"/>
                <a:ea typeface="Arimo" panose="020B0604020202020204" pitchFamily="34" charset="-122"/>
                <a:cs typeface="Arimo" panose="020B0604020202020204" pitchFamily="34" charset="-120"/>
              </a:rPr>
              <a:t>POST /api/diagnostics: Accepts combined feedback, speed test, and network trend data.</a:t>
            </a:r>
            <a:endParaRPr lang="en-US" sz="1400" dirty="0"/>
          </a:p>
        </p:txBody>
      </p:sp>
      <p:sp>
        <p:nvSpPr>
          <p:cNvPr id="30" name="Rounded Rectangle 29"/>
          <p:cNvSpPr/>
          <p:nvPr/>
        </p:nvSpPr>
        <p:spPr>
          <a:xfrm>
            <a:off x="12684125" y="7685405"/>
            <a:ext cx="1946275" cy="513715"/>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38770" y="645795"/>
            <a:ext cx="7075051" cy="570309"/>
          </a:xfrm>
          <a:prstGeom prst="rect">
            <a:avLst/>
          </a:prstGeom>
          <a:noFill/>
        </p:spPr>
        <p:txBody>
          <a:bodyPr wrap="none" lIns="0" tIns="0" rIns="0" bIns="0" rtlCol="0" anchor="t"/>
          <a:lstStyle/>
          <a:p>
            <a:pPr marL="0" indent="0" algn="l">
              <a:lnSpc>
                <a:spcPts val="4450"/>
              </a:lnSpc>
              <a:buNone/>
            </a:pPr>
            <a:r>
              <a:rPr lang="en-US" sz="3550" b="1" dirty="0">
                <a:solidFill>
                  <a:srgbClr val="231971"/>
                </a:solidFill>
                <a:latin typeface="Outfit Extra Bold" pitchFamily="34" charset="0"/>
                <a:ea typeface="Outfit Extra Bold" pitchFamily="34" charset="-122"/>
                <a:cs typeface="Outfit Extra Bold" pitchFamily="34" charset="-120"/>
              </a:rPr>
              <a:t>Connecting Database to Backend</a:t>
            </a:r>
            <a:endParaRPr lang="en-US" sz="3550" dirty="0"/>
          </a:p>
        </p:txBody>
      </p:sp>
      <p:sp>
        <p:nvSpPr>
          <p:cNvPr id="3" name="Text 1"/>
          <p:cNvSpPr/>
          <p:nvPr/>
        </p:nvSpPr>
        <p:spPr>
          <a:xfrm>
            <a:off x="638770" y="1581031"/>
            <a:ext cx="13352859" cy="583883"/>
          </a:xfrm>
          <a:prstGeom prst="rect">
            <a:avLst/>
          </a:prstGeom>
          <a:noFill/>
        </p:spPr>
        <p:txBody>
          <a:bodyPr wrap="square" lIns="0" tIns="0" rIns="0" bIns="0" rtlCol="0" anchor="t"/>
          <a:lstStyle/>
          <a:p>
            <a:pPr marL="0" indent="0" algn="l">
              <a:lnSpc>
                <a:spcPts val="2250"/>
              </a:lnSpc>
              <a:buNone/>
            </a:pPr>
            <a:r>
              <a:rPr lang="en-US" sz="1400" dirty="0">
                <a:solidFill>
                  <a:srgbClr val="2A2742"/>
                </a:solidFill>
                <a:latin typeface="Arimo" panose="020B0604020202020204" pitchFamily="34" charset="0"/>
                <a:ea typeface="Arimo" panose="020B0604020202020204" pitchFamily="34" charset="-122"/>
                <a:cs typeface="Arimo" panose="020B0604020202020204" pitchFamily="34" charset="-120"/>
              </a:rPr>
              <a:t>Connecting the MongoDB database to the Node.js backend involves installing Mongoose and dotenv, configuring environment variables for security, and using Mongoose to establish the connection. This setup enables the backend to define models and perform CRUD operations, ensuring seamless data interaction.</a:t>
            </a:r>
            <a:endParaRPr lang="en-US" sz="1400" dirty="0"/>
          </a:p>
        </p:txBody>
      </p:sp>
      <p:sp>
        <p:nvSpPr>
          <p:cNvPr id="4" name="Shape 2"/>
          <p:cNvSpPr/>
          <p:nvPr/>
        </p:nvSpPr>
        <p:spPr>
          <a:xfrm>
            <a:off x="638770" y="2370177"/>
            <a:ext cx="136803" cy="686514"/>
          </a:xfrm>
          <a:prstGeom prst="roundRect">
            <a:avLst>
              <a:gd name="adj" fmla="val 56033"/>
            </a:avLst>
          </a:prstGeom>
          <a:solidFill>
            <a:srgbClr val="E9E6FA"/>
          </a:solidFill>
          <a:ln w="7620">
            <a:solidFill>
              <a:srgbClr val="BDB8DF"/>
            </a:solidFill>
            <a:prstDash val="solid"/>
          </a:ln>
        </p:spPr>
      </p:sp>
      <p:sp>
        <p:nvSpPr>
          <p:cNvPr id="5" name="Text 3"/>
          <p:cNvSpPr/>
          <p:nvPr/>
        </p:nvSpPr>
        <p:spPr>
          <a:xfrm>
            <a:off x="1049298" y="2370177"/>
            <a:ext cx="2281357" cy="285155"/>
          </a:xfrm>
          <a:prstGeom prst="rect">
            <a:avLst/>
          </a:prstGeom>
          <a:noFill/>
        </p:spPr>
        <p:txBody>
          <a:bodyPr wrap="none" lIns="0" tIns="0" rIns="0" bIns="0" rtlCol="0" anchor="t"/>
          <a:lstStyle/>
          <a:p>
            <a:pPr marL="0" indent="0" algn="l">
              <a:lnSpc>
                <a:spcPts val="2200"/>
              </a:lnSpc>
              <a:buNone/>
            </a:pPr>
            <a:r>
              <a:rPr lang="en-US" sz="1750" b="1" dirty="0">
                <a:solidFill>
                  <a:srgbClr val="2A2742"/>
                </a:solidFill>
                <a:latin typeface="Outfit Extra Bold" pitchFamily="34" charset="0"/>
                <a:ea typeface="Outfit Extra Bold" pitchFamily="34" charset="-122"/>
                <a:cs typeface="Outfit Extra Bold" pitchFamily="34" charset="-120"/>
              </a:rPr>
              <a:t>Install Packages</a:t>
            </a:r>
            <a:endParaRPr lang="en-US" sz="1750" dirty="0"/>
          </a:p>
        </p:txBody>
      </p:sp>
      <p:sp>
        <p:nvSpPr>
          <p:cNvPr id="6" name="Text 4"/>
          <p:cNvSpPr/>
          <p:nvPr/>
        </p:nvSpPr>
        <p:spPr>
          <a:xfrm>
            <a:off x="1049298" y="2764750"/>
            <a:ext cx="12942332" cy="291941"/>
          </a:xfrm>
          <a:prstGeom prst="rect">
            <a:avLst/>
          </a:prstGeom>
          <a:noFill/>
        </p:spPr>
        <p:txBody>
          <a:bodyPr wrap="none" lIns="0" tIns="0" rIns="0" bIns="0" rtlCol="0" anchor="t"/>
          <a:lstStyle/>
          <a:p>
            <a:pPr marL="0" indent="0" algn="l">
              <a:lnSpc>
                <a:spcPts val="2250"/>
              </a:lnSpc>
              <a:buNone/>
            </a:pPr>
            <a:r>
              <a:rPr lang="en-US" sz="1400" dirty="0">
                <a:solidFill>
                  <a:srgbClr val="2A2742"/>
                </a:solidFill>
                <a:latin typeface="Arimo" panose="020B0604020202020204" pitchFamily="34" charset="0"/>
                <a:ea typeface="Arimo" panose="020B0604020202020204" pitchFamily="34" charset="-122"/>
                <a:cs typeface="Arimo" panose="020B0604020202020204" pitchFamily="34" charset="-120"/>
              </a:rPr>
              <a:t>Install Mongoose and dotenv for database interaction and secure configuration.</a:t>
            </a:r>
            <a:endParaRPr lang="en-US" sz="1400" dirty="0"/>
          </a:p>
        </p:txBody>
      </p:sp>
      <p:sp>
        <p:nvSpPr>
          <p:cNvPr id="7" name="Shape 5"/>
          <p:cNvSpPr/>
          <p:nvPr/>
        </p:nvSpPr>
        <p:spPr>
          <a:xfrm>
            <a:off x="912495" y="3239095"/>
            <a:ext cx="136803" cy="686514"/>
          </a:xfrm>
          <a:prstGeom prst="roundRect">
            <a:avLst>
              <a:gd name="adj" fmla="val 56033"/>
            </a:avLst>
          </a:prstGeom>
          <a:solidFill>
            <a:srgbClr val="E9E6FA"/>
          </a:solidFill>
          <a:ln w="7620">
            <a:solidFill>
              <a:srgbClr val="BDB8DF"/>
            </a:solidFill>
            <a:prstDash val="solid"/>
          </a:ln>
        </p:spPr>
      </p:sp>
      <p:sp>
        <p:nvSpPr>
          <p:cNvPr id="8" name="Text 6"/>
          <p:cNvSpPr/>
          <p:nvPr/>
        </p:nvSpPr>
        <p:spPr>
          <a:xfrm>
            <a:off x="1323023" y="3239095"/>
            <a:ext cx="3545681" cy="285155"/>
          </a:xfrm>
          <a:prstGeom prst="rect">
            <a:avLst/>
          </a:prstGeom>
          <a:noFill/>
        </p:spPr>
        <p:txBody>
          <a:bodyPr wrap="none" lIns="0" tIns="0" rIns="0" bIns="0" rtlCol="0" anchor="t"/>
          <a:lstStyle/>
          <a:p>
            <a:pPr marL="0" indent="0" algn="l">
              <a:lnSpc>
                <a:spcPts val="2200"/>
              </a:lnSpc>
              <a:buNone/>
            </a:pPr>
            <a:r>
              <a:rPr lang="en-US" sz="1750" b="1" dirty="0">
                <a:solidFill>
                  <a:srgbClr val="2A2742"/>
                </a:solidFill>
                <a:latin typeface="Outfit Extra Bold" pitchFamily="34" charset="0"/>
                <a:ea typeface="Outfit Extra Bold" pitchFamily="34" charset="-122"/>
                <a:cs typeface="Outfit Extra Bold" pitchFamily="34" charset="-120"/>
              </a:rPr>
              <a:t>Configure Environment Variables</a:t>
            </a:r>
            <a:endParaRPr lang="en-US" sz="1750" dirty="0"/>
          </a:p>
        </p:txBody>
      </p:sp>
      <p:sp>
        <p:nvSpPr>
          <p:cNvPr id="9" name="Text 7"/>
          <p:cNvSpPr/>
          <p:nvPr/>
        </p:nvSpPr>
        <p:spPr>
          <a:xfrm>
            <a:off x="1323023" y="3633668"/>
            <a:ext cx="12668607" cy="291941"/>
          </a:xfrm>
          <a:prstGeom prst="rect">
            <a:avLst/>
          </a:prstGeom>
          <a:noFill/>
        </p:spPr>
        <p:txBody>
          <a:bodyPr wrap="none" lIns="0" tIns="0" rIns="0" bIns="0" rtlCol="0" anchor="t"/>
          <a:lstStyle/>
          <a:p>
            <a:pPr marL="0" indent="0" algn="l">
              <a:lnSpc>
                <a:spcPts val="2250"/>
              </a:lnSpc>
              <a:buNone/>
            </a:pPr>
            <a:r>
              <a:rPr lang="en-US" sz="1400" dirty="0">
                <a:solidFill>
                  <a:srgbClr val="2A2742"/>
                </a:solidFill>
                <a:latin typeface="Arimo" panose="020B0604020202020204" pitchFamily="34" charset="0"/>
                <a:ea typeface="Arimo" panose="020B0604020202020204" pitchFamily="34" charset="-122"/>
                <a:cs typeface="Arimo" panose="020B0604020202020204" pitchFamily="34" charset="-120"/>
              </a:rPr>
              <a:t>Set MONGODB_URI and PORT in a .env or url.env file.</a:t>
            </a:r>
            <a:endParaRPr lang="en-US" sz="1400" dirty="0"/>
          </a:p>
        </p:txBody>
      </p:sp>
      <p:sp>
        <p:nvSpPr>
          <p:cNvPr id="10" name="Shape 8"/>
          <p:cNvSpPr/>
          <p:nvPr/>
        </p:nvSpPr>
        <p:spPr>
          <a:xfrm>
            <a:off x="1186220" y="4108013"/>
            <a:ext cx="136803" cy="686514"/>
          </a:xfrm>
          <a:prstGeom prst="roundRect">
            <a:avLst>
              <a:gd name="adj" fmla="val 56033"/>
            </a:avLst>
          </a:prstGeom>
          <a:solidFill>
            <a:srgbClr val="E9E6FA"/>
          </a:solidFill>
          <a:ln w="7620">
            <a:solidFill>
              <a:srgbClr val="BDB8DF"/>
            </a:solidFill>
            <a:prstDash val="solid"/>
          </a:ln>
        </p:spPr>
      </p:sp>
      <p:sp>
        <p:nvSpPr>
          <p:cNvPr id="11" name="Text 9"/>
          <p:cNvSpPr/>
          <p:nvPr/>
        </p:nvSpPr>
        <p:spPr>
          <a:xfrm>
            <a:off x="1596747" y="4108013"/>
            <a:ext cx="3013829" cy="285155"/>
          </a:xfrm>
          <a:prstGeom prst="rect">
            <a:avLst/>
          </a:prstGeom>
          <a:noFill/>
        </p:spPr>
        <p:txBody>
          <a:bodyPr wrap="none" lIns="0" tIns="0" rIns="0" bIns="0" rtlCol="0" anchor="t"/>
          <a:lstStyle/>
          <a:p>
            <a:pPr marL="0" indent="0" algn="l">
              <a:lnSpc>
                <a:spcPts val="2200"/>
              </a:lnSpc>
              <a:buNone/>
            </a:pPr>
            <a:r>
              <a:rPr lang="en-US" sz="1750" b="1" dirty="0">
                <a:solidFill>
                  <a:srgbClr val="2A2742"/>
                </a:solidFill>
                <a:latin typeface="Outfit Extra Bold" pitchFamily="34" charset="0"/>
                <a:ea typeface="Outfit Extra Bold" pitchFamily="34" charset="-122"/>
                <a:cs typeface="Outfit Extra Bold" pitchFamily="34" charset="-120"/>
              </a:rPr>
              <a:t>Load Environment Variables</a:t>
            </a:r>
            <a:endParaRPr lang="en-US" sz="1750" dirty="0"/>
          </a:p>
        </p:txBody>
      </p:sp>
      <p:sp>
        <p:nvSpPr>
          <p:cNvPr id="12" name="Text 10"/>
          <p:cNvSpPr/>
          <p:nvPr/>
        </p:nvSpPr>
        <p:spPr>
          <a:xfrm>
            <a:off x="1596747" y="4502587"/>
            <a:ext cx="12394883" cy="291941"/>
          </a:xfrm>
          <a:prstGeom prst="rect">
            <a:avLst/>
          </a:prstGeom>
          <a:noFill/>
        </p:spPr>
        <p:txBody>
          <a:bodyPr wrap="none" lIns="0" tIns="0" rIns="0" bIns="0" rtlCol="0" anchor="t"/>
          <a:lstStyle/>
          <a:p>
            <a:pPr marL="0" indent="0" algn="l">
              <a:lnSpc>
                <a:spcPts val="2250"/>
              </a:lnSpc>
              <a:buNone/>
            </a:pPr>
            <a:r>
              <a:rPr lang="en-US" sz="1400" dirty="0">
                <a:solidFill>
                  <a:srgbClr val="2A2742"/>
                </a:solidFill>
                <a:latin typeface="Arimo" panose="020B0604020202020204" pitchFamily="34" charset="0"/>
                <a:ea typeface="Arimo" panose="020B0604020202020204" pitchFamily="34" charset="-122"/>
                <a:cs typeface="Arimo" panose="020B0604020202020204" pitchFamily="34" charset="-120"/>
              </a:rPr>
              <a:t>Use dotenv.config() at the top of your server.js to load variables.</a:t>
            </a:r>
            <a:endParaRPr lang="en-US" sz="1400" dirty="0"/>
          </a:p>
        </p:txBody>
      </p:sp>
      <p:sp>
        <p:nvSpPr>
          <p:cNvPr id="13" name="Shape 11"/>
          <p:cNvSpPr/>
          <p:nvPr/>
        </p:nvSpPr>
        <p:spPr>
          <a:xfrm>
            <a:off x="1460063" y="4976932"/>
            <a:ext cx="136803" cy="686514"/>
          </a:xfrm>
          <a:prstGeom prst="roundRect">
            <a:avLst>
              <a:gd name="adj" fmla="val 56033"/>
            </a:avLst>
          </a:prstGeom>
          <a:solidFill>
            <a:srgbClr val="E9E6FA"/>
          </a:solidFill>
          <a:ln w="7620">
            <a:solidFill>
              <a:srgbClr val="BDB8DF"/>
            </a:solidFill>
            <a:prstDash val="solid"/>
          </a:ln>
        </p:spPr>
      </p:sp>
      <p:sp>
        <p:nvSpPr>
          <p:cNvPr id="14" name="Text 12"/>
          <p:cNvSpPr/>
          <p:nvPr/>
        </p:nvSpPr>
        <p:spPr>
          <a:xfrm>
            <a:off x="1870591" y="4976932"/>
            <a:ext cx="2281357" cy="285155"/>
          </a:xfrm>
          <a:prstGeom prst="rect">
            <a:avLst/>
          </a:prstGeom>
          <a:noFill/>
        </p:spPr>
        <p:txBody>
          <a:bodyPr wrap="none" lIns="0" tIns="0" rIns="0" bIns="0" rtlCol="0" anchor="t"/>
          <a:lstStyle/>
          <a:p>
            <a:pPr marL="0" indent="0" algn="l">
              <a:lnSpc>
                <a:spcPts val="2200"/>
              </a:lnSpc>
              <a:buNone/>
            </a:pPr>
            <a:r>
              <a:rPr lang="en-US" sz="1750" b="1" dirty="0">
                <a:solidFill>
                  <a:srgbClr val="2A2742"/>
                </a:solidFill>
                <a:latin typeface="Outfit Extra Bold" pitchFamily="34" charset="0"/>
                <a:ea typeface="Outfit Extra Bold" pitchFamily="34" charset="-122"/>
                <a:cs typeface="Outfit Extra Bold" pitchFamily="34" charset="-120"/>
              </a:rPr>
              <a:t>Connect to MongoDB</a:t>
            </a:r>
            <a:endParaRPr lang="en-US" sz="1750" dirty="0"/>
          </a:p>
        </p:txBody>
      </p:sp>
      <p:sp>
        <p:nvSpPr>
          <p:cNvPr id="15" name="Text 13"/>
          <p:cNvSpPr/>
          <p:nvPr/>
        </p:nvSpPr>
        <p:spPr>
          <a:xfrm>
            <a:off x="1870591" y="5371505"/>
            <a:ext cx="12121039" cy="291941"/>
          </a:xfrm>
          <a:prstGeom prst="rect">
            <a:avLst/>
          </a:prstGeom>
          <a:noFill/>
        </p:spPr>
        <p:txBody>
          <a:bodyPr wrap="none" lIns="0" tIns="0" rIns="0" bIns="0" rtlCol="0" anchor="t"/>
          <a:lstStyle/>
          <a:p>
            <a:pPr marL="0" indent="0" algn="l">
              <a:lnSpc>
                <a:spcPts val="2250"/>
              </a:lnSpc>
              <a:buNone/>
            </a:pPr>
            <a:r>
              <a:rPr lang="en-US" sz="1400" dirty="0">
                <a:solidFill>
                  <a:srgbClr val="2A2742"/>
                </a:solidFill>
                <a:latin typeface="Arimo" panose="020B0604020202020204" pitchFamily="34" charset="0"/>
                <a:ea typeface="Arimo" panose="020B0604020202020204" pitchFamily="34" charset="-122"/>
                <a:cs typeface="Arimo" panose="020B0604020202020204" pitchFamily="34" charset="-120"/>
              </a:rPr>
              <a:t>Use mongoose.connect(MONGODB_URI) before starting the Express server.</a:t>
            </a:r>
            <a:endParaRPr lang="en-US" sz="1400" dirty="0"/>
          </a:p>
        </p:txBody>
      </p:sp>
      <p:sp>
        <p:nvSpPr>
          <p:cNvPr id="16" name="Shape 14"/>
          <p:cNvSpPr/>
          <p:nvPr/>
        </p:nvSpPr>
        <p:spPr>
          <a:xfrm>
            <a:off x="1186220" y="5845850"/>
            <a:ext cx="136803" cy="686514"/>
          </a:xfrm>
          <a:prstGeom prst="roundRect">
            <a:avLst>
              <a:gd name="adj" fmla="val 56033"/>
            </a:avLst>
          </a:prstGeom>
          <a:solidFill>
            <a:srgbClr val="E9E6FA"/>
          </a:solidFill>
          <a:ln w="7620">
            <a:solidFill>
              <a:srgbClr val="BDB8DF"/>
            </a:solidFill>
            <a:prstDash val="solid"/>
          </a:ln>
        </p:spPr>
      </p:sp>
      <p:sp>
        <p:nvSpPr>
          <p:cNvPr id="17" name="Text 15"/>
          <p:cNvSpPr/>
          <p:nvPr/>
        </p:nvSpPr>
        <p:spPr>
          <a:xfrm>
            <a:off x="1596747" y="5845850"/>
            <a:ext cx="2667714" cy="285155"/>
          </a:xfrm>
          <a:prstGeom prst="rect">
            <a:avLst/>
          </a:prstGeom>
          <a:noFill/>
        </p:spPr>
        <p:txBody>
          <a:bodyPr wrap="none" lIns="0" tIns="0" rIns="0" bIns="0" rtlCol="0" anchor="t"/>
          <a:lstStyle/>
          <a:p>
            <a:pPr marL="0" indent="0" algn="l">
              <a:lnSpc>
                <a:spcPts val="2200"/>
              </a:lnSpc>
              <a:buNone/>
            </a:pPr>
            <a:r>
              <a:rPr lang="en-US" sz="1750" b="1" dirty="0">
                <a:solidFill>
                  <a:srgbClr val="2A2742"/>
                </a:solidFill>
                <a:latin typeface="Outfit Extra Bold" pitchFamily="34" charset="0"/>
                <a:ea typeface="Outfit Extra Bold" pitchFamily="34" charset="-122"/>
                <a:cs typeface="Outfit Extra Bold" pitchFamily="34" charset="-120"/>
              </a:rPr>
              <a:t>Define Mongoose Models</a:t>
            </a:r>
            <a:endParaRPr lang="en-US" sz="1750" dirty="0"/>
          </a:p>
        </p:txBody>
      </p:sp>
      <p:sp>
        <p:nvSpPr>
          <p:cNvPr id="18" name="Text 16"/>
          <p:cNvSpPr/>
          <p:nvPr/>
        </p:nvSpPr>
        <p:spPr>
          <a:xfrm>
            <a:off x="1596747" y="6240423"/>
            <a:ext cx="12394883" cy="291941"/>
          </a:xfrm>
          <a:prstGeom prst="rect">
            <a:avLst/>
          </a:prstGeom>
          <a:noFill/>
        </p:spPr>
        <p:txBody>
          <a:bodyPr wrap="none" lIns="0" tIns="0" rIns="0" bIns="0" rtlCol="0" anchor="t"/>
          <a:lstStyle/>
          <a:p>
            <a:pPr marL="0" indent="0" algn="l">
              <a:lnSpc>
                <a:spcPts val="2250"/>
              </a:lnSpc>
              <a:buNone/>
            </a:pPr>
            <a:r>
              <a:rPr lang="en-US" sz="1400" dirty="0">
                <a:solidFill>
                  <a:srgbClr val="2A2742"/>
                </a:solidFill>
                <a:latin typeface="Arimo" panose="020B0604020202020204" pitchFamily="34" charset="0"/>
                <a:ea typeface="Arimo" panose="020B0604020202020204" pitchFamily="34" charset="-122"/>
                <a:cs typeface="Arimo" panose="020B0604020202020204" pitchFamily="34" charset="-120"/>
              </a:rPr>
              <a:t>Create schemas and models for each data type (e.g., Feedback, SpeedTest).</a:t>
            </a:r>
            <a:endParaRPr lang="en-US" sz="1400" dirty="0"/>
          </a:p>
        </p:txBody>
      </p:sp>
      <p:sp>
        <p:nvSpPr>
          <p:cNvPr id="19" name="Shape 17"/>
          <p:cNvSpPr/>
          <p:nvPr/>
        </p:nvSpPr>
        <p:spPr>
          <a:xfrm>
            <a:off x="912495" y="6714768"/>
            <a:ext cx="136803" cy="686514"/>
          </a:xfrm>
          <a:prstGeom prst="roundRect">
            <a:avLst>
              <a:gd name="adj" fmla="val 56033"/>
            </a:avLst>
          </a:prstGeom>
          <a:solidFill>
            <a:srgbClr val="E9E6FA"/>
          </a:solidFill>
          <a:ln w="7620">
            <a:solidFill>
              <a:srgbClr val="BDB8DF"/>
            </a:solidFill>
            <a:prstDash val="solid"/>
          </a:ln>
        </p:spPr>
      </p:sp>
      <p:sp>
        <p:nvSpPr>
          <p:cNvPr id="20" name="Text 18"/>
          <p:cNvSpPr/>
          <p:nvPr/>
        </p:nvSpPr>
        <p:spPr>
          <a:xfrm>
            <a:off x="1323023" y="6714768"/>
            <a:ext cx="2975253" cy="285155"/>
          </a:xfrm>
          <a:prstGeom prst="rect">
            <a:avLst/>
          </a:prstGeom>
          <a:noFill/>
        </p:spPr>
        <p:txBody>
          <a:bodyPr wrap="none" lIns="0" tIns="0" rIns="0" bIns="0" rtlCol="0" anchor="t"/>
          <a:lstStyle/>
          <a:p>
            <a:pPr marL="0" indent="0" algn="l">
              <a:lnSpc>
                <a:spcPts val="2200"/>
              </a:lnSpc>
              <a:buNone/>
            </a:pPr>
            <a:r>
              <a:rPr lang="en-US" sz="1750" b="1" dirty="0">
                <a:solidFill>
                  <a:srgbClr val="2A2742"/>
                </a:solidFill>
                <a:latin typeface="Outfit Extra Bold" pitchFamily="34" charset="0"/>
                <a:ea typeface="Outfit Extra Bold" pitchFamily="34" charset="-122"/>
                <a:cs typeface="Outfit Extra Bold" pitchFamily="34" charset="-120"/>
              </a:rPr>
              <a:t>Use Models in API Endpoints</a:t>
            </a:r>
            <a:endParaRPr lang="en-US" sz="1750" dirty="0"/>
          </a:p>
        </p:txBody>
      </p:sp>
      <p:sp>
        <p:nvSpPr>
          <p:cNvPr id="21" name="Text 19"/>
          <p:cNvSpPr/>
          <p:nvPr/>
        </p:nvSpPr>
        <p:spPr>
          <a:xfrm>
            <a:off x="1323023" y="7109341"/>
            <a:ext cx="12668607" cy="291941"/>
          </a:xfrm>
          <a:prstGeom prst="rect">
            <a:avLst/>
          </a:prstGeom>
          <a:noFill/>
        </p:spPr>
        <p:txBody>
          <a:bodyPr wrap="none" lIns="0" tIns="0" rIns="0" bIns="0" rtlCol="0" anchor="t"/>
          <a:lstStyle/>
          <a:p>
            <a:pPr marL="0" indent="0" algn="l">
              <a:lnSpc>
                <a:spcPts val="2250"/>
              </a:lnSpc>
              <a:buNone/>
            </a:pPr>
            <a:r>
              <a:rPr lang="en-US" sz="1400" dirty="0">
                <a:solidFill>
                  <a:srgbClr val="2A2742"/>
                </a:solidFill>
                <a:latin typeface="Arimo" panose="020B0604020202020204" pitchFamily="34" charset="0"/>
                <a:ea typeface="Arimo" panose="020B0604020202020204" pitchFamily="34" charset="-122"/>
                <a:cs typeface="Arimo" panose="020B0604020202020204" pitchFamily="34" charset="-120"/>
              </a:rPr>
              <a:t>Implement CRUD operations within Express routes using the defined models.</a:t>
            </a:r>
            <a:endParaRPr lang="en-US" sz="1400" dirty="0"/>
          </a:p>
        </p:txBody>
      </p:sp>
      <p:sp>
        <p:nvSpPr>
          <p:cNvPr id="22" name="Rounded Rectangle 21"/>
          <p:cNvSpPr/>
          <p:nvPr/>
        </p:nvSpPr>
        <p:spPr>
          <a:xfrm>
            <a:off x="12684125" y="7685405"/>
            <a:ext cx="1946275" cy="513715"/>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nvSpPr>
        <p:spPr>
          <a:xfrm>
            <a:off x="4299585" y="1551940"/>
            <a:ext cx="6031230" cy="1697355"/>
          </a:xfrm>
          <a:prstGeom prst="rect">
            <a:avLst/>
          </a:prstGeom>
          <a:noFill/>
          <a:ln w="9525">
            <a:noFill/>
          </a:ln>
        </p:spPr>
        <p:txBody>
          <a:bodyPr anchor="ctr" anchorCtr="0"/>
          <a:lstStyle>
            <a:lvl1pPr algn="l" rtl="0" fontAlgn="base">
              <a:spcBef>
                <a:spcPct val="0"/>
              </a:spcBef>
              <a:spcAft>
                <a:spcPct val="0"/>
              </a:spcAft>
              <a:defRPr sz="432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pPr algn="ctr"/>
            <a:r>
              <a:rPr lang="en-US" altLang="en-US" sz="8000">
                <a:solidFill>
                  <a:srgbClr val="231971"/>
                </a:solidFill>
                <a:latin typeface="Times New Roman" panose="02020603050405020304" charset="0"/>
                <a:cs typeface="Times New Roman" panose="02020603050405020304" charset="0"/>
              </a:rPr>
              <a:t>Conclusion</a:t>
            </a:r>
            <a:endParaRPr lang="en-US" altLang="en-US" sz="8000">
              <a:solidFill>
                <a:srgbClr val="231971"/>
              </a:solidFill>
              <a:latin typeface="Times New Roman" panose="02020603050405020304" charset="0"/>
              <a:cs typeface="Times New Roman" panose="02020603050405020304" charset="0"/>
            </a:endParaRPr>
          </a:p>
        </p:txBody>
      </p:sp>
      <p:sp>
        <p:nvSpPr>
          <p:cNvPr id="3" name="Text Box 2"/>
          <p:cNvSpPr txBox="1"/>
          <p:nvPr/>
        </p:nvSpPr>
        <p:spPr>
          <a:xfrm>
            <a:off x="1444625" y="3376930"/>
            <a:ext cx="11740515" cy="1938020"/>
          </a:xfrm>
          <a:prstGeom prst="rect">
            <a:avLst/>
          </a:prstGeom>
          <a:noFill/>
        </p:spPr>
        <p:txBody>
          <a:bodyPr wrap="square" rtlCol="0">
            <a:spAutoFit/>
          </a:bodyPr>
          <a:p>
            <a:pPr algn="ctr"/>
            <a:r>
              <a:rPr lang="en-US" altLang="en-US" sz="2400" b="1">
                <a:solidFill>
                  <a:srgbClr val="231971"/>
                </a:solidFill>
                <a:latin typeface="Times New Roman" panose="02020603050405020304" charset="0"/>
                <a:cs typeface="Times New Roman" panose="02020603050405020304" charset="0"/>
              </a:rPr>
              <a:t>The implementation of the backend and database was done successffuly </a:t>
            </a:r>
            <a:endParaRPr lang="en-US" altLang="en-US" sz="2400" b="1">
              <a:solidFill>
                <a:srgbClr val="231971"/>
              </a:solidFill>
              <a:latin typeface="Times New Roman" panose="02020603050405020304" charset="0"/>
              <a:cs typeface="Times New Roman" panose="02020603050405020304" charset="0"/>
            </a:endParaRPr>
          </a:p>
          <a:p>
            <a:pPr algn="ctr"/>
            <a:endParaRPr lang="en-US" altLang="en-US" sz="2400" b="1">
              <a:solidFill>
                <a:srgbClr val="231971"/>
              </a:solidFill>
              <a:latin typeface="Times New Roman" panose="02020603050405020304" charset="0"/>
              <a:cs typeface="Times New Roman" panose="02020603050405020304" charset="0"/>
            </a:endParaRPr>
          </a:p>
          <a:p>
            <a:pPr algn="ctr"/>
            <a:r>
              <a:rPr lang="en-US" altLang="en-US" sz="2400" b="1">
                <a:solidFill>
                  <a:srgbClr val="231971"/>
                </a:solidFill>
                <a:latin typeface="Times New Roman" panose="02020603050405020304" charset="0"/>
                <a:cs typeface="Times New Roman" panose="02020603050405020304" charset="0"/>
              </a:rPr>
              <a:t>ER Diagrams ensure clarity of relationships</a:t>
            </a:r>
            <a:endParaRPr lang="en-US" altLang="en-US" sz="2400" b="1">
              <a:solidFill>
                <a:srgbClr val="231971"/>
              </a:solidFill>
              <a:latin typeface="Times New Roman" panose="02020603050405020304" charset="0"/>
              <a:cs typeface="Times New Roman" panose="02020603050405020304" charset="0"/>
            </a:endParaRPr>
          </a:p>
          <a:p>
            <a:pPr algn="ctr"/>
            <a:endParaRPr lang="en-US" altLang="en-US" sz="2400" b="1">
              <a:solidFill>
                <a:srgbClr val="231971"/>
              </a:solidFill>
              <a:latin typeface="Times New Roman" panose="02020603050405020304" charset="0"/>
              <a:cs typeface="Times New Roman" panose="02020603050405020304" charset="0"/>
            </a:endParaRPr>
          </a:p>
          <a:p>
            <a:pPr algn="ctr"/>
            <a:r>
              <a:rPr lang="en-US" altLang="en-US" sz="2400" b="1">
                <a:solidFill>
                  <a:srgbClr val="231971"/>
                </a:solidFill>
                <a:latin typeface="Times New Roman" panose="02020603050405020304" charset="0"/>
                <a:cs typeface="Times New Roman" panose="02020603050405020304" charset="0"/>
              </a:rPr>
              <a:t>Hence a fully functional app that successfully addresses user needs</a:t>
            </a:r>
            <a:endParaRPr lang="en-US" altLang="en-US" sz="2400" b="1">
              <a:solidFill>
                <a:srgbClr val="231971"/>
              </a:solidFill>
              <a:latin typeface="Times New Roman" panose="02020603050405020304" charset="0"/>
              <a:cs typeface="Times New Roman" panose="02020603050405020304" charset="0"/>
            </a:endParaRPr>
          </a:p>
        </p:txBody>
      </p:sp>
      <p:sp>
        <p:nvSpPr>
          <p:cNvPr id="17" name="Rounded Rectangle 16"/>
          <p:cNvSpPr/>
          <p:nvPr/>
        </p:nvSpPr>
        <p:spPr>
          <a:xfrm>
            <a:off x="12684125" y="7685405"/>
            <a:ext cx="1946275" cy="513715"/>
          </a:xfrm>
          <a:prstGeom prst="round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6748</Words>
  <Application>WPS Presentation</Application>
  <PresentationFormat>On-screen Show (16:9)</PresentationFormat>
  <Paragraphs>276</Paragraphs>
  <Slides>11</Slides>
  <Notes>8</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11</vt:i4>
      </vt:variant>
    </vt:vector>
  </HeadingPairs>
  <TitlesOfParts>
    <vt:vector size="29" baseType="lpstr">
      <vt:lpstr>Arial</vt:lpstr>
      <vt:lpstr>SimSun</vt:lpstr>
      <vt:lpstr>Wingdings</vt:lpstr>
      <vt:lpstr>Outfit Extra Bold</vt:lpstr>
      <vt:lpstr>Outfit Extra Bold</vt:lpstr>
      <vt:lpstr>Outfit Extra Bold</vt:lpstr>
      <vt:lpstr>Arimo</vt:lpstr>
      <vt:lpstr>Arimo</vt:lpstr>
      <vt:lpstr>Arimo</vt:lpstr>
      <vt:lpstr>Arimo Bold</vt:lpstr>
      <vt:lpstr>Segoe Print</vt:lpstr>
      <vt:lpstr>Arimo Bold</vt:lpstr>
      <vt:lpstr>Arimo Bold</vt:lpstr>
      <vt:lpstr>Calibri</vt:lpstr>
      <vt:lpstr>Microsoft YaHei</vt:lpstr>
      <vt:lpstr>Arial Unicode MS</vt:lpstr>
      <vt:lpstr>Times New Roman</vt:lpstr>
      <vt:lpstr>Office Theme</vt:lpstr>
      <vt:lpstr>SYSTEM MODELLING AND DESIGN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Conclusion</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LUCIFER</cp:lastModifiedBy>
  <cp:revision>2</cp:revision>
  <dcterms:created xsi:type="dcterms:W3CDTF">2025-06-10T09:39:00Z</dcterms:created>
  <dcterms:modified xsi:type="dcterms:W3CDTF">2025-06-09T20:31:34Z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21EC1400738040E2ABEBD501D07B8CEF_12</vt:lpwstr>
  </property>
  <property fmtid="{D5CDD505-2E9C-101B-9397-08002B2CF9AE}" pid="3" name="KSOProductBuildVer">
    <vt:lpwstr>1033-12.2.0.19805</vt:lpwstr>
  </property>
</Properties>
</file>